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0" r:id="rId2"/>
  </p:sldMasterIdLst>
  <p:notesMasterIdLst>
    <p:notesMasterId r:id="rId23"/>
  </p:notesMasterIdLst>
  <p:sldIdLst>
    <p:sldId id="256" r:id="rId3"/>
    <p:sldId id="257" r:id="rId4"/>
    <p:sldId id="271" r:id="rId5"/>
    <p:sldId id="258" r:id="rId6"/>
    <p:sldId id="272" r:id="rId7"/>
    <p:sldId id="273" r:id="rId8"/>
    <p:sldId id="274" r:id="rId9"/>
    <p:sldId id="275" r:id="rId10"/>
    <p:sldId id="276" r:id="rId11"/>
    <p:sldId id="259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4" roundtripDataSignature="AMtx7mi14jFXTrCmS0u2hXQXGuC3zsnMB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1170"/>
  </p:normalViewPr>
  <p:slideViewPr>
    <p:cSldViewPr snapToGrid="0">
      <p:cViewPr varScale="1">
        <p:scale>
          <a:sx n="78" d="100"/>
          <a:sy n="78" d="100"/>
        </p:scale>
        <p:origin x="176" y="18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customschemas.google.com/relationships/presentationmetadata" Target="meta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codecamp.org/news/big-o-cheat-sheet-time-complexity-chart/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0" name="Google Shape;10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 am Ryan Pelchat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4th year Computer Science Student with a Specialization in Software Development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 am taking EECS 4070 which is a self directed course. The direction that I chose is to conduct a workshops on competitive programming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Last year I was on the ICPC team and we competed at the University of Windsor, it was a lot of fun! Challenging problems, a fun train ride, and free food.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 my free time I like to read and tinker with software and hardware.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 host a Jellyfin server on an old laptop on my local network and I remote access it using a Wireguard VPN that I host on a raspberry pi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 am on the 6th book of The Expanse series.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893FAE46-E491-034C-A754-FD02F4E37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4C5CDA53-A1A2-81D2-CE88-DC5083C3AC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F835679E-98FF-6C5A-A6F3-F00775A6E8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F55CABEC-49FE-1016-F0EB-31B57F3603D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957217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1" name="Google Shape;12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Problem Reviews with Ben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/>
              <a:t>Workshop with me</a:t>
            </a:r>
            <a:endParaRPr dirty="0"/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Focused on theory, most of the code libraries will be up to you (I will give tips from time to time)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Suggested practice problems relating to the workshop given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If you have a question, raise your hand anytime!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2" name="Google Shape;12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06DFA6A0-3947-AA67-F266-962260923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E51A521C-0C89-EB71-C2D4-6F24E714F6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5410F156-80FA-F677-5709-4AD3892302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FCEE8AB4-2711-C61A-0437-808798BD726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651785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D4F45970-5B04-C3F6-9AB7-E0FFF6691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FB413842-9693-CBD8-619A-02D6558F46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4A30221B-7536-7B4C-11C0-A4E74AEE24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836411AA-4B20-61C8-B8EC-FBD33B09003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427987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3D34F09B-C396-4898-0F32-162FFF3A9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8814331F-70C1-DB07-8D4B-20B2C51526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2487DF60-19BF-11DD-56EF-86A7158908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D1C411F8-C065-8731-2B35-4AC93EA82F9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260280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E46DB1BF-85A3-20E6-B25B-FE1C77A44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EBD81629-4669-5797-5B8C-738FD71D78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449B5AF1-1BD6-CEBC-AFA1-990159848C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17329D10-5BB5-9301-48D2-6D23B492AD2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259814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>
          <a:extLst>
            <a:ext uri="{FF2B5EF4-FFF2-40B4-BE49-F238E27FC236}">
              <a16:creationId xmlns:a16="http://schemas.microsoft.com/office/drawing/2014/main" id="{A60DD47C-573E-39A6-24D1-6392D256F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>
            <a:extLst>
              <a:ext uri="{FF2B5EF4-FFF2-40B4-BE49-F238E27FC236}">
                <a16:creationId xmlns:a16="http://schemas.microsoft.com/office/drawing/2014/main" id="{64E6204D-8C5B-EBB4-C93F-31F67845B5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>
            <a:extLst>
              <a:ext uri="{FF2B5EF4-FFF2-40B4-BE49-F238E27FC236}">
                <a16:creationId xmlns:a16="http://schemas.microsoft.com/office/drawing/2014/main" id="{E64B7CE0-31A1-04CC-91C2-F6E4354A32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>
            <a:extLst>
              <a:ext uri="{FF2B5EF4-FFF2-40B4-BE49-F238E27FC236}">
                <a16:creationId xmlns:a16="http://schemas.microsoft.com/office/drawing/2014/main" id="{8D5B9F39-79A3-48AC-BD2D-959EA57E70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090987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7c4946a55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0" name="Google Shape;130;g37c4946a550_0_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g37c4946a550_0_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7c4946a550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" name="Google Shape;146;g37c4946a550_0_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sng">
                <a:solidFill>
                  <a:schemeClr val="hlink"/>
                </a:solidFill>
                <a:hlinkClick r:id="rId3"/>
              </a:rPr>
              <a:t>https://www.freecodecamp.org/news/big-o-cheat-sheet-time-complexity-chart/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g37c4946a550_0_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7c4946a550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g37c4946a550_0_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56" name="Google Shape;156;g37c4946a550_0_10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7c4946a550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2" name="Google Shape;162;g37c4946a550_0_7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63" name="Google Shape;163;g37c4946a550_0_7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7c4946a550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0" name="Google Shape;170;g37c4946a550_0_1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71" name="Google Shape;171;g37c4946a550_0_1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7c4946a550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8" name="Google Shape;178;g37c4946a550_0_1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79" name="Google Shape;179;g37c4946a550_0_14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7c4946a550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g37c4946a550_0_1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87" name="Google Shape;187;g37c4946a550_0_14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7c4946a550_0_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5" name="Google Shape;195;g37c4946a550_0_16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196" name="Google Shape;196;g37c4946a550_0_16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7c4946a550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4" name="Google Shape;204;g37c4946a550_0_18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05" name="Google Shape;205;g37c4946a550_0_18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7c4946a550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3" name="Google Shape;213;g37c4946a550_0_5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g37c4946a550_0_5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c4946a550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7c4946a550_0_19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https://wiki.python.org/moin/TimeComplexity</a:t>
            </a:r>
            <a:endParaRPr/>
          </a:p>
        </p:txBody>
      </p:sp>
      <p:sp>
        <p:nvSpPr>
          <p:cNvPr id="221" name="Google Shape;221;g37c4946a550_0_19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2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"/>
          <p:cNvSpPr txBox="1"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7"/>
          <p:cNvSpPr txBox="1"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FEFEFE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7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7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7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8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2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FEFEFE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1"/>
        </a:solid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9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1581912" y="2638044"/>
            <a:ext cx="4271771" cy="3101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body" idx="2"/>
          </p:nvPr>
        </p:nvSpPr>
        <p:spPr>
          <a:xfrm>
            <a:off x="6338315" y="2638044"/>
            <a:ext cx="4270247" cy="3101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10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0" cap="none">
                <a:solidFill>
                  <a:srgbClr val="6B8890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1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2"/>
          </p:nvPr>
        </p:nvSpPr>
        <p:spPr>
          <a:xfrm>
            <a:off x="1583436" y="3143250"/>
            <a:ext cx="4270248" cy="2596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body" idx="3"/>
          </p:nvPr>
        </p:nvSpPr>
        <p:spPr>
          <a:xfrm>
            <a:off x="6338316" y="3143250"/>
            <a:ext cx="4253484" cy="2596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body" idx="4"/>
          </p:nvPr>
        </p:nvSpPr>
        <p:spPr>
          <a:xfrm>
            <a:off x="6338316" y="2313433"/>
            <a:ext cx="4270248" cy="704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0" cap="none">
                <a:solidFill>
                  <a:srgbClr val="6B8890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1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1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1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2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2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2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3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4"/>
          <p:cNvSpPr txBox="1"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200"/>
              <a:buFont typeface="Gill Sans"/>
              <a:buNone/>
              <a:defRPr sz="22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4"/>
          <p:cNvSpPr txBox="1">
            <a:spLocks noGrp="1"/>
          </p:cNvSpPr>
          <p:nvPr>
            <p:ph type="body" idx="1"/>
          </p:nvPr>
        </p:nvSpPr>
        <p:spPr>
          <a:xfrm>
            <a:off x="6736080" y="804672"/>
            <a:ext cx="4815840" cy="5248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925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Char char="•"/>
              <a:defRPr sz="19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3pPr>
            <a:lvl4pPr marL="1828800" lvl="3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4pPr>
            <a:lvl5pPr marL="2286000" lvl="4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74" name="Google Shape;74;p14"/>
          <p:cNvSpPr txBox="1">
            <a:spLocks noGrp="1"/>
          </p:cNvSpPr>
          <p:nvPr>
            <p:ph type="body" idx="2"/>
          </p:nvPr>
        </p:nvSpPr>
        <p:spPr>
          <a:xfrm>
            <a:off x="1115568" y="3549918"/>
            <a:ext cx="3794760" cy="2194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14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ftr" idx="11"/>
          </p:nvPr>
        </p:nvSpPr>
        <p:spPr>
          <a:xfrm>
            <a:off x="804672" y="6236208"/>
            <a:ext cx="512479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4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15"/>
          <p:cNvSpPr txBox="1"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1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200"/>
              <a:buFont typeface="Gill Sans"/>
              <a:buNone/>
              <a:defRPr sz="22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5"/>
          <p:cNvSpPr>
            <a:spLocks noGrp="1"/>
          </p:cNvSpPr>
          <p:nvPr>
            <p:ph type="pic" idx="2"/>
          </p:nvPr>
        </p:nvSpPr>
        <p:spPr>
          <a:xfrm>
            <a:off x="6095999" y="0"/>
            <a:ext cx="6102097" cy="6858000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82" name="Google Shape;82;p15"/>
          <p:cNvSpPr txBox="1">
            <a:spLocks noGrp="1"/>
          </p:cNvSpPr>
          <p:nvPr>
            <p:ph type="body" idx="1"/>
          </p:nvPr>
        </p:nvSpPr>
        <p:spPr>
          <a:xfrm>
            <a:off x="1115568" y="3549918"/>
            <a:ext cx="3794760" cy="2194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3" name="Google Shape;83;p15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5"/>
          <p:cNvSpPr txBox="1">
            <a:spLocks noGrp="1"/>
          </p:cNvSpPr>
          <p:nvPr>
            <p:ph type="ftr" idx="11"/>
          </p:nvPr>
        </p:nvSpPr>
        <p:spPr>
          <a:xfrm>
            <a:off x="804672" y="6236208"/>
            <a:ext cx="512479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5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6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6"/>
          <p:cNvSpPr txBox="1">
            <a:spLocks noGrp="1"/>
          </p:cNvSpPr>
          <p:nvPr>
            <p:ph type="body" idx="1"/>
          </p:nvPr>
        </p:nvSpPr>
        <p:spPr>
          <a:xfrm rot="5400000">
            <a:off x="4545009" y="324172"/>
            <a:ext cx="3101983" cy="772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16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6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6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>
            <a:spLocks noGrp="1"/>
          </p:cNvSpPr>
          <p:nvPr>
            <p:ph type="title"/>
          </p:nvPr>
        </p:nvSpPr>
        <p:spPr>
          <a:xfrm rot="5400000">
            <a:off x="6810676" y="2779696"/>
            <a:ext cx="4983480" cy="1298608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body" idx="1"/>
          </p:nvPr>
        </p:nvSpPr>
        <p:spPr>
          <a:xfrm rot="5400000">
            <a:off x="2838641" y="329756"/>
            <a:ext cx="4983480" cy="619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5" name="Google Shape;95;p17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7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7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Gill Sans"/>
              <a:buNone/>
              <a:defRPr sz="28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5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2" name="Google Shape;12;p5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4" name="Google Shape;14;p5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Gill Sans"/>
              <a:buNone/>
              <a:defRPr sz="28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26" name="Google Shape;26;p4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jpeg"/><Relationship Id="rId5" Type="http://schemas.openxmlformats.org/officeDocument/2006/relationships/image" Target="../media/image3.jpg"/><Relationship Id="rId10" Type="http://schemas.openxmlformats.org/officeDocument/2006/relationships/image" Target="../media/image8.jpg"/><Relationship Id="rId4" Type="http://schemas.openxmlformats.org/officeDocument/2006/relationships/image" Target="../media/image2.jpg"/><Relationship Id="rId9" Type="http://schemas.openxmlformats.org/officeDocument/2006/relationships/image" Target="../media/image7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.kattis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freecodecamp.org/news/big-o-cheat-sheet-time-complexity-chart/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.python.org/moin/TimeComplexity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visualgo.net/en/array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iki.python.org/moin/TimeComplexity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.python.org/moin/TimeComplexity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visualgo.net/en/list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visualgo.net/en/heap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iki.python.org/moin/TimeComplexity" TargetMode="External"/><Relationship Id="rId4" Type="http://schemas.openxmlformats.org/officeDocument/2006/relationships/hyperlink" Target="https://visualgo.net/en/hashtable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.kattis.com/problems/esej" TargetMode="External"/><Relationship Id="rId3" Type="http://schemas.openxmlformats.org/officeDocument/2006/relationships/hyperlink" Target="https://open.kattis.com/problems/jollyjumpers" TargetMode="External"/><Relationship Id="rId7" Type="http://schemas.openxmlformats.org/officeDocument/2006/relationships/hyperlink" Target="https://open.kattis.com/problems/stockprices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.kattis.com/problems/integerlists" TargetMode="External"/><Relationship Id="rId11" Type="http://schemas.openxmlformats.org/officeDocument/2006/relationships/hyperlink" Target="https://open.kattis.com/problems/bracketmatching" TargetMode="External"/><Relationship Id="rId5" Type="http://schemas.openxmlformats.org/officeDocument/2006/relationships/hyperlink" Target="https://open.kattis.com/problems/pairingsocks" TargetMode="External"/><Relationship Id="rId10" Type="http://schemas.openxmlformats.org/officeDocument/2006/relationships/hyperlink" Target="https://open.kattis.com/problems/recount" TargetMode="External"/><Relationship Id="rId4" Type="http://schemas.openxmlformats.org/officeDocument/2006/relationships/hyperlink" Target="https://open.kattis.com/problems/epigdanceoff" TargetMode="External"/><Relationship Id="rId9" Type="http://schemas.openxmlformats.org/officeDocument/2006/relationships/hyperlink" Target="https://open.kattis.com/problems/shiritori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"/>
          <p:cNvSpPr txBox="1">
            <a:spLocks noGrp="1"/>
          </p:cNvSpPr>
          <p:nvPr>
            <p:ph type="ctrTitle"/>
          </p:nvPr>
        </p:nvSpPr>
        <p:spPr>
          <a:xfrm>
            <a:off x="1600200" y="1124869"/>
            <a:ext cx="8991600" cy="164580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</a:pPr>
            <a:r>
              <a:rPr lang="en-US"/>
              <a:t>WORKSHOP 1</a:t>
            </a:r>
            <a:endParaRPr/>
          </a:p>
        </p:txBody>
      </p:sp>
      <p:sp>
        <p:nvSpPr>
          <p:cNvPr id="104" name="Google Shape;104;p1"/>
          <p:cNvSpPr txBox="1"/>
          <p:nvPr/>
        </p:nvSpPr>
        <p:spPr>
          <a:xfrm>
            <a:off x="3242390" y="3399885"/>
            <a:ext cx="5707200" cy="25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Introduction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Workshop Format</a:t>
            </a: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Resources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1.3.3 Introduction to Algorithm Analysis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2.2.1 Array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2.2.5 Linked Data Structures (overview)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2.2.6 Special Stack-based Problems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2.3.1 Binary Heap (Priority Queue)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2.3.2 Hash Table 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"/>
          <p:cNvSpPr txBox="1">
            <a:spLocks noGrp="1"/>
          </p:cNvSpPr>
          <p:nvPr>
            <p:ph type="title"/>
          </p:nvPr>
        </p:nvSpPr>
        <p:spPr>
          <a:xfrm>
            <a:off x="2231136" y="347175"/>
            <a:ext cx="7729728" cy="662227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Ryan Pelchat</a:t>
            </a:r>
            <a:endParaRPr/>
          </a:p>
        </p:txBody>
      </p:sp>
      <p:pic>
        <p:nvPicPr>
          <p:cNvPr id="111" name="Google Shape;111;p2" title="team 2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15121" y="1094630"/>
            <a:ext cx="3970227" cy="29776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" title="IMG_2091.jpe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260" y="1176901"/>
            <a:ext cx="1802876" cy="240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2" title="IMG_2082.jpeg"/>
          <p:cNvPicPr preferRelativeResize="0"/>
          <p:nvPr/>
        </p:nvPicPr>
        <p:blipFill rotWithShape="1">
          <a:blip r:embed="rId5">
            <a:alphaModFix/>
          </a:blip>
          <a:srcRect t="22082" b="23096"/>
          <a:stretch/>
        </p:blipFill>
        <p:spPr>
          <a:xfrm>
            <a:off x="141725" y="3748250"/>
            <a:ext cx="3970222" cy="29021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606687" y="3748262"/>
            <a:ext cx="1400349" cy="1400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636588" y="5309873"/>
            <a:ext cx="1340525" cy="1340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2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681317" y="4473431"/>
            <a:ext cx="3237837" cy="20125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" title="IMG_8343.jpeg"/>
          <p:cNvPicPr preferRelativeResize="0"/>
          <p:nvPr/>
        </p:nvPicPr>
        <p:blipFill rotWithShape="1">
          <a:blip r:embed="rId9">
            <a:alphaModFix/>
          </a:blip>
          <a:srcRect t="21436" b="8235"/>
          <a:stretch/>
        </p:blipFill>
        <p:spPr>
          <a:xfrm>
            <a:off x="8933889" y="5279963"/>
            <a:ext cx="1493311" cy="1400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" title="IMG_8344.jpe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8055319" y="4389422"/>
            <a:ext cx="2482775" cy="573419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05A831-C964-7E52-1AB9-33419EF61D2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0543" y="1756016"/>
            <a:ext cx="2932288" cy="164941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4B93380E-0C86-CCF2-E90D-558C0FE3B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9CB88458-F43D-C270-C7AA-C1097630EF2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What is ICPC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4E54DE88-C2A3-9064-E11C-87C362776B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5108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ICPC is the International Collegiate Programming Competition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Teams of 3 have 5 hours to solve 13 problems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CA" sz="2000" dirty="0"/>
              <a:t>Covers wide breadth of Computer Science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CA" sz="1800" dirty="0"/>
              <a:t>Requires: Teamwork, Knowledge, and Practice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CA" sz="2000" dirty="0"/>
              <a:t>Why?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CA" sz="1800" dirty="0"/>
              <a:t>Greater mastery of programming and Computer Science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CA" sz="1800" dirty="0"/>
              <a:t>Help you with coding based interviews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CA" sz="1800" dirty="0"/>
              <a:t>It’s fun!</a:t>
            </a:r>
          </a:p>
          <a:p>
            <a:pPr indent="-355600">
              <a:spcBef>
                <a:spcPts val="0"/>
              </a:spcBef>
              <a:buSzPts val="2000"/>
            </a:pPr>
            <a:endParaRPr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17FD6D3-DEEB-24AE-FE21-A085FA6066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028" y="3906157"/>
            <a:ext cx="3073400" cy="229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441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728" cy="662227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Format</a:t>
            </a:r>
            <a:endParaRPr dirty="0"/>
          </a:p>
        </p:txBody>
      </p:sp>
      <p:sp>
        <p:nvSpPr>
          <p:cNvPr id="125" name="Google Shape;125;p3"/>
          <p:cNvSpPr txBox="1">
            <a:spLocks noGrp="1"/>
          </p:cNvSpPr>
          <p:nvPr>
            <p:ph type="body" idx="1"/>
          </p:nvPr>
        </p:nvSpPr>
        <p:spPr>
          <a:xfrm>
            <a:off x="754350" y="4024613"/>
            <a:ext cx="10683300" cy="17230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We will be using Kattis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Sign up for Kattis (</a:t>
            </a:r>
            <a:r>
              <a:rPr lang="en-US" sz="2000" u="sng" dirty="0">
                <a:solidFill>
                  <a:schemeClr val="hlink"/>
                </a:solidFill>
                <a:hlinkClick r:id="rId3"/>
              </a:rPr>
              <a:t>https://open.kattis.com/</a:t>
            </a:r>
            <a:r>
              <a:rPr lang="en-US" sz="2000" dirty="0"/>
              <a:t>)</a:t>
            </a:r>
          </a:p>
          <a:p>
            <a:pPr indent="-355600">
              <a:spcBef>
                <a:spcPts val="0"/>
              </a:spcBef>
              <a:buSzPts val="2000"/>
            </a:pPr>
            <a:r>
              <a:rPr lang="en-US" sz="2200" dirty="0"/>
              <a:t>We will be using </a:t>
            </a:r>
            <a:r>
              <a:rPr lang="en-US" sz="2200" dirty="0" err="1"/>
              <a:t>eclass</a:t>
            </a:r>
            <a:r>
              <a:rPr lang="en-US" sz="2200" dirty="0"/>
              <a:t>, 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dirty="0"/>
              <a:t>please upload your solutions after the practice contest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dirty="0"/>
              <a:t>Readings for the next day</a:t>
            </a:r>
            <a:endParaRPr sz="2000" dirty="0"/>
          </a:p>
        </p:txBody>
      </p:sp>
      <p:sp>
        <p:nvSpPr>
          <p:cNvPr id="126" name="Google Shape;126;p3"/>
          <p:cNvSpPr txBox="1">
            <a:spLocks noGrp="1"/>
          </p:cNvSpPr>
          <p:nvPr>
            <p:ph type="body" idx="1"/>
          </p:nvPr>
        </p:nvSpPr>
        <p:spPr>
          <a:xfrm>
            <a:off x="2231100" y="5920100"/>
            <a:ext cx="77298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/>
              <a:t>If you have a question, raise your hand anytime!</a:t>
            </a:r>
            <a:endParaRPr sz="270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3849ECE-7C4B-BD6A-BBE5-E36770CA4E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577107"/>
              </p:ext>
            </p:extLst>
          </p:nvPr>
        </p:nvGraphicFramePr>
        <p:xfrm>
          <a:off x="1633729" y="1271451"/>
          <a:ext cx="8127999" cy="2372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414147573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215342759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9708004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Activities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7730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1h30min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Discussion of previous day’s contest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52362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1h30min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Instruction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9753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13:00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Lunch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61201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13:00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Practice Contest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112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204598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D9097472-E0CD-7B50-F588-8036947CC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3578D9E9-27B8-F303-0E63-49C28A5C28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Roadmap for this Week Day 1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06EBE881-06D5-F908-50F9-04827DAEFE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52876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55600">
              <a:spcBef>
                <a:spcPts val="0"/>
              </a:spcBef>
              <a:buSzPts val="2000"/>
            </a:pPr>
            <a:r>
              <a:rPr lang="en-US" sz="2400" dirty="0"/>
              <a:t>Day 1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dirty="0"/>
              <a:t>1.3.3 Introduction to Algorithm Analysis 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dirty="0"/>
              <a:t>2.2 Linear DS with Built-in Libraries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2.2.1 Array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2.2.3 Bitmask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2.2.5 Linked Data Structures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dirty="0"/>
              <a:t>2.3 Non-Linear DS with Built-in Libraries 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2.3.1 Binary Heap (Priority Queue)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2.3.2 Hash Table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2.3.3 Balanced Binary Search Tree (</a:t>
            </a:r>
            <a:r>
              <a:rPr lang="en-US" sz="2000" dirty="0" err="1"/>
              <a:t>bBST</a:t>
            </a:r>
            <a:r>
              <a:rPr lang="en-US" sz="2000" dirty="0"/>
              <a:t>)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2000" dirty="0"/>
              <a:t>2.4 DS with Our Own Libraries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2.4.1 Graph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2.4.2 Union-Find Disjoint Sets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2000" dirty="0"/>
              <a:t>2.4.3 Fenwick (Binary Indexed) Tree</a:t>
            </a:r>
          </a:p>
        </p:txBody>
      </p:sp>
    </p:spTree>
    <p:extLst>
      <p:ext uri="{BB962C8B-B14F-4D97-AF65-F5344CB8AC3E}">
        <p14:creationId xmlns:p14="http://schemas.microsoft.com/office/powerpoint/2010/main" val="1661699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F4B56BA0-5666-3EC6-22EB-20897314F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EB63E154-839A-08CA-1792-4A17F78F50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Roadmap for this Week Day 2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2492F818-89AB-4535-E02C-EB9E295386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55327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Day 2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3.2 Complete Search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3.2.1 Iterative Complete Search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3.2.2 Recursive Complete Search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3.2.3 Complete Search Tips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3.3 Divide and Conquer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3.3.2 Ternary Search</a:t>
            </a:r>
          </a:p>
        </p:txBody>
      </p:sp>
    </p:spTree>
    <p:extLst>
      <p:ext uri="{BB962C8B-B14F-4D97-AF65-F5344CB8AC3E}">
        <p14:creationId xmlns:p14="http://schemas.microsoft.com/office/powerpoint/2010/main" val="1033828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430C5FAE-EDF5-A3FB-4C72-F9D4B29CC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028D74A8-FBCE-7C6F-7C00-F4DE0DDEA1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Roadmap for this Week Day 3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250BA577-F3CA-17B6-DE5D-964B4205DE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55327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Day 3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3.4 Greedy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3.4.1 Examples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3.5 Dynamic Programming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3.5.1 DP Illustration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3.5.2 Classical Examples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3.5.3 Non-Classical Examples</a:t>
            </a:r>
          </a:p>
        </p:txBody>
      </p:sp>
    </p:spTree>
    <p:extLst>
      <p:ext uri="{BB962C8B-B14F-4D97-AF65-F5344CB8AC3E}">
        <p14:creationId xmlns:p14="http://schemas.microsoft.com/office/powerpoint/2010/main" val="128902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54AE2A54-68E6-6D6C-12D8-4F005E4E4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71CF85AC-34BD-F039-8690-61BE8E73AC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Roadmap for this Week Day 4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C07858F7-30F0-1EBF-9568-84F4A96589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55327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Day 4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4.2 Graph Traversal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4.2.2 Depth First Search (DFS)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4.2.3 Breadth First Search (BFS)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4.2.5 Flood Fill (Implicit 2D Grid Graph)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4.3 Minimum Spanning Tree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4.3.1 Overview and Motivation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4.3.2 Kruskal’s Algorithm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4.4 Single-Source Shortest Paths (SSSP)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4.4.1 Overview and Motivation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4.4.3 On Weighted Graph: Dijkstra’s</a:t>
            </a:r>
          </a:p>
        </p:txBody>
      </p:sp>
    </p:spTree>
    <p:extLst>
      <p:ext uri="{BB962C8B-B14F-4D97-AF65-F5344CB8AC3E}">
        <p14:creationId xmlns:p14="http://schemas.microsoft.com/office/powerpoint/2010/main" val="731050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C4966DDA-0DCA-25AA-0631-DC89B1389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>
            <a:extLst>
              <a:ext uri="{FF2B5EF4-FFF2-40B4-BE49-F238E27FC236}">
                <a16:creationId xmlns:a16="http://schemas.microsoft.com/office/drawing/2014/main" id="{8FB8E00A-4141-7771-E811-79D4EE4B03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 dirty="0"/>
              <a:t>Roadmap for this Week </a:t>
            </a:r>
            <a:r>
              <a:rPr lang="en-US"/>
              <a:t>Day </a:t>
            </a:r>
            <a:r>
              <a:rPr lang="en-US" dirty="0"/>
              <a:t>5</a:t>
            </a:r>
            <a:endParaRPr dirty="0"/>
          </a:p>
        </p:txBody>
      </p:sp>
      <p:sp>
        <p:nvSpPr>
          <p:cNvPr id="224" name="Google Shape;224;g37c4946a550_0_194">
            <a:extLst>
              <a:ext uri="{FF2B5EF4-FFF2-40B4-BE49-F238E27FC236}">
                <a16:creationId xmlns:a16="http://schemas.microsoft.com/office/drawing/2014/main" id="{4D6C3148-5D93-6F91-BEFB-BA8F4783BB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55327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55600">
              <a:spcBef>
                <a:spcPts val="0"/>
              </a:spcBef>
              <a:buSzPts val="2000"/>
            </a:pPr>
            <a:r>
              <a:rPr lang="en-US" sz="2000" dirty="0"/>
              <a:t>Day 5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5.3 Number Theory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5.3.1 Prime Numbers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5.3.3 Finding Prime Factors with Optimized Trial Divisions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5.3.5 Modified Sieve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5.3.6 Greatest Common Divisor &amp; Least Common Multiple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5.3.9 Modular Arithmetic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7.2 Basic Geometry Objects with Libraries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7.2.1 0D Objects: Points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7.2.2 1D Objects: Lines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7.2.3 2D Objects: Circles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7.2.4 2D Objects: Triangles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7.2.5 2D Objects: Quadrilaterals</a:t>
            </a:r>
          </a:p>
          <a:p>
            <a:pPr lvl="1" indent="-355600">
              <a:spcBef>
                <a:spcPts val="0"/>
              </a:spcBef>
              <a:buSzPts val="2000"/>
            </a:pPr>
            <a:r>
              <a:rPr lang="en-US" sz="1800" dirty="0"/>
              <a:t>7.3 Algorithms on Polygon with Libraries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7.3.1 Polygon Representation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7.3.3 Area of a Polygon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7.3.4 Checking if a Polygon is Convex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7.3.5 Checking if a Point is Inside a Polygon</a:t>
            </a:r>
          </a:p>
          <a:p>
            <a:pPr lvl="2" indent="-355600">
              <a:spcBef>
                <a:spcPts val="0"/>
              </a:spcBef>
              <a:buSzPts val="2000"/>
            </a:pPr>
            <a:r>
              <a:rPr lang="en-US" sz="1800" dirty="0"/>
              <a:t>7.3.6 Cutting Polygon with a Straight Line</a:t>
            </a:r>
          </a:p>
        </p:txBody>
      </p:sp>
    </p:spTree>
    <p:extLst>
      <p:ext uri="{BB962C8B-B14F-4D97-AF65-F5344CB8AC3E}">
        <p14:creationId xmlns:p14="http://schemas.microsoft.com/office/powerpoint/2010/main" val="1227373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7c4946a550_0_9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Resources</a:t>
            </a:r>
            <a:endParaRPr/>
          </a:p>
        </p:txBody>
      </p:sp>
      <p:sp>
        <p:nvSpPr>
          <p:cNvPr id="134" name="Google Shape;134;g37c4946a550_0_9"/>
          <p:cNvSpPr txBox="1">
            <a:spLocks noGrp="1"/>
          </p:cNvSpPr>
          <p:nvPr>
            <p:ph type="body" idx="1"/>
          </p:nvPr>
        </p:nvSpPr>
        <p:spPr>
          <a:xfrm>
            <a:off x="1551215" y="1301570"/>
            <a:ext cx="9716007" cy="11342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>
              <a:spcBef>
                <a:spcPts val="0"/>
              </a:spcBef>
              <a:buNone/>
            </a:pPr>
            <a:r>
              <a:rPr lang="en-US" sz="2000" dirty="0"/>
              <a:t>Competitive Programming, 1 &amp; 2, 4th Edition Steven Halim, Felix Halim, </a:t>
            </a:r>
            <a:r>
              <a:rPr lang="en-US" sz="2000" dirty="0" err="1"/>
              <a:t>Suhendry</a:t>
            </a:r>
            <a:r>
              <a:rPr lang="en-US" sz="2000" dirty="0"/>
              <a:t> Effendy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000" dirty="0"/>
              <a:t>Zelle J. - Python Programming An Introduction to Computer Science, 3rd Edition - 2017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 err="1"/>
              <a:t>Eclass</a:t>
            </a:r>
            <a:endParaRPr sz="2000" dirty="0"/>
          </a:p>
        </p:txBody>
      </p:sp>
      <p:pic>
        <p:nvPicPr>
          <p:cNvPr id="135" name="Google Shape;135;g37c4946a550_0_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31135" y="2686184"/>
            <a:ext cx="3067799" cy="3782738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143;g37c4946a550_0_123">
            <a:extLst>
              <a:ext uri="{FF2B5EF4-FFF2-40B4-BE49-F238E27FC236}">
                <a16:creationId xmlns:a16="http://schemas.microsoft.com/office/drawing/2014/main" id="{558DBCA2-6B58-636E-20CE-C62BF684F4F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53900" y="2686184"/>
            <a:ext cx="3067800" cy="37827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7c4946a550_0_18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1.3.3 Introduction to Algorithm Analysis</a:t>
            </a:r>
            <a:endParaRPr/>
          </a:p>
        </p:txBody>
      </p:sp>
      <p:sp>
        <p:nvSpPr>
          <p:cNvPr id="150" name="Google Shape;150;g37c4946a550_0_18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26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What is time complexity?</a:t>
            </a:r>
            <a:endParaRPr sz="2000" dirty="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Denoted by the Big-Oh, ex: O(n), O(n^2), O(</a:t>
            </a:r>
            <a:r>
              <a:rPr lang="en-US" sz="2000" dirty="0" err="1"/>
              <a:t>nlogn</a:t>
            </a:r>
            <a:r>
              <a:rPr lang="en-US" sz="2000" dirty="0"/>
              <a:t>) </a:t>
            </a:r>
            <a:r>
              <a:rPr lang="en-US" sz="2000" dirty="0" err="1"/>
              <a:t>etc</a:t>
            </a:r>
            <a:r>
              <a:rPr lang="en-US" sz="2000" dirty="0"/>
              <a:t>…</a:t>
            </a:r>
            <a:endParaRPr sz="2000" dirty="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Time complexity measures how the number of operations grows with input size as n→∞.</a:t>
            </a:r>
            <a:endParaRPr sz="20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What is space complexity?</a:t>
            </a:r>
            <a:endParaRPr sz="2000" dirty="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Big-Oh notation</a:t>
            </a:r>
            <a:endParaRPr sz="2000" dirty="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/>
              <a:t>Space complexity measures how the memory required grows with input size as n→∞.</a:t>
            </a:r>
            <a:endParaRPr sz="2000" dirty="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>
                <a:highlight>
                  <a:srgbClr val="FFFF00"/>
                </a:highlight>
              </a:rPr>
              <a:t>bit level chapter?</a:t>
            </a:r>
            <a:endParaRPr sz="2000" dirty="0">
              <a:highlight>
                <a:srgbClr val="FFFF00"/>
              </a:highlight>
            </a:endParaRPr>
          </a:p>
        </p:txBody>
      </p:sp>
      <p:pic>
        <p:nvPicPr>
          <p:cNvPr id="151" name="Google Shape;151;g37c4946a550_0_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31225" y="3479575"/>
            <a:ext cx="5152251" cy="3153575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g37c4946a550_0_18"/>
          <p:cNvSpPr txBox="1">
            <a:spLocks noGrp="1"/>
          </p:cNvSpPr>
          <p:nvPr>
            <p:ph type="body" idx="1"/>
          </p:nvPr>
        </p:nvSpPr>
        <p:spPr>
          <a:xfrm>
            <a:off x="480300" y="5847450"/>
            <a:ext cx="11231400" cy="7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Sources: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1200" u="sng">
                <a:solidFill>
                  <a:srgbClr val="467886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https://www.freecodecamp.org/news/big-o-cheat-sheet-time-complexity-chart/</a:t>
            </a:r>
            <a:r>
              <a:rPr lang="en-US" sz="2000"/>
              <a:t> 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7c4946a550_0_105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1.3.3 Introduction to Algorithm Analysis</a:t>
            </a:r>
            <a:endParaRPr/>
          </a:p>
        </p:txBody>
      </p:sp>
      <p:sp>
        <p:nvSpPr>
          <p:cNvPr id="159" name="Google Shape;159;g37c4946a550_0_105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Why is time and space complexity important?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Understanding complexity helps you quickly decide whether an approach will run fast enough and fit in memory, so you don’t waste submissions and time.</a:t>
            </a:r>
            <a:endParaRPr sz="2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makes the best solution?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Meets the constraints for time and space complexity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Simple for you to implement 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7c4946a550_0_78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1.3.3 Introduction to Algorithm Analysis</a:t>
            </a:r>
            <a:endParaRPr/>
          </a:p>
        </p:txBody>
      </p:sp>
      <p:sp>
        <p:nvSpPr>
          <p:cNvPr id="166" name="Google Shape;166;g37c4946a550_0_78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8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Activity!</a:t>
            </a:r>
            <a:endParaRPr sz="200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 “simple operation” can be considered something done in constant time</a:t>
            </a:r>
            <a:endParaRPr sz="200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When we say ‘simple operation’ = O(1), we’re ignoring real-world machine details and just focusing on asymptotic growth.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Disk I/O not always constant time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Hash table lookup is expected O(1), but worst-case O(n)</a:t>
            </a:r>
            <a:endParaRPr sz="2000"/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 modern computer can calculate about 10^8 or 100 Million operations per second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Gives you a rule of thumb when estimating if you will fit the constraints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Just like time complexity measures how runtime grows with input size, space complexity measures how memory usage grows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Keep in mind how many objects/data structures you create and how large they become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Try to re-use structures instead of making new ones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Keep track of how large your stack frame and associated objects inside becomes when you use a recursive solution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Every recursive call stores local variables on the stack, too much recursion can blow your memory cap even if each call is cheap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 will expand on recursion in a later workshop</a:t>
            </a:r>
            <a:endParaRPr sz="2000"/>
          </a:p>
        </p:txBody>
      </p:sp>
      <p:sp>
        <p:nvSpPr>
          <p:cNvPr id="167" name="Google Shape;167;g37c4946a550_0_78"/>
          <p:cNvSpPr txBox="1">
            <a:spLocks noGrp="1"/>
          </p:cNvSpPr>
          <p:nvPr>
            <p:ph type="body" idx="1"/>
          </p:nvPr>
        </p:nvSpPr>
        <p:spPr>
          <a:xfrm>
            <a:off x="480300" y="5847450"/>
            <a:ext cx="11231400" cy="7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457200" lvl="0" indent="-346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Sources:</a:t>
            </a:r>
            <a:endParaRPr sz="2000"/>
          </a:p>
          <a:p>
            <a:pPr marL="914400" lvl="1" indent="-346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3"/>
              </a:rPr>
              <a:t>https://wiki.python.org/moin/TimeComplexity</a:t>
            </a:r>
            <a:r>
              <a:rPr lang="en-US" sz="2000"/>
              <a:t> </a:t>
            </a:r>
            <a:endParaRPr sz="2000"/>
          </a:p>
          <a:p>
            <a:pPr marL="914400" lvl="1" indent="-346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Competitive Programming 4 section 1.3.3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7c4946a550_0_116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2.2.1 Array</a:t>
            </a:r>
            <a:endParaRPr/>
          </a:p>
        </p:txBody>
      </p:sp>
      <p:sp>
        <p:nvSpPr>
          <p:cNvPr id="174" name="Google Shape;174;g37c4946a550_0_116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7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is an array?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Is a collection of homogenous sequential data to be stored and later accessed using their indices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Native support in C/C++ and Java.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No built-in support for static array in Python.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Not resizeable</a:t>
            </a:r>
            <a:endParaRPr sz="2000"/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Dynamic (Resizeable) Array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C++ STL vector.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Java ArrayList (preferred in Competitive Programming, as it is faster) or Vector.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Python list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Resizable, the computer will take care of increasing or decreasing the size of the array for you.</a:t>
            </a:r>
            <a:endParaRPr sz="2000"/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Sorting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Python: O(nlogn)</a:t>
            </a:r>
            <a:endParaRPr sz="2000"/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Searching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Python Unsorted Array: O(n)</a:t>
            </a:r>
            <a:endParaRPr sz="2000"/>
          </a:p>
          <a:p>
            <a:pPr marL="914400" lvl="1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Python Sorted Array: O(logn) using binary search</a:t>
            </a:r>
            <a:endParaRPr sz="2000"/>
          </a:p>
          <a:p>
            <a:pPr marL="457200" lvl="0" indent="-355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3"/>
              </a:rPr>
              <a:t>https://visualgo.net/en/array</a:t>
            </a:r>
            <a:r>
              <a:rPr lang="en-US" sz="2000"/>
              <a:t> </a:t>
            </a:r>
            <a:endParaRPr sz="2000"/>
          </a:p>
        </p:txBody>
      </p:sp>
      <p:sp>
        <p:nvSpPr>
          <p:cNvPr id="175" name="Google Shape;175;g37c4946a550_0_116"/>
          <p:cNvSpPr txBox="1">
            <a:spLocks noGrp="1"/>
          </p:cNvSpPr>
          <p:nvPr>
            <p:ph type="body" idx="1"/>
          </p:nvPr>
        </p:nvSpPr>
        <p:spPr>
          <a:xfrm>
            <a:off x="480300" y="5847450"/>
            <a:ext cx="11231400" cy="7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457200" lvl="0" indent="-346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Sources:</a:t>
            </a:r>
            <a:endParaRPr sz="2000"/>
          </a:p>
          <a:p>
            <a:pPr marL="914400" lvl="1" indent="-346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4"/>
              </a:rPr>
              <a:t>https://wiki.python.org/moin/TimeComplexity</a:t>
            </a:r>
            <a:r>
              <a:rPr lang="en-US" sz="2000"/>
              <a:t> </a:t>
            </a:r>
            <a:endParaRPr sz="2000"/>
          </a:p>
          <a:p>
            <a:pPr marL="914400" lvl="1" indent="-3460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Competitive Programming 4 section 2.2.1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7c4946a550_0_141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2.2.5 Linked Data Structures (overview)</a:t>
            </a:r>
            <a:endParaRPr/>
          </a:p>
        </p:txBody>
      </p:sp>
      <p:sp>
        <p:nvSpPr>
          <p:cNvPr id="182" name="Google Shape;182;g37c4946a550_0_141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89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is a Linked List?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 linked list is a linear data structure where each element (node) stores a value and a pointer to the next node, forming a chain of connected elements.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Inefficient, we won’t be using this in the competition.</a:t>
            </a:r>
            <a:endParaRPr sz="2000"/>
          </a:p>
          <a:p>
            <a:pPr marL="9144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is a Stack?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 stack is a linear data structure that stores elements in a last-in, first-out (LIFO) order, where insertions and removals occur only at the top.</a:t>
            </a:r>
            <a:endParaRPr sz="2000"/>
          </a:p>
          <a:p>
            <a:pPr marL="9144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is a Queue?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 queue is a linear data structure that stores elements in a first-in, first-out (FIFO) order, where insertions happen at the rear and removals happen at the front.</a:t>
            </a:r>
            <a:endParaRPr sz="2000"/>
          </a:p>
          <a:p>
            <a:pPr marL="9144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happens if you need to add to the front of a queue as well as the back?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Double-ended Queue (Deque)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Is a linear data structure that allows insertions and removals from both the front and the rear.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But even looking at the middle is slow, and adding to or removing from the middle is slower still. </a:t>
            </a:r>
            <a:endParaRPr sz="2000"/>
          </a:p>
        </p:txBody>
      </p:sp>
      <p:sp>
        <p:nvSpPr>
          <p:cNvPr id="183" name="Google Shape;183;g37c4946a550_0_141"/>
          <p:cNvSpPr txBox="1">
            <a:spLocks noGrp="1"/>
          </p:cNvSpPr>
          <p:nvPr>
            <p:ph type="body" idx="1"/>
          </p:nvPr>
        </p:nvSpPr>
        <p:spPr>
          <a:xfrm>
            <a:off x="480300" y="5809275"/>
            <a:ext cx="11231400" cy="9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457200" lvl="0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Sources:</a:t>
            </a:r>
            <a:endParaRPr sz="2000"/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3"/>
              </a:rPr>
              <a:t>https://wiki.python.org/moin/TimeComplexity</a:t>
            </a:r>
            <a:r>
              <a:rPr lang="en-US" sz="2000"/>
              <a:t> </a:t>
            </a:r>
            <a:endParaRPr sz="2000"/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Competitive Programming 4 section 2.2.5</a:t>
            </a:r>
            <a:endParaRPr sz="2000"/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4"/>
              </a:rPr>
              <a:t>https://visualgo.net/en/list</a:t>
            </a:r>
            <a:r>
              <a:rPr lang="en-US" sz="2000"/>
              <a:t>  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7c4946a550_0_147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2.2.6 Special Stack-based Problems</a:t>
            </a:r>
            <a:endParaRPr/>
          </a:p>
        </p:txBody>
      </p:sp>
      <p:sp>
        <p:nvSpPr>
          <p:cNvPr id="190" name="Google Shape;190;g37c4946a550_0_147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Parentheses Matching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Given a string containing brackets, return True if all the parentheses inside the string are properly closed, False otherwise. 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How can we solve this? What can we use?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We can use a stack! Using the LIFO strategy! 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Push open brackets, pop matching closing ones.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If at the end of the string, the stack is empty then it is all okay! If not, then it is not okay.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is the runtime?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O(n)</a:t>
            </a:r>
            <a:endParaRPr sz="2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/>
          </a:p>
        </p:txBody>
      </p:sp>
      <p:pic>
        <p:nvPicPr>
          <p:cNvPr id="191" name="Google Shape;191;g37c4946a550_0_1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65799" y="3637450"/>
            <a:ext cx="8400049" cy="260740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g37c4946a550_0_147"/>
          <p:cNvSpPr txBox="1">
            <a:spLocks noGrp="1"/>
          </p:cNvSpPr>
          <p:nvPr>
            <p:ph type="body" idx="1"/>
          </p:nvPr>
        </p:nvSpPr>
        <p:spPr>
          <a:xfrm>
            <a:off x="480300" y="5976025"/>
            <a:ext cx="11231400" cy="7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Sources: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Competitive Programming 4 section 2.2.6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7c4946a550_0_166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2.3.1 Binary Heap (Priority Queue) </a:t>
            </a:r>
            <a:endParaRPr/>
          </a:p>
        </p:txBody>
      </p:sp>
      <p:sp>
        <p:nvSpPr>
          <p:cNvPr id="199" name="Google Shape;199;g37c4946a550_0_166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44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What is a heap?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Data structure that satisfies 2 properties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b="1"/>
              <a:t>Shape property</a:t>
            </a:r>
            <a:r>
              <a:rPr lang="en-US" sz="2000"/>
              <a:t>: it is a complete binary tree (all levels are fully filled except possibly the last, which is filled from left to right).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b="1"/>
              <a:t>Heap property</a:t>
            </a:r>
            <a:r>
              <a:rPr lang="en-US" sz="2000"/>
              <a:t>: every parent node compares in a consistent way with its children</a:t>
            </a:r>
            <a:endParaRPr sz="2000"/>
          </a:p>
          <a:p>
            <a:pPr marL="1828800" lvl="3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In a </a:t>
            </a:r>
            <a:r>
              <a:rPr lang="en-US" sz="2000" b="1"/>
              <a:t>min-heap</a:t>
            </a:r>
            <a:r>
              <a:rPr lang="en-US" sz="2000"/>
              <a:t>, each parent is less than or equal to its children → the smallest element is always at the root.</a:t>
            </a:r>
            <a:endParaRPr sz="2000"/>
          </a:p>
          <a:p>
            <a:pPr marL="1828800" lvl="3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In a </a:t>
            </a:r>
            <a:r>
              <a:rPr lang="en-US" sz="2000" b="1"/>
              <a:t>max-heap</a:t>
            </a:r>
            <a:r>
              <a:rPr lang="en-US" sz="2000"/>
              <a:t>, each parent is greater than or equal to its children → the largest element is always at the root.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Binary Heap is what heapq in Python uses and it is a specific implementation of a Heap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Why is this useful?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Binary Heap (Priority Queues) Lets you always grab the largest/smallest item in O(logn) time instead of inserting and sorting which can be O(nlogn) time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You have a problem with incoming tasks with various levels of priority, you can always get the most important one any time</a:t>
            </a:r>
            <a:endParaRPr sz="2000"/>
          </a:p>
        </p:txBody>
      </p:sp>
      <p:sp>
        <p:nvSpPr>
          <p:cNvPr id="200" name="Google Shape;200;g37c4946a550_0_166"/>
          <p:cNvSpPr txBox="1">
            <a:spLocks noGrp="1"/>
          </p:cNvSpPr>
          <p:nvPr>
            <p:ph type="body" idx="1"/>
          </p:nvPr>
        </p:nvSpPr>
        <p:spPr>
          <a:xfrm>
            <a:off x="480300" y="5809275"/>
            <a:ext cx="11231400" cy="9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Sources: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Competitive Programming 4 section 2.3.1</a:t>
            </a:r>
            <a:endParaRPr sz="2000"/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3"/>
              </a:rPr>
              <a:t>https://visualgo.net/en/heap</a:t>
            </a:r>
            <a:r>
              <a:rPr lang="en-US" sz="2000"/>
              <a:t> </a:t>
            </a:r>
            <a:endParaRPr sz="2000"/>
          </a:p>
        </p:txBody>
      </p:sp>
      <p:pic>
        <p:nvPicPr>
          <p:cNvPr id="201" name="Google Shape;201;g37c4946a550_0_16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91425" y="5048000"/>
            <a:ext cx="6112075" cy="175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7c4946a550_0_183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2.3.2 Hash Table</a:t>
            </a:r>
            <a:endParaRPr/>
          </a:p>
        </p:txBody>
      </p:sp>
      <p:sp>
        <p:nvSpPr>
          <p:cNvPr id="208" name="Google Shape;208;g37c4946a550_0_183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What are Hash Tables?</a:t>
            </a:r>
            <a:endParaRPr sz="20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Hash Table is a non-linear data structure that requires very fast (expected) O(1) insertion, search/retrieval/update, or removal of keys if the keys do not have to be sorted.</a:t>
            </a:r>
            <a:endParaRPr sz="20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A hash table stores key–value pairs in an array by running each key through a hash function (turns it into an index), then places the value at that index.</a:t>
            </a:r>
            <a:endParaRPr sz="20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If two keys land on the same index (collision), the table resolves it by a few ways but a common way is by using linked lists.</a:t>
            </a:r>
            <a:endParaRPr sz="20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Worst case can be O(n), but is O(1) on average.</a:t>
            </a:r>
            <a:endParaRPr sz="20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In python they are dict/set</a:t>
            </a:r>
            <a:endParaRPr sz="20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Why is this useful?</a:t>
            </a:r>
            <a:endParaRPr sz="20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Near instant lookup tool! Insertion, search/retrieval/update is super duper fast</a:t>
            </a:r>
            <a:endParaRPr sz="200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Good for ex:</a:t>
            </a:r>
            <a:endParaRPr sz="2000"/>
          </a:p>
          <a:p>
            <a:pPr marL="1371600" lvl="2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Frequency counting (how many times does a number/letter appear?).</a:t>
            </a:r>
            <a:endParaRPr sz="2000"/>
          </a:p>
          <a:p>
            <a:pPr marL="1371600" lvl="2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Membership tests (has this state/word/number been seen before?).</a:t>
            </a:r>
            <a:endParaRPr sz="2000"/>
          </a:p>
          <a:p>
            <a:pPr marL="1371600" lvl="2" indent="-336550" algn="l" rtl="0"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Mapping (store extra info keyed by a string or ID).</a:t>
            </a:r>
            <a:endParaRPr sz="2000"/>
          </a:p>
        </p:txBody>
      </p:sp>
      <p:pic>
        <p:nvPicPr>
          <p:cNvPr id="209" name="Google Shape;209;g37c4946a550_0_1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42500" y="4364725"/>
            <a:ext cx="6781875" cy="194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g37c4946a550_0_183"/>
          <p:cNvSpPr txBox="1">
            <a:spLocks noGrp="1"/>
          </p:cNvSpPr>
          <p:nvPr>
            <p:ph type="body" idx="1"/>
          </p:nvPr>
        </p:nvSpPr>
        <p:spPr>
          <a:xfrm>
            <a:off x="480300" y="5809275"/>
            <a:ext cx="11231400" cy="9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457200" lvl="0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Sources:</a:t>
            </a:r>
            <a:endParaRPr sz="2000"/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/>
              <a:t>Competitive Programming 4 section 2.3.2</a:t>
            </a:r>
            <a:endParaRPr sz="2000"/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4"/>
              </a:rPr>
              <a:t>https://visualgo.net/en/hashtable</a:t>
            </a:r>
            <a:r>
              <a:rPr lang="en-US" sz="2000"/>
              <a:t> </a:t>
            </a:r>
            <a:endParaRPr sz="2000"/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5"/>
              </a:rPr>
              <a:t>https://wiki.python.org/moin/TimeComplexity</a:t>
            </a:r>
            <a:r>
              <a:rPr lang="en-US" sz="2000"/>
              <a:t>  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7c4946a550_0_55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Suggested Homework</a:t>
            </a:r>
            <a:endParaRPr/>
          </a:p>
        </p:txBody>
      </p:sp>
      <p:sp>
        <p:nvSpPr>
          <p:cNvPr id="217" name="Google Shape;217;g37c4946a550_0_55"/>
          <p:cNvSpPr txBox="1">
            <a:spLocks noGrp="1"/>
          </p:cNvSpPr>
          <p:nvPr>
            <p:ph type="body" idx="1"/>
          </p:nvPr>
        </p:nvSpPr>
        <p:spPr>
          <a:xfrm>
            <a:off x="282125" y="1147625"/>
            <a:ext cx="11766300" cy="53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/>
              <a:t>2.2</a:t>
            </a:r>
            <a:endParaRPr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•"/>
            </a:pPr>
            <a:r>
              <a:rPr lang="en-US" sz="2000"/>
              <a:t>a. 1D Array Manipulation, Medium</a:t>
            </a:r>
            <a:endParaRPr sz="24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3"/>
              </a:rPr>
              <a:t>https://open.kattis.com/problems/jollyjumpers</a:t>
            </a:r>
            <a:r>
              <a:rPr lang="en-US" sz="2000"/>
              <a:t> 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b. 2D Array Manipulation, Easier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4"/>
              </a:rPr>
              <a:t>https://open.kattis.com/problems/epigdanceoff</a:t>
            </a:r>
            <a:r>
              <a:rPr lang="en-US" sz="2000"/>
              <a:t> 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j. Stack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5"/>
              </a:rPr>
              <a:t>https://open.kattis.com/problems/pairingsocks</a:t>
            </a:r>
            <a:r>
              <a:rPr lang="en-US" sz="2000"/>
              <a:t> 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l. List/Queue/Deque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6"/>
              </a:rPr>
              <a:t>https://open.kattis.com/problems/integerlists</a:t>
            </a:r>
            <a:r>
              <a:rPr lang="en-US" sz="2000"/>
              <a:t> 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2.3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a Priority Queue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7"/>
              </a:rPr>
              <a:t>https://open.kattis.com/problems/stockprices</a:t>
            </a:r>
            <a:r>
              <a:rPr lang="en-US" sz="2000"/>
              <a:t> 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d. Hash Table (set)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8"/>
              </a:rPr>
              <a:t>https://open.kattis.com/problems/esej</a:t>
            </a:r>
            <a:r>
              <a:rPr lang="en-US" sz="2000"/>
              <a:t> 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9"/>
              </a:rPr>
              <a:t>https://open.kattis.com/problems/shiritori</a:t>
            </a:r>
            <a:r>
              <a:rPr lang="en-US" sz="2000"/>
              <a:t> 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e. Hash Table (map), Easier</a:t>
            </a:r>
            <a:endParaRPr sz="2000"/>
          </a:p>
          <a:p>
            <a:pPr marL="1371600" lvl="2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10"/>
              </a:rPr>
              <a:t>https://open.kattis.com/problems/recount</a:t>
            </a:r>
            <a:r>
              <a:rPr lang="en-US" sz="2000"/>
              <a:t> 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Other Special Stack-Based Problem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u="sng">
                <a:solidFill>
                  <a:schemeClr val="hlink"/>
                </a:solidFill>
                <a:hlinkClick r:id="rId11"/>
              </a:rPr>
              <a:t>https://open.kattis.com/problems/bracketmatching</a:t>
            </a:r>
            <a:r>
              <a:rPr lang="en-US" sz="2000"/>
              <a:t> </a:t>
            </a:r>
            <a:endParaRPr sz="20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7c4946a550_0_194"/>
          <p:cNvSpPr txBox="1">
            <a:spLocks noGrp="1"/>
          </p:cNvSpPr>
          <p:nvPr>
            <p:ph type="title"/>
          </p:nvPr>
        </p:nvSpPr>
        <p:spPr>
          <a:xfrm>
            <a:off x="2231136" y="228421"/>
            <a:ext cx="7729800" cy="66210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Template</a:t>
            </a:r>
            <a:endParaRPr/>
          </a:p>
        </p:txBody>
      </p:sp>
      <p:sp>
        <p:nvSpPr>
          <p:cNvPr id="224" name="Google Shape;224;g37c4946a550_0_194"/>
          <p:cNvSpPr txBox="1">
            <a:spLocks noGrp="1"/>
          </p:cNvSpPr>
          <p:nvPr>
            <p:ph type="body" idx="1"/>
          </p:nvPr>
        </p:nvSpPr>
        <p:spPr>
          <a:xfrm>
            <a:off x="494675" y="1096825"/>
            <a:ext cx="11231400" cy="33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Template</a:t>
            </a:r>
            <a:endParaRPr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2251</Words>
  <Application>Microsoft Macintosh PowerPoint</Application>
  <PresentationFormat>Widescreen</PresentationFormat>
  <Paragraphs>297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Gill Sans</vt:lpstr>
      <vt:lpstr>Parcel</vt:lpstr>
      <vt:lpstr>Parcel</vt:lpstr>
      <vt:lpstr>WORKSHOP 1</vt:lpstr>
      <vt:lpstr>Ryan Pelchat</vt:lpstr>
      <vt:lpstr>What is ICPC</vt:lpstr>
      <vt:lpstr>Format</vt:lpstr>
      <vt:lpstr>Roadmap for this Week Day 1</vt:lpstr>
      <vt:lpstr>Roadmap for this Week Day 2</vt:lpstr>
      <vt:lpstr>Roadmap for this Week Day 3</vt:lpstr>
      <vt:lpstr>Roadmap for this Week Day 4</vt:lpstr>
      <vt:lpstr>Roadmap for this Week Day 5</vt:lpstr>
      <vt:lpstr>Resources</vt:lpstr>
      <vt:lpstr>1.3.3 Introduction to Algorithm Analysis</vt:lpstr>
      <vt:lpstr>1.3.3 Introduction to Algorithm Analysis</vt:lpstr>
      <vt:lpstr>1.3.3 Introduction to Algorithm Analysis</vt:lpstr>
      <vt:lpstr>2.2.1 Array</vt:lpstr>
      <vt:lpstr>2.2.5 Linked Data Structures (overview)</vt:lpstr>
      <vt:lpstr>2.2.6 Special Stack-based Problems</vt:lpstr>
      <vt:lpstr>2.3.1 Binary Heap (Priority Queue) </vt:lpstr>
      <vt:lpstr>2.3.2 Hash Table</vt:lpstr>
      <vt:lpstr>Suggested Homework</vt:lpstr>
      <vt:lpstr>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Ryan Pelchat</dc:creator>
  <cp:lastModifiedBy>Ryan Pelchat</cp:lastModifiedBy>
  <cp:revision>3</cp:revision>
  <dcterms:created xsi:type="dcterms:W3CDTF">2025-09-06T15:13:09Z</dcterms:created>
  <dcterms:modified xsi:type="dcterms:W3CDTF">2026-08-14T16:55:54Z</dcterms:modified>
</cp:coreProperties>
</file>