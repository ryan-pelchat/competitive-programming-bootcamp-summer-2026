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43"/>
  </p:notesMasterIdLst>
  <p:sldIdLst>
    <p:sldId id="256" r:id="rId3"/>
    <p:sldId id="261" r:id="rId4"/>
    <p:sldId id="282" r:id="rId5"/>
    <p:sldId id="284" r:id="rId6"/>
    <p:sldId id="283" r:id="rId7"/>
    <p:sldId id="267" r:id="rId8"/>
    <p:sldId id="268" r:id="rId9"/>
    <p:sldId id="286" r:id="rId10"/>
    <p:sldId id="272" r:id="rId11"/>
    <p:sldId id="273" r:id="rId12"/>
    <p:sldId id="274" r:id="rId13"/>
    <p:sldId id="258" r:id="rId14"/>
    <p:sldId id="259" r:id="rId15"/>
    <p:sldId id="260" r:id="rId16"/>
    <p:sldId id="287" r:id="rId17"/>
    <p:sldId id="262" r:id="rId18"/>
    <p:sldId id="263" r:id="rId19"/>
    <p:sldId id="264" r:id="rId20"/>
    <p:sldId id="265" r:id="rId21"/>
    <p:sldId id="266" r:id="rId22"/>
    <p:sldId id="288" r:id="rId23"/>
    <p:sldId id="269" r:id="rId24"/>
    <p:sldId id="270" r:id="rId25"/>
    <p:sldId id="291" r:id="rId26"/>
    <p:sldId id="292" r:id="rId27"/>
    <p:sldId id="275" r:id="rId28"/>
    <p:sldId id="276" r:id="rId29"/>
    <p:sldId id="278" r:id="rId30"/>
    <p:sldId id="279" r:id="rId31"/>
    <p:sldId id="303" r:id="rId32"/>
    <p:sldId id="294" r:id="rId33"/>
    <p:sldId id="295" r:id="rId34"/>
    <p:sldId id="305" r:id="rId35"/>
    <p:sldId id="304" r:id="rId36"/>
    <p:sldId id="297" r:id="rId37"/>
    <p:sldId id="300" r:id="rId38"/>
    <p:sldId id="298" r:id="rId39"/>
    <p:sldId id="299" r:id="rId40"/>
    <p:sldId id="301" r:id="rId41"/>
    <p:sldId id="285" r:id="rId4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i14jFXTrCmS0u2hXQXGuC3zsnM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23"/>
    <p:restoredTop sz="81136"/>
  </p:normalViewPr>
  <p:slideViewPr>
    <p:cSldViewPr snapToGrid="0">
      <p:cViewPr varScale="1">
        <p:scale>
          <a:sx n="111" d="100"/>
          <a:sy n="111" d="100"/>
        </p:scale>
        <p:origin x="24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big-o-cheat-sheet-time-complexity-chart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c4946a55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7c4946a550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https://www.freecodecamp.org/news/big-o-cheat-sheet-time-complexity-chart/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37c4946a550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14A5B867-BAD1-CAEE-A228-12B383A35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C9C0B1C6-602E-883F-B66D-7B8287EB10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6A6F3544-7AD3-F01D-DE46-E122A2C79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5C66DD11-AF00-FFF5-25BB-A5116B478E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5295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C448C154-E234-7C83-C525-49845A3CA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469B98D7-B6E2-6BF1-EF0C-88DFBD1E47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93FE3A30-EFC7-D7F9-732A-977296505C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ECDFFD4E-A917-4FE5-1A31-7C5C787AAD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7429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F36B7D5A-0D67-0664-78A3-753F64D7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1842C806-8FC5-9431-331B-01980B7BC5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7256A97E-E9E1-1C50-1DBD-A52A0E5B75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5D5C0CC4-AED5-6066-648D-ACFC69F583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3969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c4946a550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7c4946a550_0_1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96" name="Google Shape;196;g37c4946a550_0_1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c4946a550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7c4946a550_0_1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05" name="Google Shape;205;g37c4946a550_0_1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45568222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3845568222e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Quickly go through, can skip after the first 3 bullet points</a:t>
            </a:r>
            <a:br>
              <a:rPr lang="en-US"/>
            </a:br>
            <a:r>
              <a:rPr lang="en-US"/>
              <a:t>Graph represents nodes and paths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Undirected/Directed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Directed Acyclic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Tree: pick any 2 points, there is only 1 path between them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Forest: a bunch of trees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Complete Graph: every point directly connects to every other point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Bipartite graph: you can split the vertices in such a way that they only connect to the other group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/>
              <a:t>Multigraph: You can have an edge that starts and terminates on itself</a:t>
            </a:r>
            <a:endParaRPr/>
          </a:p>
        </p:txBody>
      </p:sp>
      <p:sp>
        <p:nvSpPr>
          <p:cNvPr id="222" name="Google Shape;222;g3845568222e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45568222e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3845568222e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46" name="Google Shape;246;g3845568222e_0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45568222e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3845568222e_0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dirty="0"/>
          </a:p>
        </p:txBody>
      </p:sp>
      <p:sp>
        <p:nvSpPr>
          <p:cNvPr id="256" name="Google Shape;256;g3845568222e_0_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45568222e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845568222e_0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66" name="Google Shape;266;g3845568222e_0_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14" name="Google Shape;11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22" name="Google Shape;12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45568222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845568222e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 class, show example of each on the board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IF Class is new to bit operations, draw Truth Tables on the board!</a:t>
            </a:r>
            <a:endParaRPr/>
          </a:p>
        </p:txBody>
      </p:sp>
      <p:sp>
        <p:nvSpPr>
          <p:cNvPr id="130" name="Google Shape;130;g3845568222e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38" name="Google Shape;13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47" name="Google Shape;147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56" name="Google Shape;15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65" name="Google Shape;165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74" name="Google Shape;174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83" name="Google Shape;18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92" name="Google Shape;192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e6225694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7e6225694e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-US" dirty="0"/>
              <a:t>Disjoint sets (sets with no items in common)</a:t>
            </a:r>
            <a:endParaRPr dirty="0"/>
          </a:p>
        </p:txBody>
      </p:sp>
      <p:sp>
        <p:nvSpPr>
          <p:cNvPr id="196" name="Google Shape;196;g37e6225694e_0_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a82980c7b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8a82980c7b_1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04" name="Google Shape;204;g38a82980c7b_1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a82980c7b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38a82980c7b_1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2" name="Google Shape;222;g38a82980c7b_1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0c4f9b09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380c4f9b096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31" name="Google Shape;231;g380c4f9b096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0c4f9b096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380c4f9b096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51" name="Google Shape;251;g380c4f9b096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0c4f9b096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380c4f9b096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59" name="Google Shape;259;g380c4f9b096_0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0c4f9b09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g380c4f9b096_0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77" name="Google Shape;277;g380c4f9b096_0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0c4f9b096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g380c4f9b096_0_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85" name="Google Shape;285;g380c4f9b096_0_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A21289D6-B0DC-8265-DB54-C74D5EFA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0c4f9b096_0_69:notes">
            <a:extLst>
              <a:ext uri="{FF2B5EF4-FFF2-40B4-BE49-F238E27FC236}">
                <a16:creationId xmlns:a16="http://schemas.microsoft.com/office/drawing/2014/main" id="{9C1726FA-DA36-F381-9183-24CA7F86E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g380c4f9b096_0_69:notes">
            <a:extLst>
              <a:ext uri="{FF2B5EF4-FFF2-40B4-BE49-F238E27FC236}">
                <a16:creationId xmlns:a16="http://schemas.microsoft.com/office/drawing/2014/main" id="{F593DDD1-ACDA-A65D-FC6A-A1472ACEB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85" name="Google Shape;285;g380c4f9b096_0_69:notes">
            <a:extLst>
              <a:ext uri="{FF2B5EF4-FFF2-40B4-BE49-F238E27FC236}">
                <a16:creationId xmlns:a16="http://schemas.microsoft.com/office/drawing/2014/main" id="{8C6298D7-E1D4-DD65-7320-5B41E01826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13059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80c4f9b096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g380c4f9b096_0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309" name="Google Shape;309;g380c4f9b096_0_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0c4f9b096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g380c4f9b096_0_1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317" name="Google Shape;317;g380c4f9b096_0_1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>
          <a:extLst>
            <a:ext uri="{FF2B5EF4-FFF2-40B4-BE49-F238E27FC236}">
              <a16:creationId xmlns:a16="http://schemas.microsoft.com/office/drawing/2014/main" id="{22F2C857-5265-F8F6-BCF7-ACE4DDE7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5494f4a8f_0_88:notes">
            <a:extLst>
              <a:ext uri="{FF2B5EF4-FFF2-40B4-BE49-F238E27FC236}">
                <a16:creationId xmlns:a16="http://schemas.microsoft.com/office/drawing/2014/main" id="{D653C796-E524-03C5-3BB9-D7AE861AFA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g3a5494f4a8f_0_88:notes">
            <a:extLst>
              <a:ext uri="{FF2B5EF4-FFF2-40B4-BE49-F238E27FC236}">
                <a16:creationId xmlns:a16="http://schemas.microsoft.com/office/drawing/2014/main" id="{22022C65-894A-55EE-5711-0FE339FEB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330" name="Google Shape;330;g3a5494f4a8f_0_88:notes">
            <a:extLst>
              <a:ext uri="{FF2B5EF4-FFF2-40B4-BE49-F238E27FC236}">
                <a16:creationId xmlns:a16="http://schemas.microsoft.com/office/drawing/2014/main" id="{A239A2F9-F4BB-39F5-A972-E2B5D42B76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66655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0856E533-2CAD-842D-28F8-1DBCF5C73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5494f4a8f_0_7:notes">
            <a:extLst>
              <a:ext uri="{FF2B5EF4-FFF2-40B4-BE49-F238E27FC236}">
                <a16:creationId xmlns:a16="http://schemas.microsoft.com/office/drawing/2014/main" id="{DAEAA318-299C-986A-0A7A-CAAB17A76E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3a5494f4a8f_0_7:notes">
            <a:extLst>
              <a:ext uri="{FF2B5EF4-FFF2-40B4-BE49-F238E27FC236}">
                <a16:creationId xmlns:a16="http://schemas.microsoft.com/office/drawing/2014/main" id="{0FABCBD0-81D6-FC20-C1CB-3E549580A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82" name="Google Shape;282;g3a5494f4a8f_0_7:notes">
            <a:extLst>
              <a:ext uri="{FF2B5EF4-FFF2-40B4-BE49-F238E27FC236}">
                <a16:creationId xmlns:a16="http://schemas.microsoft.com/office/drawing/2014/main" id="{E5299065-99ED-8DE3-CC96-18F0C6E817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4876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5494f4a8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3a5494f4a8f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90" name="Google Shape;290;g3a5494f4a8f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322" name="Google Shape;322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Let’s introduce the Range Query Sum!</a:t>
            </a:r>
            <a:endParaRPr/>
          </a:p>
        </p:txBody>
      </p:sp>
      <p:sp>
        <p:nvSpPr>
          <p:cNvPr id="300" name="Google Shape;30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5494f4a8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a5494f4a8f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Let’s introduce the Range Query Sum!</a:t>
            </a:r>
            <a:endParaRPr/>
          </a:p>
        </p:txBody>
      </p:sp>
      <p:sp>
        <p:nvSpPr>
          <p:cNvPr id="310" name="Google Shape;310;g3a5494f4a8f_0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5494f4a8f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g3a5494f4a8f_0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330" name="Google Shape;330;g3a5494f4a8f_0_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EB3FA6E6-50DD-EE87-D2F6-6B811849F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F142AB2D-8561-0EC3-A04D-B7005E356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B26EA038-A49F-1922-B7A0-6928BA225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C8A862BC-0309-EB1D-DCE5-59604B8B6D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4131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3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4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o.net/en/graphd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venhalim/cpbook-code/blob/master/ch2/ourown/unionfind_ds.py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venhalim/cpbook-code/blob/master/ch2/ourown/unionfind_ds.py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venhalim/cpbook-code/blob/master/ch2/ourown/fenwicktree_ds.py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41.png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venhalim/cpbook-code/blob/master/ch2/ourown/fenwicktree_ds.py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 dirty="0"/>
              <a:t>ICPC Bootcamp Day 1</a:t>
            </a:r>
            <a:endParaRPr dirty="0"/>
          </a:p>
        </p:txBody>
      </p:sp>
      <p:sp>
        <p:nvSpPr>
          <p:cNvPr id="104" name="Google Shape;104;p1"/>
          <p:cNvSpPr txBox="1"/>
          <p:nvPr/>
        </p:nvSpPr>
        <p:spPr>
          <a:xfrm>
            <a:off x="3242390" y="3399885"/>
            <a:ext cx="570720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1.3.3 Do Algorithm Analysis 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Some Abstract Data Types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cs typeface="Gill Sans"/>
                <a:sym typeface="Gill Sans"/>
              </a:rPr>
              <a:t>2.3.3 Balanced Binary Search Tree (</a:t>
            </a:r>
            <a:r>
              <a:rPr lang="en-US" sz="1800" dirty="0" err="1">
                <a:solidFill>
                  <a:schemeClr val="lt1"/>
                </a:solidFill>
                <a:latin typeface="Gill Sans"/>
                <a:cs typeface="Gill Sans"/>
                <a:sym typeface="Gill Sans"/>
              </a:rPr>
              <a:t>bBST</a:t>
            </a:r>
            <a:r>
              <a:rPr lang="en-US" sz="1800" dirty="0">
                <a:solidFill>
                  <a:schemeClr val="lt1"/>
                </a:solidFill>
                <a:latin typeface="Gill Sans"/>
                <a:cs typeface="Gill Sans"/>
                <a:sym typeface="Gill Sans"/>
              </a:rPr>
              <a:t>)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Linked-List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cs typeface="Gill Sans"/>
                <a:sym typeface="Gill Sans"/>
              </a:rPr>
              <a:t>2.3.1 Binary Heap (Priority Queue)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cs typeface="Gill Sans"/>
                <a:sym typeface="Gill Sans"/>
              </a:rPr>
              <a:t>2.3.2 Hash Table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cs typeface="Gill Sans"/>
                <a:sym typeface="Gill Sans"/>
              </a:rPr>
              <a:t>2.4.1 Graph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cs typeface="Gill Sans"/>
                <a:sym typeface="Gill Sans"/>
              </a:rPr>
              <a:t>2.2.3 Bitmask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cs typeface="Gill Sans"/>
                <a:sym typeface="Gill Sans"/>
              </a:rPr>
              <a:t>2.4.2 Union-Find Disjoint Set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cs typeface="Gill Sans"/>
                <a:sym typeface="Gill Sans"/>
              </a:rPr>
              <a:t>2.4.3 Fenwick (Binary Indexed Tree)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c4946a550_0_18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1.3.3 Do Algorithm Analysis</a:t>
            </a:r>
            <a:endParaRPr dirty="0"/>
          </a:p>
        </p:txBody>
      </p:sp>
      <p:sp>
        <p:nvSpPr>
          <p:cNvPr id="150" name="Google Shape;150;g37c4946a550_0_18"/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45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200" dirty="0"/>
              <a:t>What is time complexity?</a:t>
            </a:r>
            <a:endParaRPr sz="22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Denoted by the Big-Oh, ex: O(n), O(n^2), O(</a:t>
            </a:r>
            <a:r>
              <a:rPr lang="en-US" sz="2000" dirty="0" err="1"/>
              <a:t>nlogn</a:t>
            </a:r>
            <a:r>
              <a:rPr lang="en-US" sz="2000" dirty="0"/>
              <a:t>)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Time complexity measures how the number of operations grows with input size as n→∞.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200" dirty="0"/>
              <a:t>What is space complexity?</a:t>
            </a:r>
            <a:endParaRPr sz="22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Space complexity measures how the memory required grows with input size as n→∞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200" dirty="0"/>
              <a:t>Need this to not TLE or MLE (Time Limit Exceeded) (Memory Limit Exceeded)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200" dirty="0"/>
              <a:t>A computer can perform about 10^8 operations per second</a:t>
            </a:r>
          </a:p>
        </p:txBody>
      </p:sp>
      <p:pic>
        <p:nvPicPr>
          <p:cNvPr id="151" name="Google Shape;151;g37c4946a550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1225" y="3479575"/>
            <a:ext cx="5152251" cy="315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6085C4D-D7C9-73F1-F160-AA664B22C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60" y="3441250"/>
            <a:ext cx="1993900" cy="50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3139C6-0B89-CC02-33A5-1B2710963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60" y="4004650"/>
            <a:ext cx="2540000" cy="800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108BEE-FAA6-19D7-D30E-CFD6AE753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660" y="4822752"/>
            <a:ext cx="4445000" cy="1003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5FA1FC-E1D3-9089-6683-251ACBE285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960" y="5864152"/>
            <a:ext cx="4457700" cy="977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70FE3A05-0DFF-8B65-879F-95BD2A3A3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5BDA95DD-2D3D-5645-2990-ADC25E29C0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Some Abstract Data Types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AD2340F7-DE24-78D7-76FC-D909AA9A5E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5207482" cy="553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CA" b="1" dirty="0"/>
              <a:t>Set</a:t>
            </a:r>
            <a:endParaRPr lang="en-CA" dirty="0"/>
          </a:p>
          <a:p>
            <a:pPr lvl="1"/>
            <a:r>
              <a:rPr lang="en-CA" dirty="0"/>
              <a:t>Data: a collection of unique elements</a:t>
            </a:r>
          </a:p>
          <a:p>
            <a:pPr lvl="1"/>
            <a:r>
              <a:rPr lang="en-CA" dirty="0"/>
              <a:t>Ops: add, remove, contains, union, intersect</a:t>
            </a:r>
          </a:p>
          <a:p>
            <a:pPr lvl="0"/>
            <a:r>
              <a:rPr lang="en-CA" b="1" dirty="0"/>
              <a:t>List</a:t>
            </a:r>
            <a:endParaRPr lang="en-CA" dirty="0"/>
          </a:p>
          <a:p>
            <a:pPr lvl="1"/>
            <a:r>
              <a:rPr lang="en-CA" dirty="0"/>
              <a:t>Data: an ordered sequence of elements</a:t>
            </a:r>
          </a:p>
          <a:p>
            <a:pPr lvl="1"/>
            <a:r>
              <a:rPr lang="en-CA" dirty="0"/>
              <a:t>Ops: insert, remove, get, size</a:t>
            </a:r>
          </a:p>
          <a:p>
            <a:pPr lvl="0"/>
            <a:r>
              <a:rPr lang="en-CA" b="1" dirty="0"/>
              <a:t>Map</a:t>
            </a:r>
            <a:endParaRPr lang="en-CA" dirty="0"/>
          </a:p>
          <a:p>
            <a:pPr lvl="1"/>
            <a:r>
              <a:rPr lang="en-CA" dirty="0"/>
              <a:t>Data: a collection of key-value pairs, where each key is unique and associated with a single value</a:t>
            </a:r>
          </a:p>
          <a:p>
            <a:pPr lvl="1"/>
            <a:r>
              <a:rPr lang="en-CA" dirty="0"/>
              <a:t>Ops: put(key, value), get(key), remove(key)</a:t>
            </a:r>
          </a:p>
          <a:p>
            <a:r>
              <a:rPr lang="en-CA" b="1" dirty="0"/>
              <a:t>Graph</a:t>
            </a:r>
          </a:p>
          <a:p>
            <a:pPr lvl="1"/>
            <a:r>
              <a:rPr lang="en-CA" dirty="0"/>
              <a:t>Data: non-linear structure of vertices and edges</a:t>
            </a:r>
          </a:p>
          <a:p>
            <a:pPr lvl="1"/>
            <a:r>
              <a:rPr lang="en-CA" dirty="0"/>
              <a:t>Ops: </a:t>
            </a:r>
            <a:r>
              <a:rPr lang="en-CA" dirty="0" err="1"/>
              <a:t>add_vertex</a:t>
            </a:r>
            <a:r>
              <a:rPr lang="en-CA" dirty="0"/>
              <a:t>, </a:t>
            </a:r>
            <a:r>
              <a:rPr lang="en-CA" dirty="0" err="1"/>
              <a:t>add_edge</a:t>
            </a:r>
            <a:r>
              <a:rPr lang="en-CA" dirty="0"/>
              <a:t>, </a:t>
            </a:r>
            <a:r>
              <a:rPr lang="en-CA" dirty="0" err="1"/>
              <a:t>get_neighbors</a:t>
            </a:r>
            <a:endParaRPr lang="en-CA" dirty="0"/>
          </a:p>
        </p:txBody>
      </p:sp>
      <p:sp>
        <p:nvSpPr>
          <p:cNvPr id="8" name="Google Shape;224;g37c4946a550_0_194">
            <a:extLst>
              <a:ext uri="{FF2B5EF4-FFF2-40B4-BE49-F238E27FC236}">
                <a16:creationId xmlns:a16="http://schemas.microsoft.com/office/drawing/2014/main" id="{723B9404-864F-DB7B-F764-80DDE5BC833F}"/>
              </a:ext>
            </a:extLst>
          </p:cNvPr>
          <p:cNvSpPr txBox="1">
            <a:spLocks/>
          </p:cNvSpPr>
          <p:nvPr/>
        </p:nvSpPr>
        <p:spPr>
          <a:xfrm>
            <a:off x="6095999" y="1096825"/>
            <a:ext cx="5328863" cy="553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r>
              <a:rPr lang="en-CA" b="1" dirty="0"/>
              <a:t>Queue</a:t>
            </a:r>
            <a:endParaRPr lang="en-CA" dirty="0"/>
          </a:p>
          <a:p>
            <a:pPr lvl="1"/>
            <a:r>
              <a:rPr lang="en-CA" dirty="0"/>
              <a:t>Data: linear collection operating on FIFO principle</a:t>
            </a:r>
          </a:p>
          <a:p>
            <a:pPr lvl="1"/>
            <a:r>
              <a:rPr lang="en-CA" dirty="0"/>
              <a:t>Ops: enqueue, dequeue, </a:t>
            </a:r>
            <a:r>
              <a:rPr lang="en-CA" dirty="0" err="1"/>
              <a:t>is_empty</a:t>
            </a:r>
            <a:endParaRPr lang="en-CA" dirty="0"/>
          </a:p>
          <a:p>
            <a:r>
              <a:rPr lang="en-CA" b="1" dirty="0"/>
              <a:t>Priority Queue</a:t>
            </a:r>
            <a:endParaRPr lang="en-CA" dirty="0"/>
          </a:p>
          <a:p>
            <a:pPr lvl="1"/>
            <a:r>
              <a:rPr lang="en-CA" dirty="0"/>
              <a:t>Data: linear collection where order is preserved according to element weight</a:t>
            </a:r>
          </a:p>
          <a:p>
            <a:pPr lvl="1"/>
            <a:r>
              <a:rPr lang="en-CA" dirty="0"/>
              <a:t>Ops: insert, </a:t>
            </a:r>
            <a:r>
              <a:rPr lang="en-CA" dirty="0" err="1"/>
              <a:t>extract_min</a:t>
            </a:r>
            <a:r>
              <a:rPr lang="en-CA" dirty="0"/>
              <a:t>, </a:t>
            </a:r>
            <a:r>
              <a:rPr lang="en-CA" dirty="0" err="1"/>
              <a:t>extract_max</a:t>
            </a:r>
            <a:r>
              <a:rPr lang="en-CA" dirty="0"/>
              <a:t>, peek</a:t>
            </a:r>
          </a:p>
          <a:p>
            <a:r>
              <a:rPr lang="en-CA" b="1" dirty="0"/>
              <a:t>Stack</a:t>
            </a:r>
            <a:endParaRPr lang="en-CA" dirty="0"/>
          </a:p>
          <a:p>
            <a:pPr lvl="1"/>
            <a:r>
              <a:rPr lang="en-CA" dirty="0"/>
              <a:t>Data: linear collection operating on LIFO </a:t>
            </a:r>
            <a:r>
              <a:rPr lang="en-CA" dirty="0" err="1"/>
              <a:t>priciple</a:t>
            </a:r>
            <a:endParaRPr lang="en-CA" dirty="0"/>
          </a:p>
          <a:p>
            <a:pPr lvl="1"/>
            <a:r>
              <a:rPr lang="en-CA" dirty="0"/>
              <a:t>Ops: put(key, value), get(key), remove(key)</a:t>
            </a:r>
          </a:p>
          <a:p>
            <a:r>
              <a:rPr lang="en-CA" b="1" dirty="0"/>
              <a:t>Double-ended queue (Dequeue)</a:t>
            </a:r>
          </a:p>
          <a:p>
            <a:pPr lvl="1"/>
            <a:r>
              <a:rPr lang="en-CA" dirty="0"/>
              <a:t>Data: Same as queue but you can enqueue and dequeue from both ends</a:t>
            </a:r>
          </a:p>
          <a:p>
            <a:pPr lvl="1"/>
            <a:r>
              <a:rPr lang="en-CA" dirty="0"/>
              <a:t>Ops: </a:t>
            </a:r>
            <a:r>
              <a:rPr lang="en-CA" dirty="0" err="1"/>
              <a:t>enqueueLeft</a:t>
            </a:r>
            <a:r>
              <a:rPr lang="en-CA" dirty="0"/>
              <a:t>, </a:t>
            </a:r>
            <a:r>
              <a:rPr lang="en-CA" dirty="0" err="1"/>
              <a:t>enqueueRight</a:t>
            </a:r>
            <a:r>
              <a:rPr lang="en-CA" dirty="0"/>
              <a:t>, </a:t>
            </a:r>
            <a:r>
              <a:rPr lang="en-CA" dirty="0" err="1"/>
              <a:t>dequeueLeft</a:t>
            </a:r>
            <a:r>
              <a:rPr lang="en-CA" dirty="0"/>
              <a:t>, </a:t>
            </a:r>
            <a:r>
              <a:rPr lang="en-CA" dirty="0" err="1"/>
              <a:t>dequeueRight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150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22C8E078-FDEB-EAE8-3288-7C9B3CFF5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967E11F4-AB3E-D5F5-A21E-198ED6C0D9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Binary Search Tree (BST)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C39FE48A-C605-548C-88E8-5B1ABFDEEF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Implements many ADTs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Ex: Binary heap, Sets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For any given node: 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all values in its left subtree are smaller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All values in its right subtree are larger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Balanced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If height of left and right subtree of every node differ by no more than 1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Complete Binary Tree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All levels are fully filled except possibly the last, which is filled from left to right</a:t>
            </a:r>
          </a:p>
          <a:p>
            <a:pPr lvl="1" indent="-355600">
              <a:spcBef>
                <a:spcPts val="0"/>
              </a:spcBef>
              <a:buSzPts val="2000"/>
            </a:pPr>
            <a:endParaRPr lang="en-US" sz="1800" dirty="0"/>
          </a:p>
        </p:txBody>
      </p:sp>
      <p:pic>
        <p:nvPicPr>
          <p:cNvPr id="2" name="Picture 1" descr="Binary Search Tree in C++ - GeeksforGeeks">
            <a:extLst>
              <a:ext uri="{FF2B5EF4-FFF2-40B4-BE49-F238E27FC236}">
                <a16:creationId xmlns:a16="http://schemas.microsoft.com/office/drawing/2014/main" id="{B3C1983C-5543-9FFA-7C16-438D9D0D9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351" y="4103145"/>
            <a:ext cx="3238500" cy="2347913"/>
          </a:xfrm>
          <a:prstGeom prst="rect">
            <a:avLst/>
          </a:prstGeom>
        </p:spPr>
      </p:pic>
      <p:pic>
        <p:nvPicPr>
          <p:cNvPr id="3" name="Graphic 2" descr="Binary Search Tree Data Structure | Interview Cake">
            <a:extLst>
              <a:ext uri="{FF2B5EF4-FFF2-40B4-BE49-F238E27FC236}">
                <a16:creationId xmlns:a16="http://schemas.microsoft.com/office/drawing/2014/main" id="{5338A3AB-AFDA-532A-F8B7-DEACF6B89E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2259" y="4407025"/>
            <a:ext cx="3238500" cy="1854200"/>
          </a:xfrm>
          <a:prstGeom prst="rect">
            <a:avLst/>
          </a:prstGeom>
        </p:spPr>
      </p:pic>
      <p:pic>
        <p:nvPicPr>
          <p:cNvPr id="4" name="Picture 3" descr="Binary Search Trees: Functions &amp; Insertion Explained – Digilent Blog">
            <a:extLst>
              <a:ext uri="{FF2B5EF4-FFF2-40B4-BE49-F238E27FC236}">
                <a16:creationId xmlns:a16="http://schemas.microsoft.com/office/drawing/2014/main" id="{7171C332-87C7-5661-828C-59F2E48B7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783" y="4103145"/>
            <a:ext cx="2946160" cy="242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21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A6B97E87-D671-C4E8-CBCE-A89DFB370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DA40D99B-1250-AC85-E248-57DA3BBD2E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Linked-List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3B2FAA49-666A-0F58-EFA4-60F23E1B7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Implementation of the List ADT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List is represented by the Head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Each node points to the next node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Too slow to practically use as a list implementation with certain rare exceptions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CA" sz="1800" dirty="0"/>
              <a:t>Ex. To access the end of the list, you would have to cycle through the whole list</a:t>
            </a:r>
            <a:endParaRPr sz="1800" dirty="0"/>
          </a:p>
        </p:txBody>
      </p:sp>
      <p:pic>
        <p:nvPicPr>
          <p:cNvPr id="2" name="Picture 1" descr="Advantages and Disadvantages of Linked List - GeeksforGeeks">
            <a:extLst>
              <a:ext uri="{FF2B5EF4-FFF2-40B4-BE49-F238E27FC236}">
                <a16:creationId xmlns:a16="http://schemas.microsoft.com/office/drawing/2014/main" id="{61ECD3BD-E791-4C1F-89D6-88F74923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175" y="3723874"/>
            <a:ext cx="7772400" cy="211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9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c4946a550_0_166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2.3.1 Binary Heap (Priority Queue) </a:t>
            </a:r>
            <a:endParaRPr/>
          </a:p>
        </p:txBody>
      </p:sp>
      <p:sp>
        <p:nvSpPr>
          <p:cNvPr id="199" name="Google Shape;199;g37c4946a550_0_166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4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CA" sz="2000" dirty="0"/>
              <a:t>Implementation of the Priority Queue ADT</a:t>
            </a:r>
            <a:endParaRPr sz="2000" dirty="0"/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Complete binary tree</a:t>
            </a:r>
            <a:endParaRPr sz="2000" dirty="0"/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b="1" dirty="0"/>
              <a:t>min-heap</a:t>
            </a:r>
            <a:r>
              <a:rPr lang="en-US" sz="2000" dirty="0"/>
              <a:t>, each parent is less than or equal to its children → the smallest element is always at the root.</a:t>
            </a:r>
            <a:endParaRPr sz="2000" dirty="0"/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b="1" dirty="0"/>
              <a:t>max-heap</a:t>
            </a:r>
            <a:r>
              <a:rPr lang="en-US" sz="2000" dirty="0"/>
              <a:t>, each parent is greater than or equal to its children → the largest element is always at the root.</a:t>
            </a:r>
            <a:endParaRPr sz="2000" dirty="0"/>
          </a:p>
          <a:p>
            <a:pPr indent="-355600">
              <a:spcBef>
                <a:spcPts val="0"/>
              </a:spcBef>
              <a:buSzPts val="2000"/>
            </a:pPr>
            <a:r>
              <a:rPr lang="en-US" sz="2200" dirty="0"/>
              <a:t>Library: </a:t>
            </a:r>
            <a:r>
              <a:rPr lang="en-CA" sz="2200" dirty="0" err="1"/>
              <a:t>heapq</a:t>
            </a:r>
            <a:r>
              <a:rPr lang="en-CA" sz="2200" dirty="0"/>
              <a:t>, implements a min-heap</a:t>
            </a:r>
          </a:p>
          <a:p>
            <a:pPr lvl="1" indent="-355600">
              <a:spcBef>
                <a:spcPts val="0"/>
              </a:spcBef>
              <a:buSzPts val="2000"/>
            </a:pPr>
            <a:endParaRPr lang="en-CA" sz="2000" dirty="0"/>
          </a:p>
          <a:p>
            <a:pPr lvl="1" indent="-355600">
              <a:spcBef>
                <a:spcPts val="0"/>
              </a:spcBef>
              <a:buSzPts val="2000"/>
            </a:pPr>
            <a:endParaRPr lang="en-CA" sz="2000" dirty="0"/>
          </a:p>
          <a:p>
            <a:pPr indent="-355600">
              <a:spcBef>
                <a:spcPts val="0"/>
              </a:spcBef>
              <a:buSzPts val="2000"/>
            </a:pPr>
            <a:endParaRPr sz="2200" dirty="0"/>
          </a:p>
        </p:txBody>
      </p:sp>
      <p:pic>
        <p:nvPicPr>
          <p:cNvPr id="201" name="Google Shape;201;g37c4946a550_0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5032" y="5622550"/>
            <a:ext cx="4016968" cy="1235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2DEF93-BF5F-D07E-E266-62EEA1A4C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79816"/>
              </p:ext>
            </p:extLst>
          </p:nvPr>
        </p:nvGraphicFramePr>
        <p:xfrm>
          <a:off x="2032000" y="3786957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8693860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2153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664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heapify</a:t>
                      </a:r>
                      <a:r>
                        <a:rPr lang="en-US" dirty="0"/>
                        <a:t>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22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heappush</a:t>
                      </a:r>
                      <a:r>
                        <a:rPr lang="en-US" dirty="0"/>
                        <a:t>(heap, item)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562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heappop</a:t>
                      </a:r>
                      <a:r>
                        <a:rPr lang="en-US" dirty="0"/>
                        <a:t>(heap)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59163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c4946a550_0_183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2.3.2 Hash Table</a:t>
            </a:r>
            <a:endParaRPr/>
          </a:p>
        </p:txBody>
      </p:sp>
      <p:sp>
        <p:nvSpPr>
          <p:cNvPr id="208" name="Google Shape;208;g37c4946a550_0_183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544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 dirty="0"/>
              <a:t>Implementation of the Map ADT</a:t>
            </a:r>
          </a:p>
          <a:p>
            <a:pPr lvl="1" indent="-336550">
              <a:spcBef>
                <a:spcPts val="0"/>
              </a:spcBef>
              <a:buSzPct val="100000"/>
            </a:pPr>
            <a:r>
              <a:rPr lang="en-US" sz="1800" dirty="0"/>
              <a:t>Stores key-value pairs in an array by running each key through a hash function (turning it into an index), then places the value at that index</a:t>
            </a:r>
          </a:p>
          <a:p>
            <a:pPr lvl="1" indent="-336550">
              <a:spcBef>
                <a:spcPts val="0"/>
              </a:spcBef>
              <a:buSzPct val="100000"/>
            </a:pPr>
            <a:r>
              <a:rPr lang="en-US" sz="1800" dirty="0"/>
              <a:t>If there is a collision, then it uses a linked-list (implementation of a list ADT) to store collisions at the same key</a:t>
            </a:r>
          </a:p>
          <a:p>
            <a:pPr indent="-336550">
              <a:spcBef>
                <a:spcPts val="0"/>
              </a:spcBef>
              <a:buSzPct val="100000"/>
            </a:pPr>
            <a:r>
              <a:rPr lang="en-US" sz="2000" dirty="0"/>
              <a:t>Library: dictionaries and sets </a:t>
            </a:r>
          </a:p>
          <a:p>
            <a:pPr lvl="1" indent="-336550">
              <a:spcBef>
                <a:spcPts val="0"/>
              </a:spcBef>
              <a:buSzPct val="100000"/>
            </a:pPr>
            <a:r>
              <a:rPr lang="en-US" sz="1800" dirty="0"/>
              <a:t>Runtime for methods are on average/amortized O(1) with a worst case of O(n)</a:t>
            </a:r>
          </a:p>
        </p:txBody>
      </p:sp>
      <p:pic>
        <p:nvPicPr>
          <p:cNvPr id="209" name="Google Shape;209;g37c4946a550_0_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8233" y="3657776"/>
            <a:ext cx="8644568" cy="2971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45568222e_0_13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2.4.1 Graph</a:t>
            </a:r>
            <a:endParaRPr dirty="0"/>
          </a:p>
        </p:txBody>
      </p:sp>
      <p:sp>
        <p:nvSpPr>
          <p:cNvPr id="225" name="Google Shape;225;g3845568222e_0_13"/>
          <p:cNvSpPr txBox="1">
            <a:spLocks noGrp="1"/>
          </p:cNvSpPr>
          <p:nvPr>
            <p:ph type="body" idx="1"/>
          </p:nvPr>
        </p:nvSpPr>
        <p:spPr>
          <a:xfrm>
            <a:off x="0" y="1096825"/>
            <a:ext cx="12192000" cy="3070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6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 dirty="0"/>
              <a:t>A graph G = (V, E) is a set of vertices (V) and edges (E)</a:t>
            </a:r>
            <a:endParaRPr sz="2000" dirty="0"/>
          </a:p>
          <a:p>
            <a:pPr marL="914400" lvl="1" indent="-346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 dirty="0"/>
              <a:t>Edges store connectivity information between vertices in V</a:t>
            </a:r>
            <a:endParaRPr sz="2000" dirty="0"/>
          </a:p>
          <a:p>
            <a:pPr marL="1371600" lvl="2" indent="-346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 dirty="0"/>
              <a:t>Can be in the form of weight and/or direction </a:t>
            </a:r>
            <a:endParaRPr sz="2000" dirty="0"/>
          </a:p>
          <a:p>
            <a:pPr marL="457200" lvl="0" indent="-346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 dirty="0"/>
              <a:t>Undirected/Directed Graph</a:t>
            </a:r>
            <a:endParaRPr sz="2000" dirty="0"/>
          </a:p>
          <a:p>
            <a:pPr marL="914400" lvl="1" indent="-3460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 dirty="0"/>
              <a:t>A graph that is made up of a set of vertices connected by undirected/directed edges respectively</a:t>
            </a:r>
          </a:p>
          <a:p>
            <a:pPr indent="-346075">
              <a:spcBef>
                <a:spcPts val="0"/>
              </a:spcBef>
              <a:buSzPct val="100000"/>
            </a:pPr>
            <a:r>
              <a:rPr lang="en-US" sz="2200" dirty="0"/>
              <a:t>Spanning Tree</a:t>
            </a:r>
          </a:p>
          <a:p>
            <a:pPr lvl="1" indent="-346075">
              <a:spcBef>
                <a:spcPts val="0"/>
              </a:spcBef>
              <a:buSzPct val="100000"/>
            </a:pPr>
            <a:r>
              <a:rPr lang="en-US" sz="2000" dirty="0"/>
              <a:t>The subgraph of a graph that contains the minimum number of edges to connect all vertices</a:t>
            </a:r>
          </a:p>
          <a:p>
            <a:pPr lvl="1" indent="-346075">
              <a:spcBef>
                <a:spcPts val="0"/>
              </a:spcBef>
              <a:buSzPct val="100000"/>
            </a:pPr>
            <a:r>
              <a:rPr lang="en-US" sz="2000" dirty="0"/>
              <a:t>Used for Minimum Spanning Tree </a:t>
            </a:r>
          </a:p>
          <a:p>
            <a:pPr lvl="1" indent="-346075">
              <a:spcBef>
                <a:spcPts val="0"/>
              </a:spcBef>
              <a:buSzPct val="100000"/>
            </a:pPr>
            <a:endParaRPr lang="en-US" sz="2000" dirty="0"/>
          </a:p>
        </p:txBody>
      </p:sp>
      <p:pic>
        <p:nvPicPr>
          <p:cNvPr id="228" name="Google Shape;228;g3845568222e_0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7818" y="5236173"/>
            <a:ext cx="1932971" cy="1420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845568222e_0_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0197" y="4748651"/>
            <a:ext cx="1632517" cy="1880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845568222e_0_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2122" y="4710546"/>
            <a:ext cx="1632516" cy="1791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Weighted graph · Hyperskill">
            <a:extLst>
              <a:ext uri="{FF2B5EF4-FFF2-40B4-BE49-F238E27FC236}">
                <a16:creationId xmlns:a16="http://schemas.microsoft.com/office/drawing/2014/main" id="{6A242124-AA76-6D56-7DF1-43A122928F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0262" y="4748651"/>
            <a:ext cx="2758148" cy="1943100"/>
          </a:xfrm>
          <a:prstGeom prst="rect">
            <a:avLst/>
          </a:prstGeom>
        </p:spPr>
      </p:pic>
      <p:pic>
        <p:nvPicPr>
          <p:cNvPr id="3" name="Google Shape;242;g3836faffe8e_0_42">
            <a:extLst>
              <a:ext uri="{FF2B5EF4-FFF2-40B4-BE49-F238E27FC236}">
                <a16:creationId xmlns:a16="http://schemas.microsoft.com/office/drawing/2014/main" id="{506B9BBD-90C5-7B8E-0235-D2070DFBE14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9610" y="4540339"/>
            <a:ext cx="1987568" cy="2089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45568222e_0_47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2.4.1 Graph - Adjacency Matrix</a:t>
            </a:r>
            <a:endParaRPr/>
          </a:p>
        </p:txBody>
      </p:sp>
      <p:sp>
        <p:nvSpPr>
          <p:cNvPr id="249" name="Google Shape;249;g3845568222e_0_47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0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A 2D array storing the connectivity information between 2 vertices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AM[u][v] can store the weight and direction</a:t>
            </a:r>
            <a:endParaRPr sz="2000" dirty="0"/>
          </a:p>
          <a:p>
            <a:pPr indent="-355600">
              <a:spcBef>
                <a:spcPts val="0"/>
              </a:spcBef>
              <a:buSzPts val="2000"/>
            </a:pPr>
            <a:r>
              <a:rPr lang="en-US" sz="2200" dirty="0"/>
              <a:t>Python use list of lists</a:t>
            </a:r>
            <a:endParaRPr sz="22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Good to know: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Only use if number of vertices V is small enough (under ~ 5000)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Use if you need to access the connectivity between two vertices in a small dense graph is frequently required 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Cannot store a multigraph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O(V</a:t>
            </a:r>
            <a:r>
              <a:rPr lang="en-US" sz="2000" baseline="30000" dirty="0"/>
              <a:t>2</a:t>
            </a:r>
            <a:r>
              <a:rPr lang="en-US" sz="2000" dirty="0"/>
              <a:t>) space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O(V) to enumerate list of neighbors of a vertex u</a:t>
            </a:r>
            <a:endParaRPr sz="2000" dirty="0"/>
          </a:p>
        </p:txBody>
      </p:sp>
      <p:pic>
        <p:nvPicPr>
          <p:cNvPr id="251" name="Google Shape;251;g3845568222e_0_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100" y="3607200"/>
            <a:ext cx="3306774" cy="11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845568222e_0_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0800" y="4802500"/>
            <a:ext cx="4621200" cy="19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845568222e_0_68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2.4.1 Graph - Adjacency List</a:t>
            </a:r>
            <a:endParaRPr/>
          </a:p>
        </p:txBody>
      </p:sp>
      <p:sp>
        <p:nvSpPr>
          <p:cNvPr id="259" name="Google Shape;259;g3845568222e_0_68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Is a vector of vector of pairs storing the list of neighbors of each vertex u as ‘edge information pairs’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Each pair is: (index of </a:t>
            </a:r>
            <a:r>
              <a:rPr lang="en-US" sz="2000" dirty="0" err="1"/>
              <a:t>neighbouring</a:t>
            </a:r>
            <a:r>
              <a:rPr lang="en-US" sz="2000" dirty="0"/>
              <a:t> vertex, weight of the edge) 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If graph is unweighted, you can leave it empty or just don’t implement it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Python: AL = </a:t>
            </a:r>
            <a:r>
              <a:rPr lang="en-US" sz="2000" dirty="0" err="1"/>
              <a:t>defaultdict</a:t>
            </a:r>
            <a:r>
              <a:rPr lang="en-US" sz="2000" dirty="0"/>
              <a:t>(list), the values in list are grouped by pairs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Good to know: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More space-efficient than Adjacency Matrices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Can easily enumerate the list of neighbors of a vertex v efficiently</a:t>
            </a:r>
            <a:endParaRPr sz="2000" dirty="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if v has k neighbors, it will take O(k) time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Very common to use this model to store graphs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O(V + E) Space complexity</a:t>
            </a:r>
            <a:endParaRPr sz="2000" dirty="0"/>
          </a:p>
        </p:txBody>
      </p:sp>
      <p:pic>
        <p:nvPicPr>
          <p:cNvPr id="261" name="Google Shape;261;g3845568222e_0_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8400" y="4923450"/>
            <a:ext cx="4331100" cy="193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845568222e_0_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8600" y="3564000"/>
            <a:ext cx="3760901" cy="13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45568222e_0_85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2.4.1 Graph - Edge List</a:t>
            </a:r>
            <a:endParaRPr/>
          </a:p>
        </p:txBody>
      </p:sp>
      <p:sp>
        <p:nvSpPr>
          <p:cNvPr id="269" name="Google Shape;269;g3845568222e_0_85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9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Is a vector of triples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Store a list of all E edges, usually in some sorted order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For directed graphs, we store a bidirectional edge twice, one for each direction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The edges are tuples usually (w, u, v), (weight w plus the two endpoints u and v)</a:t>
            </a:r>
            <a:endParaRPr sz="2000" dirty="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If the graph is unweighted, you can drop the w</a:t>
            </a:r>
            <a:endParaRPr sz="2000" dirty="0"/>
          </a:p>
          <a:p>
            <a:pPr indent="-355600">
              <a:spcBef>
                <a:spcPts val="0"/>
              </a:spcBef>
              <a:buSzPts val="2000"/>
            </a:pPr>
            <a:r>
              <a:rPr lang="en-US" sz="2200" dirty="0"/>
              <a:t>Python: List of list or Tuples</a:t>
            </a:r>
            <a:endParaRPr sz="22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Good to know: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Good for Kruskal’s algorithm for MST where the collection of undirected edges need to be sorted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Complicates algorithms that require the enumeration of edges incident to a vertex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O(E) Space complexity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Take a look at: </a:t>
            </a:r>
            <a:r>
              <a:rPr lang="en-US" sz="2000" u="sng" dirty="0">
                <a:solidFill>
                  <a:schemeClr val="hlink"/>
                </a:solidFill>
                <a:hlinkClick r:id="rId3"/>
              </a:rPr>
              <a:t>https://visualgo.net/en/graphds</a:t>
            </a:r>
            <a:r>
              <a:rPr lang="en-US" sz="2000" dirty="0"/>
              <a:t> </a:t>
            </a:r>
            <a:endParaRPr sz="2000" dirty="0"/>
          </a:p>
        </p:txBody>
      </p:sp>
      <p:pic>
        <p:nvPicPr>
          <p:cNvPr id="271" name="Google Shape;271;g3845568222e_0_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45800" y="5326975"/>
            <a:ext cx="3760901" cy="135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845568222e_0_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76400" y="4828975"/>
            <a:ext cx="2115600" cy="20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Why?</a:t>
            </a:r>
            <a:endParaRPr/>
          </a:p>
        </p:txBody>
      </p:sp>
      <p:sp>
        <p:nvSpPr>
          <p:cNvPr id="117" name="Google Shape;117;p2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All bitwise operations are constant time! O(1)!!!</a:t>
            </a:r>
            <a:endParaRPr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800" dirty="0"/>
              <a:t>This is because they are implemented closer to the hardware level</a:t>
            </a:r>
            <a:endParaRPr sz="18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Can represent a set, or as a parameter in recursive/dynamic programming algorithms!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Faster multiplication!!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(With some programming languages, not Python though due to arbitrary precision)</a:t>
            </a:r>
          </a:p>
          <a:p>
            <a:pPr marL="55880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Used in many data structures and algorithms to speed things up!</a:t>
            </a:r>
            <a:endParaRPr sz="2000" dirty="0"/>
          </a:p>
        </p:txBody>
      </p:sp>
      <p:sp>
        <p:nvSpPr>
          <p:cNvPr id="118" name="Google Shape;118;p2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sz="2000" b="0" i="0" u="none" strike="noStrike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Gill Sans"/>
              <a:buChar char="•"/>
            </a:pPr>
            <a:r>
              <a:rPr lang="en-US" sz="20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Competitive Programming 4 Section 2.2.3</a:t>
            </a:r>
            <a:endParaRPr sz="2000" b="0" i="0" u="none" strike="noStrike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Representation in Python</a:t>
            </a:r>
            <a:endParaRPr/>
          </a:p>
        </p:txBody>
      </p:sp>
      <p:sp>
        <p:nvSpPr>
          <p:cNvPr id="125" name="Google Shape;125;p3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Base 2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0000, 0001, 0010, 0011…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Each position is a power of 2, just like in base 10, they are powers of 10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Integer with arbitrary precision in base 2 (i.e. it is whatever you need, max is your system’s memory)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Two's Complement Number: Representing Negative Numbers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Negative numbers are written with a leading one instead of a leading zero(splits possible bits in 2!)</a:t>
            </a:r>
            <a:endParaRPr sz="2000" dirty="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8 bits, "00000000" to "01111111" means 0 to 127</a:t>
            </a:r>
            <a:endParaRPr sz="2000" dirty="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8 bits, "10000000" to “00000000” means -128 to 0</a:t>
            </a:r>
            <a:endParaRPr sz="2000" dirty="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reserve "1xxxxxxx" for writing negative numbers. 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-x = ~(x - 1)</a:t>
            </a: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ex: -1 is ~(1 - 1) = ~(0) = "11111111"</a:t>
            </a:r>
            <a:endParaRPr sz="2000" dirty="0"/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ex: -10 is ~(10 - 1) = ~(9) = ~("00001001") = "11110110"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45568222e_1_0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Python Syntax</a:t>
            </a:r>
            <a:endParaRPr/>
          </a:p>
        </p:txBody>
      </p:sp>
      <p:sp>
        <p:nvSpPr>
          <p:cNvPr id="133" name="Google Shape;133;g3845568222e_1_0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x &lt;&lt; y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Returns x with the bits shifted to the left by y places. (new bits on the right-hand-side are zeros)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Same as multiplying x by 2</a:t>
            </a:r>
            <a:r>
              <a:rPr lang="en-US" sz="2000" baseline="30000"/>
              <a:t>y</a:t>
            </a:r>
            <a:endParaRPr sz="2000" baseline="30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x &gt;&gt; y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Returns x with the bits shifted to the right by y places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Same as floor division of x by 2</a:t>
            </a:r>
            <a:r>
              <a:rPr lang="en-US" sz="2000" baseline="30000"/>
              <a:t>y</a:t>
            </a:r>
            <a:endParaRPr sz="2000" baseline="30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x &amp; y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Bitwise AND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x | y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Bitwise OR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~ x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Bitwise NOT 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x ^ y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Bitwise XOR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Multiplication/Division</a:t>
            </a:r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Easy!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Shift left to multiply by 2, shift right to divide by 2!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NOTE: shift left does the floor division! (see 17/2 = 8 in last line)</a:t>
            </a:r>
            <a:endParaRPr sz="2000"/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2675" y="3019275"/>
            <a:ext cx="9271141" cy="194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Set/Turn on j-th Item (0-based indexing)</a:t>
            </a:r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When using as a set, you can use the bitwise OR operation to set/turn on bits!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 |= (1 &lt;&lt; j)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/>
          </a:p>
        </p:txBody>
      </p:sp>
      <p:pic>
        <p:nvPicPr>
          <p:cNvPr id="152" name="Google Shape;15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4450" y="2709513"/>
            <a:ext cx="9201826" cy="143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Check if j-th Item of the Set is on</a:t>
            </a:r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Use bitwise AND operation T = S &amp; (1 &lt;&lt; j)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T = 0, then j-th item of the set is off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T != 0, (specifically, T=(1&lt;&lt;j)) then the j-th item of the set is on</a:t>
            </a:r>
            <a:endParaRPr sz="2000"/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200" y="2513049"/>
            <a:ext cx="8860050" cy="283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Clear/Turn off the j-th Item of the Set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Bitwise AND operation S &amp;= ~(1&lt;&lt;j)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Don’t forget to use parentheses to avoid accidental bugs due to operator precedence</a:t>
            </a:r>
            <a:endParaRPr sz="20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example, we find the NOT of 1 shifted by 1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000001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000010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111101</a:t>
            </a:r>
            <a:endParaRPr sz="2000"/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1150" y="3687625"/>
            <a:ext cx="9598425" cy="16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Toggle (flip status of) j-th Item of the Set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Use bitwise operation XOR S ^= (1&lt;&lt;j)</a:t>
            </a:r>
            <a:endParaRPr sz="2000"/>
          </a:p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0200" y="1921615"/>
            <a:ext cx="10120357" cy="33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Get the Value of Least Significant Bit of S</a:t>
            </a:r>
            <a:endParaRPr/>
          </a:p>
        </p:txBody>
      </p:sp>
      <p:sp>
        <p:nvSpPr>
          <p:cNvPr id="186" name="Google Shape;186;p23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150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 = ((S) &amp; -(S))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Operation is often abbreviated as </a:t>
            </a:r>
            <a:r>
              <a:rPr lang="en-US" sz="2000" dirty="0" err="1"/>
              <a:t>LSOne</a:t>
            </a:r>
            <a:r>
              <a:rPr lang="en-US" sz="2000" dirty="0"/>
              <a:t>(S)</a:t>
            </a:r>
            <a:endParaRPr sz="2000" dirty="0"/>
          </a:p>
        </p:txBody>
      </p:sp>
      <p:pic>
        <p:nvPicPr>
          <p:cNvPr id="188" name="Google Shape;188;p23"/>
          <p:cNvPicPr preferRelativeResize="0"/>
          <p:nvPr/>
        </p:nvPicPr>
        <p:blipFill rotWithShape="1">
          <a:blip r:embed="rId3">
            <a:alphaModFix/>
          </a:blip>
          <a:srcRect b="3725"/>
          <a:stretch/>
        </p:blipFill>
        <p:spPr>
          <a:xfrm>
            <a:off x="1458800" y="3322100"/>
            <a:ext cx="9274400" cy="198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2.2.3 Bitmask – Turn on All Bits in a Set of Size n</a:t>
            </a:r>
            <a:endParaRPr/>
          </a:p>
        </p:txBody>
      </p:sp>
      <p:sp>
        <p:nvSpPr>
          <p:cNvPr id="195" name="Google Shape;195;p24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 = (1 &lt;&lt; n) - 1</a:t>
            </a:r>
            <a:endParaRPr sz="2000"/>
          </a:p>
        </p:txBody>
      </p:sp>
      <p:pic>
        <p:nvPicPr>
          <p:cNvPr id="197" name="Google Shape;19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0742" y="2554442"/>
            <a:ext cx="9950518" cy="203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e6225694e_0_90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2.4.2 Union-Find Disjoint Sets (UFDS)</a:t>
            </a:r>
            <a:endParaRPr/>
          </a:p>
        </p:txBody>
      </p:sp>
      <p:sp>
        <p:nvSpPr>
          <p:cNvPr id="199" name="Google Shape;199;g37e6225694e_0_90"/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513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Data structure to model a collection of disjoint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Is used to efficiently answer the question “Are these two items part of the same set?”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Space complexity is O(n)</a:t>
            </a:r>
          </a:p>
          <a:p>
            <a:pPr marL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sz="2000" dirty="0"/>
          </a:p>
          <a:p>
            <a:pPr marL="10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dirty="0"/>
              <a:t>Operations: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Initialize(n) O(n)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Creates n items and form n disjoint sets with these n items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 err="1"/>
              <a:t>FindSet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) O(1)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Calls </a:t>
            </a:r>
            <a:r>
              <a:rPr lang="en-US" sz="2000" dirty="0" err="1"/>
              <a:t>findSet</a:t>
            </a:r>
            <a:r>
              <a:rPr lang="en-US" sz="2000" dirty="0"/>
              <a:t>(p[</a:t>
            </a:r>
            <a:r>
              <a:rPr lang="en-US" sz="2000" dirty="0" err="1"/>
              <a:t>i</a:t>
            </a:r>
            <a:r>
              <a:rPr lang="en-US" sz="2000" dirty="0"/>
              <a:t>]) recursively to find the representative item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 err="1"/>
              <a:t>IsSameSet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, j) O(1)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Calls </a:t>
            </a:r>
            <a:r>
              <a:rPr lang="en-US" sz="2000" dirty="0" err="1"/>
              <a:t>findSet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) and </a:t>
            </a:r>
            <a:r>
              <a:rPr lang="en-US" sz="2000" dirty="0" err="1"/>
              <a:t>findSet</a:t>
            </a:r>
            <a:r>
              <a:rPr lang="en-US" sz="2000" dirty="0"/>
              <a:t>(j) and returns equivalency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 err="1"/>
              <a:t>UnionSet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, j) O(1)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Unite 2 disjoint U, V where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CA" sz="2000" dirty="0"/>
              <a:t>∈ U and j ∈ V</a:t>
            </a:r>
            <a:endParaRPr lang="en-US" sz="2000" dirty="0"/>
          </a:p>
          <a:p>
            <a:pPr lvl="0" indent="0">
              <a:spcBef>
                <a:spcPts val="0"/>
              </a:spcBef>
              <a:buNone/>
            </a:pPr>
            <a:endParaRPr lang="en-US" sz="2000" dirty="0"/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Optional operations: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 err="1"/>
              <a:t>numDisjointSets</a:t>
            </a:r>
            <a:r>
              <a:rPr lang="en-US" sz="2000" dirty="0"/>
              <a:t>() O(1)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2000" dirty="0"/>
              <a:t>returns the number of disjoint sets currently in the UFDS data structure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 err="1"/>
              <a:t>sizeOfSet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) O(1)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2000" dirty="0"/>
              <a:t>returns the number of items (including item </a:t>
            </a:r>
            <a:r>
              <a:rPr lang="en-US" sz="2000" dirty="0" err="1"/>
              <a:t>i</a:t>
            </a:r>
            <a:r>
              <a:rPr lang="en-US" sz="2000" dirty="0"/>
              <a:t>) that the set that contains item </a:t>
            </a:r>
            <a:r>
              <a:rPr lang="en-US" sz="2000" dirty="0" err="1"/>
              <a:t>i</a:t>
            </a:r>
            <a:r>
              <a:rPr lang="en-US" sz="2000" dirty="0"/>
              <a:t> has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a82980c7b_1_47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2.4.2 Union-Find Disjoint Sets (UFDS) – Basic Idea</a:t>
            </a:r>
            <a:endParaRPr/>
          </a:p>
        </p:txBody>
      </p:sp>
      <p:sp>
        <p:nvSpPr>
          <p:cNvPr id="207" name="Google Shape;207;g38a82980c7b_1_47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17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What if each disjoint set can be represented by one unique item?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Then determining if 2 items belong to the same set is easy!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Each tree represents a disjoint set, and the root of the tree is the representative item of this disjoint set.</a:t>
            </a:r>
            <a:endParaRPr sz="2000" dirty="0"/>
          </a:p>
        </p:txBody>
      </p:sp>
      <p:pic>
        <p:nvPicPr>
          <p:cNvPr id="209" name="Google Shape;209;g38a82980c7b_1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775" y="3269025"/>
            <a:ext cx="11887199" cy="24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a82980c7b_1_61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2.4.2 Union-Find Disjoint Sets (UFDS) - Storing Data P1</a:t>
            </a:r>
            <a:endParaRPr/>
          </a:p>
        </p:txBody>
      </p:sp>
      <p:sp>
        <p:nvSpPr>
          <p:cNvPr id="225" name="Google Shape;225;g38a82980c7b_1_61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Use an array </a:t>
            </a:r>
            <a:r>
              <a:rPr lang="en-US" sz="2000" b="1" dirty="0"/>
              <a:t>p</a:t>
            </a:r>
            <a:r>
              <a:rPr lang="en-US" sz="2000" dirty="0"/>
              <a:t> of size </a:t>
            </a:r>
            <a:r>
              <a:rPr lang="en-US" sz="2000" b="1" dirty="0"/>
              <a:t>N</a:t>
            </a:r>
            <a:endParaRPr sz="2000" b="1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/>
              <a:t>p[</a:t>
            </a:r>
            <a:r>
              <a:rPr lang="en-US" sz="2000" b="1" dirty="0" err="1"/>
              <a:t>i</a:t>
            </a:r>
            <a:r>
              <a:rPr lang="en-US" sz="2000" b="1" dirty="0"/>
              <a:t>]</a:t>
            </a:r>
            <a:r>
              <a:rPr lang="en-US" sz="2000" dirty="0"/>
              <a:t> is the parent of item </a:t>
            </a:r>
            <a:r>
              <a:rPr lang="en-US" sz="2000" dirty="0" err="1"/>
              <a:t>i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if </a:t>
            </a:r>
            <a:r>
              <a:rPr lang="en-US" sz="2000" b="1" dirty="0"/>
              <a:t>p[</a:t>
            </a:r>
            <a:r>
              <a:rPr lang="en-US" sz="2000" b="1" dirty="0" err="1"/>
              <a:t>i</a:t>
            </a:r>
            <a:r>
              <a:rPr lang="en-US" sz="2000" b="1" dirty="0"/>
              <a:t>]</a:t>
            </a:r>
            <a:r>
              <a:rPr lang="en-US" sz="2000" dirty="0"/>
              <a:t> == </a:t>
            </a:r>
            <a:r>
              <a:rPr lang="en-US" sz="2000" b="1" dirty="0" err="1"/>
              <a:t>i</a:t>
            </a:r>
            <a:endParaRPr sz="2000" b="1" dirty="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 err="1"/>
              <a:t>i</a:t>
            </a:r>
            <a:r>
              <a:rPr lang="en-US" sz="2000" dirty="0"/>
              <a:t> is the root of the tree </a:t>
            </a:r>
            <a:endParaRPr sz="2000" dirty="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 err="1"/>
              <a:t>i</a:t>
            </a:r>
            <a:r>
              <a:rPr lang="en-US" sz="2000" dirty="0"/>
              <a:t> is the representative item of the set that contains item </a:t>
            </a:r>
            <a:r>
              <a:rPr lang="en-US" sz="2000" b="1" dirty="0" err="1"/>
              <a:t>i</a:t>
            </a:r>
            <a:endParaRPr sz="2000" b="1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Draw the array for the following UFDS!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 </a:t>
            </a:r>
            <a:r>
              <a:rPr lang="en-US" sz="2000" b="1" dirty="0"/>
              <a:t>p = [1, 3, 3, 3, 3, 5, 6, 5, 5, 6, 4, 8,12] </a:t>
            </a:r>
            <a:r>
              <a:rPr lang="en-US" sz="2000" dirty="0"/>
              <a:t>of size </a:t>
            </a:r>
            <a:r>
              <a:rPr lang="en-US" sz="2000" b="1" dirty="0"/>
              <a:t>N = 13</a:t>
            </a:r>
            <a:r>
              <a:rPr lang="en-US" sz="2000" dirty="0"/>
              <a:t> ranging from </a:t>
            </a:r>
            <a:r>
              <a:rPr lang="en-US" sz="2000" b="1" dirty="0"/>
              <a:t>p[0]</a:t>
            </a:r>
            <a:r>
              <a:rPr lang="en-US" sz="2000" dirty="0"/>
              <a:t> to </a:t>
            </a:r>
            <a:r>
              <a:rPr lang="en-US" sz="2000" b="1" dirty="0"/>
              <a:t>p[12]</a:t>
            </a:r>
            <a:r>
              <a:rPr lang="en-US" sz="2000" dirty="0"/>
              <a:t>.</a:t>
            </a:r>
            <a:endParaRPr sz="2000" dirty="0"/>
          </a:p>
        </p:txBody>
      </p:sp>
      <p:pic>
        <p:nvPicPr>
          <p:cNvPr id="227" name="Google Shape;227;g38a82980c7b_1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600" y="3633825"/>
            <a:ext cx="10701550" cy="217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0c4f9b096_0_13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2.4.2 Union-Find Disjoint Sets (UFDS) - Storing Data P2</a:t>
            </a:r>
            <a:endParaRPr/>
          </a:p>
        </p:txBody>
      </p:sp>
      <p:sp>
        <p:nvSpPr>
          <p:cNvPr id="234" name="Google Shape;234;g380c4f9b096_0_13"/>
          <p:cNvSpPr txBox="1">
            <a:spLocks noGrp="1"/>
          </p:cNvSpPr>
          <p:nvPr>
            <p:ph type="body" idx="1"/>
          </p:nvPr>
        </p:nvSpPr>
        <p:spPr>
          <a:xfrm>
            <a:off x="494925" y="890525"/>
            <a:ext cx="11231400" cy="27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Use array </a:t>
            </a:r>
            <a:r>
              <a:rPr lang="en-US" sz="2000" b="1" dirty="0"/>
              <a:t>rank</a:t>
            </a:r>
            <a:r>
              <a:rPr lang="en-US" sz="2000" dirty="0"/>
              <a:t> of size </a:t>
            </a:r>
            <a:r>
              <a:rPr lang="en-US" sz="2000" b="1" dirty="0"/>
              <a:t>N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/>
              <a:t>rank[</a:t>
            </a:r>
            <a:r>
              <a:rPr lang="en-US" sz="2000" b="1" dirty="0" err="1"/>
              <a:t>i</a:t>
            </a:r>
            <a:r>
              <a:rPr lang="en-US" sz="2000" b="1" dirty="0"/>
              <a:t>]</a:t>
            </a:r>
            <a:r>
              <a:rPr lang="en-US" sz="2000" dirty="0"/>
              <a:t> is the upper-bound of the height of subtree rooted at vertex </a:t>
            </a:r>
            <a:r>
              <a:rPr lang="en-US" sz="2000" b="1" dirty="0" err="1"/>
              <a:t>i</a:t>
            </a:r>
            <a:r>
              <a:rPr lang="en-US" sz="2000" dirty="0"/>
              <a:t> that we will be used as guiding heuristic for </a:t>
            </a:r>
            <a:r>
              <a:rPr lang="en-US" sz="2000" b="1" dirty="0" err="1"/>
              <a:t>UnionSet</a:t>
            </a:r>
            <a:r>
              <a:rPr lang="en-US" sz="2000" b="1" dirty="0"/>
              <a:t>(</a:t>
            </a:r>
            <a:r>
              <a:rPr lang="en-US" sz="2000" b="1" dirty="0" err="1"/>
              <a:t>i,j</a:t>
            </a:r>
            <a:r>
              <a:rPr lang="en-US" sz="2000" b="1" dirty="0"/>
              <a:t>) </a:t>
            </a:r>
            <a:r>
              <a:rPr lang="en-US" sz="2000" dirty="0"/>
              <a:t>operation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What numbers have rank 0?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{0, 10, 11, 9, 12}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What numbers have rank 1?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{1,4,6,8}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What numbers have rank 2?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{3,5}</a:t>
            </a:r>
            <a:endParaRPr sz="2000" dirty="0"/>
          </a:p>
        </p:txBody>
      </p:sp>
      <p:pic>
        <p:nvPicPr>
          <p:cNvPr id="236" name="Google Shape;236;g380c4f9b096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092" y="3633925"/>
            <a:ext cx="10701057" cy="21753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237" name="Google Shape;237;g380c4f9b096_0_13"/>
          <p:cNvCxnSpPr/>
          <p:nvPr/>
        </p:nvCxnSpPr>
        <p:spPr>
          <a:xfrm>
            <a:off x="2581200" y="4395600"/>
            <a:ext cx="648000" cy="21600"/>
          </a:xfrm>
          <a:prstGeom prst="straightConnector1">
            <a:avLst/>
          </a:prstGeom>
          <a:noFill/>
          <a:ln w="1524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g380c4f9b096_0_13"/>
          <p:cNvCxnSpPr/>
          <p:nvPr/>
        </p:nvCxnSpPr>
        <p:spPr>
          <a:xfrm>
            <a:off x="6825600" y="4374000"/>
            <a:ext cx="583200" cy="64800"/>
          </a:xfrm>
          <a:prstGeom prst="straightConnector1">
            <a:avLst/>
          </a:prstGeom>
          <a:noFill/>
          <a:ln w="1524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g380c4f9b096_0_13"/>
          <p:cNvCxnSpPr/>
          <p:nvPr/>
        </p:nvCxnSpPr>
        <p:spPr>
          <a:xfrm>
            <a:off x="9171600" y="4395600"/>
            <a:ext cx="904800" cy="0"/>
          </a:xfrm>
          <a:prstGeom prst="straightConnector1">
            <a:avLst/>
          </a:prstGeom>
          <a:noFill/>
          <a:ln w="1524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0c4f9b096_0_41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2.4.2 Union-Find Disjoint Sets (UFDS) - Initialize(n)</a:t>
            </a:r>
            <a:endParaRPr dirty="0"/>
          </a:p>
        </p:txBody>
      </p:sp>
      <p:sp>
        <p:nvSpPr>
          <p:cNvPr id="254" name="Google Shape;254;g380c4f9b096_0_41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Creates n items and form n disjoint sets with these n items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Time complexity is O(n)</a:t>
            </a:r>
            <a:endParaRPr sz="2000" dirty="0"/>
          </a:p>
        </p:txBody>
      </p:sp>
      <p:sp>
        <p:nvSpPr>
          <p:cNvPr id="255" name="Google Shape;255;g380c4f9b096_0_41"/>
          <p:cNvSpPr txBox="1"/>
          <p:nvPr/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sz="2000" dirty="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336550">
              <a:buClr>
                <a:srgbClr val="262626"/>
              </a:buClr>
              <a:buSzPct val="100000"/>
              <a:buFont typeface="Gill Sans"/>
              <a:buChar char="•"/>
            </a:pPr>
            <a:r>
              <a:rPr lang="en-US" sz="2000" dirty="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https://github.com/stevenhalim/cpbook-code/blob/master/ch2/ourown/unionfind_ds.py</a:t>
            </a:r>
            <a:r>
              <a:rPr lang="en-US" sz="2000" dirty="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000" dirty="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E129B6-2818-5931-C453-A92865B1E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52" y="2639373"/>
            <a:ext cx="3799149" cy="15792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0c4f9b096_0_52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2.4.2 Union-Find Disjoint Sets (UFDS) - </a:t>
            </a:r>
            <a:r>
              <a:rPr lang="en-US" dirty="0" err="1"/>
              <a:t>FindSet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262" name="Google Shape;262;g380c4f9b096_0_52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98900" cy="226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 err="1"/>
              <a:t>findSet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) calls </a:t>
            </a:r>
            <a:r>
              <a:rPr lang="en-US" sz="2000" dirty="0" err="1"/>
              <a:t>findSet</a:t>
            </a:r>
            <a:r>
              <a:rPr lang="en-US" sz="2000" dirty="0"/>
              <a:t>(p[</a:t>
            </a:r>
            <a:r>
              <a:rPr lang="en-US" sz="2000" dirty="0" err="1"/>
              <a:t>i</a:t>
            </a:r>
            <a:r>
              <a:rPr lang="en-US" sz="2000" dirty="0"/>
              <a:t>]) recursively to find the representative item of a set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returning </a:t>
            </a:r>
            <a:r>
              <a:rPr lang="en-US" sz="2000" dirty="0" err="1"/>
              <a:t>findSet</a:t>
            </a:r>
            <a:r>
              <a:rPr lang="en-US" sz="2000" dirty="0"/>
              <a:t>(p[</a:t>
            </a:r>
            <a:r>
              <a:rPr lang="en-US" sz="2000" dirty="0" err="1"/>
              <a:t>i</a:t>
            </a:r>
            <a:r>
              <a:rPr lang="en-US" sz="2000" dirty="0"/>
              <a:t>]) if p[</a:t>
            </a:r>
            <a:r>
              <a:rPr lang="en-US" sz="2000" dirty="0" err="1"/>
              <a:t>i</a:t>
            </a:r>
            <a:r>
              <a:rPr lang="en-US" sz="2000" dirty="0"/>
              <a:t>] != </a:t>
            </a:r>
            <a:r>
              <a:rPr lang="en-US" sz="2000" dirty="0" err="1"/>
              <a:t>i</a:t>
            </a:r>
            <a:r>
              <a:rPr lang="en-US" sz="2000" dirty="0"/>
              <a:t> and </a:t>
            </a:r>
            <a:r>
              <a:rPr lang="en-US" sz="2000" dirty="0" err="1"/>
              <a:t>i</a:t>
            </a:r>
            <a:r>
              <a:rPr lang="en-US" sz="2000" dirty="0"/>
              <a:t> otherwise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To speed things up, we use path compression!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/>
              <a:t>When </a:t>
            </a:r>
            <a:r>
              <a:rPr lang="en-CA" sz="1800" dirty="0" err="1"/>
              <a:t>findSet</a:t>
            </a:r>
            <a:r>
              <a:rPr lang="en-CA" sz="1800" dirty="0"/>
              <a:t> traverses an element on the way to find the parent, it links it directly to the parent</a:t>
            </a:r>
            <a:endParaRPr sz="18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Won’t path compression mess with our rank values?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Yes! Rank is only a “guiding heuristic” for </a:t>
            </a:r>
            <a:r>
              <a:rPr lang="en-US" sz="2000" dirty="0" err="1"/>
              <a:t>unionSet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, j) and updating it is too costly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CA" sz="2000" dirty="0"/>
              <a:t>Runtime isn’t always O(1), but for our purposes, we will treat it as so</a:t>
            </a:r>
            <a:endParaRPr sz="2000" dirty="0"/>
          </a:p>
        </p:txBody>
      </p:sp>
      <p:pic>
        <p:nvPicPr>
          <p:cNvPr id="264" name="Google Shape;264;g380c4f9b096_0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4511302"/>
            <a:ext cx="5968626" cy="226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5E401F-AE08-271C-D029-222DA0998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86" y="3495501"/>
            <a:ext cx="3289300" cy="247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0c4f9b096_0_61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2.4.2 Union-Find Disjoint Sets (UFDS) - IsSameSet(i, j)</a:t>
            </a:r>
            <a:endParaRPr/>
          </a:p>
        </p:txBody>
      </p:sp>
      <p:sp>
        <p:nvSpPr>
          <p:cNvPr id="280" name="Google Shape;280;g380c4f9b096_0_61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1762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Check if </a:t>
            </a:r>
            <a:r>
              <a:rPr lang="en-US" sz="2000" dirty="0" err="1"/>
              <a:t>FindSet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) == </a:t>
            </a:r>
            <a:r>
              <a:rPr lang="en-US" sz="2000" dirty="0" err="1"/>
              <a:t>FindSet</a:t>
            </a:r>
            <a:r>
              <a:rPr lang="en-US" sz="2000" dirty="0"/>
              <a:t>(j) 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Notice that it implicitly uses the path-compression as </a:t>
            </a:r>
            <a:r>
              <a:rPr lang="en-US" sz="2000" dirty="0" err="1"/>
              <a:t>FindSet</a:t>
            </a:r>
            <a:r>
              <a:rPr lang="en-US" sz="2000" dirty="0"/>
              <a:t>() is used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Used extensively in Kruskal’s MST (Minimum Spanning Tree) algorithm 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We assume that it also runs in O(1)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0c4f9b096_0_69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2.4.2 Union-Find Disjoint Sets (UFDS) - </a:t>
            </a:r>
            <a:r>
              <a:rPr lang="en-US" dirty="0" err="1"/>
              <a:t>UnionSet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j)</a:t>
            </a:r>
            <a:endParaRPr dirty="0"/>
          </a:p>
        </p:txBody>
      </p:sp>
      <p:sp>
        <p:nvSpPr>
          <p:cNvPr id="288" name="Google Shape;288;g380c4f9b096_0_69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Unite 2 disjoint U, V where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CA" sz="2000" dirty="0"/>
              <a:t>∈ U and j ∈ V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Check ranks to make shortest tree possible, we want to link the shorter disjoint set to the representative item of the taller disjoint set.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if rank[</a:t>
            </a:r>
            <a:r>
              <a:rPr lang="en-US" sz="2000" dirty="0" err="1"/>
              <a:t>i</a:t>
            </a:r>
            <a:r>
              <a:rPr lang="en-US" sz="2000" dirty="0"/>
              <a:t>] &gt; rank[j]</a:t>
            </a:r>
            <a:endParaRPr sz="2000" dirty="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swap </a:t>
            </a:r>
            <a:r>
              <a:rPr lang="en-US" sz="2000" dirty="0" err="1"/>
              <a:t>i</a:t>
            </a:r>
            <a:r>
              <a:rPr lang="en-US" sz="2000" dirty="0"/>
              <a:t> and j 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if rank[</a:t>
            </a:r>
            <a:r>
              <a:rPr lang="en-US" sz="2000" dirty="0" err="1"/>
              <a:t>i</a:t>
            </a:r>
            <a:r>
              <a:rPr lang="en-US" sz="2000" dirty="0"/>
              <a:t>] &lt; rank[j]</a:t>
            </a:r>
            <a:endParaRPr sz="2000" dirty="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Set representative item of shorter tree to be child of representative item of taller tree</a:t>
            </a:r>
            <a:endParaRPr sz="2000" dirty="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Note that the rank is preserved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if rank[</a:t>
            </a:r>
            <a:r>
              <a:rPr lang="en-US" sz="2000" dirty="0" err="1"/>
              <a:t>i</a:t>
            </a:r>
            <a:r>
              <a:rPr lang="en-US" sz="2000" dirty="0"/>
              <a:t>] == rank[y]</a:t>
            </a:r>
            <a:endParaRPr sz="2000" dirty="0"/>
          </a:p>
          <a:p>
            <a:pPr marL="137160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Choose either to be the new parent, then add 1 to the rank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We assume that it runs in O(1)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>
          <a:extLst>
            <a:ext uri="{FF2B5EF4-FFF2-40B4-BE49-F238E27FC236}">
              <a16:creationId xmlns:a16="http://schemas.microsoft.com/office/drawing/2014/main" id="{62C296CD-94FA-8167-A22D-88B6676F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0c4f9b096_0_69">
            <a:extLst>
              <a:ext uri="{FF2B5EF4-FFF2-40B4-BE49-F238E27FC236}">
                <a16:creationId xmlns:a16="http://schemas.microsoft.com/office/drawing/2014/main" id="{B3A6B447-2849-0B82-718F-6063208EE3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2.4.2 Union-Find Disjoint Sets (UFDS) - </a:t>
            </a:r>
            <a:r>
              <a:rPr lang="en-US" dirty="0" err="1"/>
              <a:t>UnionSet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j)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1F1910-740D-85A8-9D12-0E119F7FA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811" y="1266544"/>
            <a:ext cx="4051300" cy="478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51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80c4f9b096_0_109"/>
          <p:cNvSpPr txBox="1">
            <a:spLocks noGrp="1"/>
          </p:cNvSpPr>
          <p:nvPr>
            <p:ph type="title"/>
          </p:nvPr>
        </p:nvSpPr>
        <p:spPr>
          <a:xfrm>
            <a:off x="1728874" y="228425"/>
            <a:ext cx="87630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2.4.2 Union-Find Disjoint Sets (UFDS) - NumDisjointSets()</a:t>
            </a:r>
            <a:endParaRPr/>
          </a:p>
        </p:txBody>
      </p:sp>
      <p:sp>
        <p:nvSpPr>
          <p:cNvPr id="312" name="Google Shape;312;g380c4f9b096_0_109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Returns the number of disjoint sets currently in the UFDS data structure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Add one more internal counter variable </a:t>
            </a:r>
            <a:r>
              <a:rPr lang="en-US" sz="2000" b="1"/>
              <a:t>numSets</a:t>
            </a:r>
            <a:r>
              <a:rPr lang="en-US" sz="2000"/>
              <a:t> 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/>
              <a:t>numSets</a:t>
            </a:r>
            <a:r>
              <a:rPr lang="en-US" sz="2000"/>
              <a:t> is initially set to </a:t>
            </a:r>
            <a:r>
              <a:rPr lang="en-US" sz="2000" b="1"/>
              <a:t>N</a:t>
            </a:r>
            <a:r>
              <a:rPr lang="en-US" sz="2000"/>
              <a:t> 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Reduce </a:t>
            </a:r>
            <a:r>
              <a:rPr lang="en-US" sz="2000" b="1"/>
              <a:t>numSets</a:t>
            </a:r>
            <a:r>
              <a:rPr lang="en-US" sz="2000"/>
              <a:t> by one every time a successful </a:t>
            </a:r>
            <a:r>
              <a:rPr lang="en-US" sz="2000" b="1"/>
              <a:t>unionSet(i, j)</a:t>
            </a:r>
            <a:r>
              <a:rPr lang="en-US" sz="2000"/>
              <a:t> is performed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Return </a:t>
            </a:r>
            <a:r>
              <a:rPr lang="en-US" sz="2000" b="1"/>
              <a:t>numSets</a:t>
            </a:r>
            <a:r>
              <a:rPr lang="en-US" sz="2000"/>
              <a:t> when called</a:t>
            </a:r>
            <a:endParaRPr sz="2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0EDAF6-5A35-A706-C2E9-D5C29A236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845" y="3651411"/>
            <a:ext cx="2755900" cy="596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0c4f9b096_0_130"/>
          <p:cNvSpPr txBox="1">
            <a:spLocks noGrp="1"/>
          </p:cNvSpPr>
          <p:nvPr>
            <p:ph type="title"/>
          </p:nvPr>
        </p:nvSpPr>
        <p:spPr>
          <a:xfrm>
            <a:off x="1728874" y="228425"/>
            <a:ext cx="87630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2.4.2 Union-Find Disjoint Sets (UFDS) - </a:t>
            </a:r>
            <a:r>
              <a:rPr lang="en-US" dirty="0" err="1"/>
              <a:t>SizeOfSet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20" name="Google Shape;320;g380c4f9b096_0_130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Returns the number of items (including item i) that the set that contains item i has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Create additional integer array </a:t>
            </a:r>
            <a:r>
              <a:rPr lang="en-US" sz="2000" b="1"/>
              <a:t>setSize</a:t>
            </a:r>
            <a:r>
              <a:rPr lang="en-US" sz="2000"/>
              <a:t> of size </a:t>
            </a:r>
            <a:r>
              <a:rPr lang="en-US" sz="2000" b="1"/>
              <a:t>N</a:t>
            </a:r>
            <a:endParaRPr sz="2000" b="1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Initialize all disjoint sets to have size 1 initially. 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Whenever a successful </a:t>
            </a:r>
            <a:r>
              <a:rPr lang="en-US" sz="2000" b="1"/>
              <a:t>unionSet(i, j)</a:t>
            </a:r>
            <a:r>
              <a:rPr lang="en-US" sz="2000"/>
              <a:t> is performed, sum the two sizes of the sets and store the information in the representative item of the combined set.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Return setSize[findSet(i)]</a:t>
            </a:r>
            <a:endParaRPr sz="20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B3B379-4B9A-19DB-04CC-D4A048FD2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316" y="3684519"/>
            <a:ext cx="3517900" cy="71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2419A8D6-78A8-E9E2-8B4C-D9D8C403A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5494f4a8f_0_88">
            <a:extLst>
              <a:ext uri="{FF2B5EF4-FFF2-40B4-BE49-F238E27FC236}">
                <a16:creationId xmlns:a16="http://schemas.microsoft.com/office/drawing/2014/main" id="{E7E008D5-47E4-E07A-6EC3-87D5CD6D60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7455" y="205559"/>
            <a:ext cx="8915285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lvl="0">
              <a:buSzPct val="100000"/>
            </a:pPr>
            <a:r>
              <a:rPr lang="en-US" dirty="0"/>
              <a:t>2.4.2 Union-Find Disjoint Sets (UFDS) – Basic Implementation</a:t>
            </a:r>
            <a:endParaRPr dirty="0"/>
          </a:p>
        </p:txBody>
      </p:sp>
      <p:sp>
        <p:nvSpPr>
          <p:cNvPr id="334" name="Google Shape;334;g3a5494f4a8f_0_88">
            <a:extLst>
              <a:ext uri="{FF2B5EF4-FFF2-40B4-BE49-F238E27FC236}">
                <a16:creationId xmlns:a16="http://schemas.microsoft.com/office/drawing/2014/main" id="{2A480DA9-86FC-F6BF-EBBD-F41A445D1469}"/>
              </a:ext>
            </a:extLst>
          </p:cNvPr>
          <p:cNvSpPr txBox="1"/>
          <p:nvPr/>
        </p:nvSpPr>
        <p:spPr>
          <a:xfrm>
            <a:off x="156209" y="5809275"/>
            <a:ext cx="8304885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sz="2000" b="0" i="0" u="none" strike="noStrike" cap="none" dirty="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355600">
              <a:buClr>
                <a:srgbClr val="262626"/>
              </a:buClr>
              <a:buSzPts val="2000"/>
              <a:buFont typeface="Gill Sans"/>
              <a:buChar char="•"/>
            </a:pPr>
            <a:r>
              <a:rPr lang="en-US" sz="2000" dirty="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https://github.com/stevenhalim/cpbook-code/blob/master/ch2/ourown/unionfind_ds.py</a:t>
            </a:r>
            <a:r>
              <a:rPr lang="en-US" sz="2000" dirty="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000" b="0" i="0" u="none" strike="noStrike" cap="none" dirty="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951CB-E2C0-BD09-1EF0-2824DC66E6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207"/>
          <a:stretch>
            <a:fillRect/>
          </a:stretch>
        </p:blipFill>
        <p:spPr>
          <a:xfrm>
            <a:off x="6235479" y="945045"/>
            <a:ext cx="4451230" cy="5359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7E2A9E-CD65-5337-E316-ACDBCD6310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7131"/>
          <a:stretch>
            <a:fillRect/>
          </a:stretch>
        </p:blipFill>
        <p:spPr>
          <a:xfrm>
            <a:off x="1399600" y="1429720"/>
            <a:ext cx="4285832" cy="389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647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3F9CEF37-8586-A258-9F38-89C3C8AA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5494f4a8f_0_7">
            <a:extLst>
              <a:ext uri="{FF2B5EF4-FFF2-40B4-BE49-F238E27FC236}">
                <a16:creationId xmlns:a16="http://schemas.microsoft.com/office/drawing/2014/main" id="{AB725A8C-CF3E-C75B-FCAD-5FD001A5FA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Fenwick Tree (or Binary Indexed Tree BIT) Motivation</a:t>
            </a:r>
            <a:endParaRPr/>
          </a:p>
        </p:txBody>
      </p:sp>
      <p:sp>
        <p:nvSpPr>
          <p:cNvPr id="285" name="Google Shape;285;g3a5494f4a8f_0_7">
            <a:extLst>
              <a:ext uri="{FF2B5EF4-FFF2-40B4-BE49-F238E27FC236}">
                <a16:creationId xmlns:a16="http://schemas.microsoft.com/office/drawing/2014/main" id="{6250772C-DD1B-E5CC-7864-61DAC751BF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553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Supposed we have 11 scores for 11 students for a course. Scores range from 1 to 10, </a:t>
            </a:r>
            <a:endParaRPr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800" dirty="0"/>
              <a:t>s = [2, 4, 5, 6, 5, 6, 8, 6, 7, 9, 7]</a:t>
            </a:r>
            <a:endParaRPr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We want to know how many students got 8, how many got between 1 and 6, between 4 and 6? What if we update the scores?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CA" sz="2000" dirty="0"/>
              <a:t>This is called a Range Search Query class of problems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CA" sz="2000" dirty="0"/>
              <a:t>Typically we use a prefix sum!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Naive Implementation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Initialization </a:t>
            </a:r>
            <a:r>
              <a:rPr lang="en-US" sz="1800" dirty="0">
                <a:sym typeface="Wingdings" pitchFamily="2" charset="2"/>
              </a:rPr>
              <a:t> O(n)</a:t>
            </a:r>
            <a:endParaRPr sz="18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update(</a:t>
            </a:r>
            <a:r>
              <a:rPr lang="en-US" sz="2000" dirty="0" err="1"/>
              <a:t>i,x</a:t>
            </a:r>
            <a:r>
              <a:rPr lang="en-US" sz="2000" dirty="0"/>
              <a:t>): a[</a:t>
            </a:r>
            <a:r>
              <a:rPr lang="en-US" sz="2000" dirty="0" err="1"/>
              <a:t>i</a:t>
            </a:r>
            <a:r>
              <a:rPr lang="en-US" sz="2000" dirty="0"/>
              <a:t>] += x → O(1)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 err="1"/>
              <a:t>prefix_sum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): loop from 1..i and add → O(n)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sum(</a:t>
            </a:r>
            <a:r>
              <a:rPr lang="en-US" sz="2000" dirty="0" err="1"/>
              <a:t>i</a:t>
            </a:r>
            <a:r>
              <a:rPr lang="en-US" sz="2000" dirty="0"/>
              <a:t>, j): </a:t>
            </a:r>
            <a:r>
              <a:rPr lang="en-US" sz="2000" dirty="0" err="1"/>
              <a:t>prefix_sum</a:t>
            </a:r>
            <a:r>
              <a:rPr lang="en-US" sz="2000" dirty="0"/>
              <a:t>(j) - </a:t>
            </a:r>
            <a:r>
              <a:rPr lang="en-US" sz="2000" dirty="0" err="1"/>
              <a:t>prefix_sum</a:t>
            </a:r>
            <a:r>
              <a:rPr lang="en-US" sz="2000" dirty="0"/>
              <a:t>(i-1).) → O(n)</a:t>
            </a: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Space complexity O(n)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Fenwick Tree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Initialization </a:t>
            </a:r>
            <a:r>
              <a:rPr lang="en-US" sz="1800" dirty="0">
                <a:sym typeface="Wingdings" pitchFamily="2" charset="2"/>
              </a:rPr>
              <a:t> O(n)</a:t>
            </a:r>
            <a:endParaRPr sz="18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update(</a:t>
            </a:r>
            <a:r>
              <a:rPr lang="en-US" sz="2000" dirty="0" err="1"/>
              <a:t>i,x</a:t>
            </a:r>
            <a:r>
              <a:rPr lang="en-US" sz="2000" dirty="0"/>
              <a:t>) → O(log n)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 err="1"/>
              <a:t>prefix_sum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) → O(log n)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sum(</a:t>
            </a:r>
            <a:r>
              <a:rPr lang="en-US" sz="2000" dirty="0" err="1"/>
              <a:t>i</a:t>
            </a:r>
            <a:r>
              <a:rPr lang="en-US" sz="2000" dirty="0"/>
              <a:t>, j): </a:t>
            </a:r>
            <a:r>
              <a:rPr lang="en-US" sz="2000" dirty="0" err="1"/>
              <a:t>prefix_sum</a:t>
            </a:r>
            <a:r>
              <a:rPr lang="en-US" sz="2000" dirty="0"/>
              <a:t>(j) - </a:t>
            </a:r>
            <a:r>
              <a:rPr lang="en-US" sz="2000" dirty="0" err="1"/>
              <a:t>prefix_sum</a:t>
            </a:r>
            <a:r>
              <a:rPr lang="en-US" sz="2000" dirty="0"/>
              <a:t>(i-1) → O(log n)</a:t>
            </a: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Space complexity O(n)</a:t>
            </a:r>
            <a:endParaRPr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5AB739-B55E-DBF8-BF23-A56F966A14FB}"/>
              </a:ext>
            </a:extLst>
          </p:cNvPr>
          <p:cNvSpPr txBox="1"/>
          <p:nvPr/>
        </p:nvSpPr>
        <p:spPr>
          <a:xfrm>
            <a:off x="740965" y="6475690"/>
            <a:ext cx="7298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https://github.com/stevenhalim/cpbook-code/blob/master/ch2/ourown/fenwicktree_ds.py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974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5494f4a8f_0_42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dirty="0"/>
              <a:t>Fenwick Tree Structure</a:t>
            </a:r>
            <a:endParaRPr dirty="0"/>
          </a:p>
        </p:txBody>
      </p:sp>
      <p:sp>
        <p:nvSpPr>
          <p:cNvPr id="293" name="Google Shape;293;g3a5494f4a8f_0_42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233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First remember </a:t>
            </a:r>
            <a:r>
              <a:rPr lang="en-US" sz="2000" dirty="0" err="1"/>
              <a:t>LSOne</a:t>
            </a:r>
            <a:r>
              <a:rPr lang="en-US" sz="2000" dirty="0"/>
              <a:t>(x: int)</a:t>
            </a:r>
            <a:endParaRPr sz="2000" dirty="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returns the least significant bit of a number by using ((S) &amp; -(S))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We keep a separate array ft[1..n] where each position </a:t>
            </a:r>
            <a:r>
              <a:rPr lang="en-US" sz="2000" dirty="0" err="1"/>
              <a:t>i</a:t>
            </a:r>
            <a:r>
              <a:rPr lang="en-US" sz="2000" dirty="0"/>
              <a:t> stores the sum of a range of the original array ending at </a:t>
            </a:r>
            <a:r>
              <a:rPr lang="en-US" sz="2000" dirty="0" err="1"/>
              <a:t>i</a:t>
            </a:r>
            <a:r>
              <a:rPr lang="en-US" sz="2000" dirty="0"/>
              <a:t>.</a:t>
            </a:r>
            <a:endParaRPr sz="2000" dirty="0"/>
          </a:p>
          <a:p>
            <a:pPr indent="-361950">
              <a:spcBef>
                <a:spcPts val="0"/>
              </a:spcBef>
              <a:buSzPts val="2100"/>
            </a:pPr>
            <a:r>
              <a:rPr lang="en-US" dirty="0"/>
              <a:t>Uses the properties of LSB (Lowest Set Bit) to split an array in powers of 2 to speed up calculations</a:t>
            </a:r>
            <a:endParaRPr lang="en-US" sz="1900"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1900" dirty="0"/>
              <a:t>The idea is that we “split” the summed chunks across the array, better than the naive way where each “chunk” is the previous element!</a:t>
            </a:r>
            <a:endParaRPr sz="2100" dirty="0"/>
          </a:p>
        </p:txBody>
      </p:sp>
      <p:pic>
        <p:nvPicPr>
          <p:cNvPr id="295" name="Google Shape;295;g3a5494f4a8f_0_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3606" y="3965472"/>
            <a:ext cx="5487595" cy="2753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a5494f4a8f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799" y="4494713"/>
            <a:ext cx="4131466" cy="16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F1210A-227D-3A1A-A295-BCF63BB28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1097" y="4064411"/>
            <a:ext cx="1833677" cy="23808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C73D52-D701-C0DF-49E4-0A0CAEA11B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0074" y="3231583"/>
            <a:ext cx="2044700" cy="647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Fenwick Tree – build</a:t>
            </a:r>
            <a:endParaRPr/>
          </a:p>
        </p:txBody>
      </p:sp>
      <p:sp>
        <p:nvSpPr>
          <p:cNvPr id="325" name="Google Shape;325;p27"/>
          <p:cNvSpPr txBox="1">
            <a:spLocks noGrp="1"/>
          </p:cNvSpPr>
          <p:nvPr>
            <p:ph type="body" idx="1"/>
          </p:nvPr>
        </p:nvSpPr>
        <p:spPr>
          <a:xfrm>
            <a:off x="-25" y="1096825"/>
            <a:ext cx="12192000" cy="4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200" dirty="0"/>
              <a:t>During one linear O(n) pass to create an array of frequencies with m keys/integer indices</a:t>
            </a:r>
            <a:endParaRPr sz="2200" dirty="0"/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Create a cumulative sum </a:t>
            </a:r>
            <a:endParaRPr sz="2000" dirty="0"/>
          </a:p>
          <a:p>
            <a:pPr lvl="2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 err="1"/>
              <a:t>self.ft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 += f[</a:t>
            </a:r>
            <a:r>
              <a:rPr lang="en-US" sz="2000" dirty="0" err="1"/>
              <a:t>i</a:t>
            </a:r>
            <a:r>
              <a:rPr lang="en-US" sz="2000" dirty="0"/>
              <a:t> - 1]</a:t>
            </a:r>
            <a:endParaRPr sz="2000" dirty="0"/>
          </a:p>
          <a:p>
            <a:pPr lvl="1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/>
              <a:t>Check if its parent in the updating tree of Fenwick Tree is still within range. If it is, we update its parent too</a:t>
            </a:r>
            <a:endParaRPr sz="2000" dirty="0"/>
          </a:p>
          <a:p>
            <a:pPr lvl="2" indent="-355600">
              <a:lnSpc>
                <a:spcPct val="115000"/>
              </a:lnSpc>
              <a:spcBef>
                <a:spcPts val="0"/>
              </a:spcBef>
              <a:buSzPts val="2000"/>
            </a:pPr>
            <a:r>
              <a:rPr lang="en-US" sz="2000" dirty="0" err="1"/>
              <a:t>self.ft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 + </a:t>
            </a:r>
            <a:r>
              <a:rPr lang="en-US" sz="2000" dirty="0" err="1"/>
              <a:t>self.lsone</a:t>
            </a:r>
            <a:r>
              <a:rPr lang="en-US" sz="2000" dirty="0"/>
              <a:t>(</a:t>
            </a:r>
            <a:r>
              <a:rPr lang="en-US" sz="2000" dirty="0" err="1"/>
              <a:t>i</a:t>
            </a:r>
            <a:r>
              <a:rPr lang="en-US" sz="2000" dirty="0"/>
              <a:t>)] += </a:t>
            </a:r>
            <a:r>
              <a:rPr lang="en-US" sz="2000" dirty="0" err="1"/>
              <a:t>self.ft</a:t>
            </a:r>
            <a:r>
              <a:rPr lang="en-US" sz="2000" dirty="0"/>
              <a:t>[</a:t>
            </a:r>
            <a:r>
              <a:rPr lang="en-US" sz="2000" dirty="0" err="1"/>
              <a:t>i</a:t>
            </a:r>
            <a:r>
              <a:rPr lang="en-US" sz="2000" dirty="0"/>
              <a:t>]</a:t>
            </a:r>
            <a:endParaRPr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5DC450-B9DB-3C94-E509-82898C953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762" y="3429000"/>
            <a:ext cx="4991100" cy="213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Fenwick Tree – RQS</a:t>
            </a:r>
            <a:endParaRPr/>
          </a:p>
        </p:txBody>
      </p:sp>
      <p:sp>
        <p:nvSpPr>
          <p:cNvPr id="303" name="Google Shape;303;p26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2745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A Range Query Sum is the sum of all elements within a specified range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RQS(</a:t>
            </a:r>
            <a:r>
              <a:rPr lang="en-US" sz="2000" dirty="0" err="1"/>
              <a:t>i</a:t>
            </a:r>
            <a:r>
              <a:rPr lang="en-US" sz="2000" dirty="0"/>
              <a:t>, j) is the sum of all occurrences between </a:t>
            </a:r>
            <a:r>
              <a:rPr lang="en-US" sz="2000" dirty="0" err="1"/>
              <a:t>i</a:t>
            </a:r>
            <a:r>
              <a:rPr lang="en-US" sz="2000" dirty="0"/>
              <a:t> and j</a:t>
            </a:r>
            <a:endParaRPr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800" dirty="0"/>
              <a:t>RSQ(1, 8) = 10</a:t>
            </a: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800" dirty="0"/>
              <a:t>RSQ(4, 6) = RSQ(1, 6) – RSQ(1, 3) = 7-1 = 6</a:t>
            </a:r>
          </a:p>
          <a:p>
            <a:pPr indent="-355600">
              <a:spcBef>
                <a:spcPts val="0"/>
              </a:spcBef>
              <a:buSzPts val="2000"/>
            </a:pPr>
            <a:endParaRPr lang="en-US" sz="2000" dirty="0"/>
          </a:p>
        </p:txBody>
      </p:sp>
      <p:pic>
        <p:nvPicPr>
          <p:cNvPr id="305" name="Google Shape;30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5119" y="4223753"/>
            <a:ext cx="4548882" cy="238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5625" y="1869374"/>
            <a:ext cx="5428376" cy="222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656A1E-059C-44D2-8F7C-D4F5BD25E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49" y="4096649"/>
            <a:ext cx="5067300" cy="260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F576C7-5F95-FCAE-5AE2-FF957DBCA7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2745" y="4280809"/>
            <a:ext cx="1833677" cy="23808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5494f4a8f_0_60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Fenwick Tree – update</a:t>
            </a:r>
            <a:endParaRPr/>
          </a:p>
        </p:txBody>
      </p:sp>
      <p:sp>
        <p:nvSpPr>
          <p:cNvPr id="313" name="Google Shape;313;g3a5494f4a8f_0_60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7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Traverse the affected “chunks” and update their values</a:t>
            </a:r>
            <a:endParaRPr sz="2000" dirty="0"/>
          </a:p>
        </p:txBody>
      </p:sp>
      <p:grpSp>
        <p:nvGrpSpPr>
          <p:cNvPr id="315" name="Google Shape;315;g3a5494f4a8f_0_60"/>
          <p:cNvGrpSpPr/>
          <p:nvPr/>
        </p:nvGrpSpPr>
        <p:grpSpPr>
          <a:xfrm>
            <a:off x="167950" y="3203936"/>
            <a:ext cx="5584352" cy="2753625"/>
            <a:chOff x="494674" y="2429250"/>
            <a:chExt cx="5584352" cy="2753625"/>
          </a:xfrm>
        </p:grpSpPr>
        <p:pic>
          <p:nvPicPr>
            <p:cNvPr id="316" name="Google Shape;316;g3a5494f4a8f_0_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4674" y="2429250"/>
              <a:ext cx="5584352" cy="2753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g3a5494f4a8f_0_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9050" y="2456800"/>
              <a:ext cx="2442925" cy="2661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8" name="Google Shape;318;g3a5494f4a8f_0_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4650" y="3352275"/>
            <a:ext cx="5988150" cy="245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BD18115-467E-DC9D-91D5-AC66DC02AC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75" y="1778432"/>
            <a:ext cx="2844800" cy="121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5494f4a8f_0_88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Fenwick Tree – Basic Implementation</a:t>
            </a:r>
            <a:endParaRPr/>
          </a:p>
        </p:txBody>
      </p:sp>
      <p:sp>
        <p:nvSpPr>
          <p:cNvPr id="334" name="Google Shape;334;g3a5494f4a8f_0_88"/>
          <p:cNvSpPr txBox="1"/>
          <p:nvPr/>
        </p:nvSpPr>
        <p:spPr>
          <a:xfrm>
            <a:off x="156209" y="5809275"/>
            <a:ext cx="8304885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AFB5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Sources:</a:t>
            </a:r>
            <a:endParaRPr sz="2000" b="0" i="0" u="none" strike="noStrike" cap="none" dirty="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914400" lvl="1" indent="-355600">
              <a:buClr>
                <a:srgbClr val="262626"/>
              </a:buClr>
              <a:buSzPts val="2000"/>
              <a:buFont typeface="Gill Sans"/>
              <a:buChar char="•"/>
            </a:pPr>
            <a:r>
              <a:rPr lang="en-US" sz="2000" dirty="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https://github.com/stevenhalim/cpbook-code/blob/master/ch2/ourown/fenwicktree_ds.py</a:t>
            </a:r>
            <a:r>
              <a:rPr lang="en-US" sz="2000" dirty="0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000" b="0" i="0" u="none" strike="noStrike" cap="none" dirty="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6D923C-A38D-C95B-4DD9-6BDBF611A5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3188"/>
          <a:stretch>
            <a:fillRect/>
          </a:stretch>
        </p:blipFill>
        <p:spPr>
          <a:xfrm>
            <a:off x="1348753" y="1215522"/>
            <a:ext cx="3812635" cy="41120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22D469-E9CF-E2E7-E5B3-975A25DD3F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812"/>
          <a:stretch>
            <a:fillRect/>
          </a:stretch>
        </p:blipFill>
        <p:spPr>
          <a:xfrm>
            <a:off x="6315098" y="1489112"/>
            <a:ext cx="4037349" cy="3310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AC0D135E-4E74-B8C6-E24C-17D496C9C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F074EF29-1AF2-76FA-6482-A114774680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44BF7036-97EE-8136-7F78-AFAFA5FB76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Template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391878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3787</Words>
  <Application>Microsoft Macintosh PowerPoint</Application>
  <PresentationFormat>Widescreen</PresentationFormat>
  <Paragraphs>408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Gill Sans</vt:lpstr>
      <vt:lpstr>Arial</vt:lpstr>
      <vt:lpstr>Wingdings</vt:lpstr>
      <vt:lpstr>Parcel</vt:lpstr>
      <vt:lpstr>Parcel</vt:lpstr>
      <vt:lpstr>ICPC Bootcamp Day 1</vt:lpstr>
      <vt:lpstr>1.3.3 Do Algorithm Analysis</vt:lpstr>
      <vt:lpstr>Some Abstract Data Types</vt:lpstr>
      <vt:lpstr>Binary Search Tree (BST)</vt:lpstr>
      <vt:lpstr>Linked-List</vt:lpstr>
      <vt:lpstr>2.3.1 Binary Heap (Priority Queue) </vt:lpstr>
      <vt:lpstr>2.3.2 Hash Table</vt:lpstr>
      <vt:lpstr>2.4.1 Graph</vt:lpstr>
      <vt:lpstr>2.4.1 Graph - Adjacency Matrix</vt:lpstr>
      <vt:lpstr>2.4.1 Graph - Adjacency List</vt:lpstr>
      <vt:lpstr>2.4.1 Graph - Edge List</vt:lpstr>
      <vt:lpstr>2.2.3 Bitmask – Why?</vt:lpstr>
      <vt:lpstr>2.2.3 Bitmask – Representation in Python</vt:lpstr>
      <vt:lpstr>2.2.3 Bitmask – Python Syntax</vt:lpstr>
      <vt:lpstr>2.2.3 Bitmask – Multiplication/Division</vt:lpstr>
      <vt:lpstr>2.2.3 Bitmask – Set/Turn on j-th Item (0-based indexing)</vt:lpstr>
      <vt:lpstr>2.2.3 Bitmask – Check if j-th Item of the Set is on</vt:lpstr>
      <vt:lpstr>2.2.3 Bitmask – Clear/Turn off the j-th Item of the Set</vt:lpstr>
      <vt:lpstr>2.2.3 Bitmask – Toggle (flip status of) j-th Item of the Set</vt:lpstr>
      <vt:lpstr>2.2.3 Bitmask – Get the Value of Least Significant Bit of S</vt:lpstr>
      <vt:lpstr>2.2.3 Bitmask – Turn on All Bits in a Set of Size n</vt:lpstr>
      <vt:lpstr>2.4.2 Union-Find Disjoint Sets (UFDS)</vt:lpstr>
      <vt:lpstr>2.4.2 Union-Find Disjoint Sets (UFDS) – Basic Idea</vt:lpstr>
      <vt:lpstr>2.4.2 Union-Find Disjoint Sets (UFDS) - Storing Data P1</vt:lpstr>
      <vt:lpstr>2.4.2 Union-Find Disjoint Sets (UFDS) - Storing Data P2</vt:lpstr>
      <vt:lpstr>2.4.2 Union-Find Disjoint Sets (UFDS) - Initialize(n)</vt:lpstr>
      <vt:lpstr>2.4.2 Union-Find Disjoint Sets (UFDS) - FindSet(i)</vt:lpstr>
      <vt:lpstr>2.4.2 Union-Find Disjoint Sets (UFDS) - IsSameSet(i, j)</vt:lpstr>
      <vt:lpstr>2.4.2 Union-Find Disjoint Sets (UFDS) - UnionSet(i, j)</vt:lpstr>
      <vt:lpstr>2.4.2 Union-Find Disjoint Sets (UFDS) - UnionSet(i, j)</vt:lpstr>
      <vt:lpstr>2.4.2 Union-Find Disjoint Sets (UFDS) - NumDisjointSets()</vt:lpstr>
      <vt:lpstr>2.4.2 Union-Find Disjoint Sets (UFDS) - SizeOfSet(i)</vt:lpstr>
      <vt:lpstr>2.4.2 Union-Find Disjoint Sets (UFDS) – Basic Implementation</vt:lpstr>
      <vt:lpstr>Fenwick Tree (or Binary Indexed Tree BIT) Motivation</vt:lpstr>
      <vt:lpstr>Fenwick Tree Structure</vt:lpstr>
      <vt:lpstr>Fenwick Tree – build</vt:lpstr>
      <vt:lpstr>Fenwick Tree – RQS</vt:lpstr>
      <vt:lpstr>Fenwick Tree – update</vt:lpstr>
      <vt:lpstr>Fenwick Tree – Basic Implementation</vt:lpstr>
      <vt:lpstr>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Ryan Pelchat</dc:creator>
  <cp:lastModifiedBy>Ryan Pelchat</cp:lastModifiedBy>
  <cp:revision>16</cp:revision>
  <dcterms:created xsi:type="dcterms:W3CDTF">2025-09-06T15:13:09Z</dcterms:created>
  <dcterms:modified xsi:type="dcterms:W3CDTF">2026-08-16T00:39:34Z</dcterms:modified>
</cp:coreProperties>
</file>