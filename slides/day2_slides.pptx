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24"/>
  </p:notesMasterIdLst>
  <p:sldIdLst>
    <p:sldId id="256" r:id="rId4"/>
    <p:sldId id="306" r:id="rId5"/>
    <p:sldId id="307" r:id="rId6"/>
    <p:sldId id="301" r:id="rId7"/>
    <p:sldId id="302" r:id="rId8"/>
    <p:sldId id="303" r:id="rId9"/>
    <p:sldId id="305" r:id="rId10"/>
    <p:sldId id="311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85" r:id="rId20"/>
    <p:sldId id="309" r:id="rId21"/>
    <p:sldId id="308" r:id="rId22"/>
    <p:sldId id="310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i14jFXTrCmS0u2hXQXGuC3zsn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76"/>
    <p:restoredTop sz="81130"/>
  </p:normalViewPr>
  <p:slideViewPr>
    <p:cSldViewPr snapToGrid="0">
      <p:cViewPr varScale="1">
        <p:scale>
          <a:sx n="109" d="100"/>
          <a:sy n="109" d="100"/>
        </p:scale>
        <p:origin x="1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4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300EE37A-895F-8CE6-3C18-0E3BB656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94F59321-70E7-9DCD-FCFA-728DC3C3B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AAF1D1A3-CC6F-95DA-D315-7DE7D02CF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0FF94B46-4AD8-BA75-AF7E-C46BCA998A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835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680CF953-4EC9-2A12-EA1C-647A69C5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5AD397D-396A-212A-1CBA-56C6918009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67FEDBB8-F770-D3F3-1B46-B472148E6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25A83592-508E-D36A-E384-EA4A870B74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844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a82980c7b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8a82980c7b_2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331" name="Google Shape;331;g38a82980c7b_2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DBA8086-D206-9493-4AA3-866E658B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5BCB0D9B-05E8-9665-BD4D-662B5906F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9283243B-585C-A188-BF0B-9476D5F9C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FF88E9BE-EDB3-3CD1-4784-74EA28CA2A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0591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7E3CC550-5227-9930-3149-265F74D4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34D75FF4-91A7-DE1C-280F-59176C33F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508AE2C7-375A-94EC-F746-4E0751D07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4CD690FE-151F-2AC3-437A-8A7137E196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7739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FB3744D2-8774-F78F-D1FF-3F78B856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45A879B-C8A3-FD5B-5DF8-B7F3BA65B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32E56A50-F254-9F04-2B26-7BC096A703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51208BC8-60FF-77D7-5202-2EA188450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4812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4065DD0B-5BBF-42BC-124E-6572272E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1B6F0CA-3227-FAF4-5276-2F0D6C36B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48C73575-9C94-92E4-1F62-AB9F75651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C25AC9B1-2EF2-29CB-11D2-AD62DC558E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3808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8a82980c7b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8a82980c7b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368" name="Google Shape;368;g38a82980c7b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a82980c7b_2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8a82980c7b_2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376" name="Google Shape;376;g38a82980c7b_2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a82980c7b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8a82980c7b_2_2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384" name="Google Shape;384;g38a82980c7b_2_2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a82980c7b_2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38a82980c7b_2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396" name="Google Shape;396;g38a82980c7b_2_2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a82980c7b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8a82980c7b_2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g38a82980c7b_2_2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a82980c7b_2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38a82980c7b_2_2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413" name="Google Shape;413;g38a82980c7b_2_2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a82980c7b_2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38a82980c7b_2_3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421" name="Google Shape;421;g38a82980c7b_2_3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16e0e644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g3816e0e644b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430" name="Google Shape;430;g3816e0e644b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EB3FA6E6-50DD-EE87-D2F6-6B811849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142AB2D-8561-0EC3-A04D-B7005E356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B26EA038-A49F-1922-B7A0-6928BA225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C8A862BC-0309-EB1D-DCE5-59604B8B6D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4131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825C8B69-260A-9809-B114-AE1967F4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4887C06F-A781-2699-E33C-C1267EB02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09544089-2021-7081-F08E-BD9AE8EDF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B4558013-D7D1-99D4-E219-C274565D86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4833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064C5B8D-EBE6-AE1A-6F87-7C7EC98D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8D44BEE4-8E5A-C854-A357-8ADD3E314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7CE41932-E357-154D-1134-11BAE0238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59D04CE3-F87B-2234-DD2B-1A3F444785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32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9D0DE057-86EE-3F61-897A-86FAF432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6B4431AC-79DF-345D-9F57-BDE0EF3CB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8BEDD730-A279-F1FD-531F-43FB23B37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22290D2E-673E-0F02-B956-A5C6603DCE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507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6556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5860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3611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8437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7879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04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8903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9951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8514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799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1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24393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dirty="0"/>
              <a:t>ICPC Bootcamp Day 2</a:t>
            </a:r>
            <a:endParaRPr dirty="0"/>
          </a:p>
        </p:txBody>
      </p:sp>
      <p:sp>
        <p:nvSpPr>
          <p:cNvPr id="104" name="Google Shape;104;p1"/>
          <p:cNvSpPr txBox="1"/>
          <p:nvPr/>
        </p:nvSpPr>
        <p:spPr>
          <a:xfrm>
            <a:off x="98507" y="2874195"/>
            <a:ext cx="749409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Understanding the Search Space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The Monotonic Search Space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3.2.1 Iterative Complete Search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2.2.3 Bitmask – Iterating Through Subsets with Bitmasks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Recursion Review 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3.2.2 Recursive Complete Search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Code Example: 8-Queens (Python)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1 Filtering versus Generating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2 Prune Infeasible/Inferior Search Space Early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3 Utilize Symmetries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4 Pre-Computation </a:t>
            </a:r>
            <a:r>
              <a:rPr lang="en-US" sz="1800" dirty="0" err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a.k.a</a:t>
            </a: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Pre-Calculation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5 Try Solving the Problem Backwards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6 Data Compression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3.2.3 Complete Search Tip 7 Optimizing Your Source Code</a:t>
            </a:r>
          </a:p>
        </p:txBody>
      </p:sp>
      <p:sp>
        <p:nvSpPr>
          <p:cNvPr id="3" name="Google Shape;104;p1">
            <a:extLst>
              <a:ext uri="{FF2B5EF4-FFF2-40B4-BE49-F238E27FC236}">
                <a16:creationId xmlns:a16="http://schemas.microsoft.com/office/drawing/2014/main" id="{35C1C396-0B18-5489-3171-F800B9408780}"/>
              </a:ext>
            </a:extLst>
          </p:cNvPr>
          <p:cNvSpPr txBox="1"/>
          <p:nvPr/>
        </p:nvSpPr>
        <p:spPr>
          <a:xfrm>
            <a:off x="6074643" y="2874195"/>
            <a:ext cx="611735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3.3.1 Interesting Usages of Binary Search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Unimodal Functions in CP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3.3.2 Ternary Search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foolingaround</a:t>
            </a: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, Kattis Problem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4491CC5-F7F9-E15E-2BAD-0291F159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FC05EE0-D4DF-6A49-4B91-65728A35F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Understanding the Search Space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8BB878AF-06D8-6712-9D34-534387FFC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22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Definition: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The complete set of all possible candidate solutions to a given problem.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Discrete vs. Continuous: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Discrete: A finite set of options, such as all possible arrangements of an array, or all subsets of a bitmask.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Continuous: An infinite range of real numbers, such as finding the exact time a projectile hits the ground.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Navigation Strategies: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Complete Search: Exploring the entire search space one by one (or pruning bad branches early).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Divide and Conquer: Using algorithms to skip massive chunks of the search space at once (e.g., eliminating half the options per step).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Goal: To define the search space clearly and find the fastest algorithm to navigate it without triggering a Time Limit Exceeded (TLE) verdict.</a:t>
            </a:r>
          </a:p>
        </p:txBody>
      </p:sp>
    </p:spTree>
    <p:extLst>
      <p:ext uri="{BB962C8B-B14F-4D97-AF65-F5344CB8AC3E}">
        <p14:creationId xmlns:p14="http://schemas.microsoft.com/office/powerpoint/2010/main" val="328728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0DC2EB6B-A9BE-CBAC-8659-B6FFBDAD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C4C6DDD5-E36E-2265-55D3-E013D9899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r>
              <a:rPr lang="en-CA" dirty="0"/>
              <a:t>The Monotonic Search Space</a:t>
            </a:r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F2407B29-CBB1-796B-BA63-3324C3727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08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What does "Monotonic" mean?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In computer science, a monotonic condition is one that transitions exactly once across a sorted search space.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Example: A </a:t>
            </a:r>
            <a:r>
              <a:rPr lang="en-US" sz="1800" dirty="0" err="1"/>
              <a:t>boolean</a:t>
            </a:r>
            <a:r>
              <a:rPr lang="en-US" sz="1800" dirty="0"/>
              <a:t> function </a:t>
            </a:r>
            <a:r>
              <a:rPr lang="en-US" sz="1800" dirty="0" err="1"/>
              <a:t>isValid</a:t>
            </a:r>
            <a:r>
              <a:rPr lang="en-US" sz="1800" dirty="0"/>
              <a:t>(x) that returns [False, False, False, True, True, True].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Requirement for Binary Search: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You cannot use Binary Search unless your search space is monotonic relative to the question you are asking.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Why it matters: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the space is [False, True, False, True], checking the middle element tells you absolutely nothing about where to look next.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the space is monotonic, finding a True guarantees that everything to the right is also True (or vice versa). You can safely discard half of the search space in a single 𝑂(log⁡𝑁 ) operation.</a:t>
            </a:r>
          </a:p>
        </p:txBody>
      </p:sp>
    </p:spTree>
    <p:extLst>
      <p:ext uri="{BB962C8B-B14F-4D97-AF65-F5344CB8AC3E}">
        <p14:creationId xmlns:p14="http://schemas.microsoft.com/office/powerpoint/2010/main" val="26302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a82980c7b_2_15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3.2.1 Iterative Complete Search</a:t>
            </a:r>
            <a:endParaRPr dirty="0"/>
          </a:p>
        </p:txBody>
      </p:sp>
      <p:sp>
        <p:nvSpPr>
          <p:cNvPr id="334" name="Google Shape;334;g38a82980c7b_2_15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Iterative Complete Search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Nested Loops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Try </a:t>
            </a:r>
            <a:r>
              <a:rPr lang="en-US" sz="2000" dirty="0" err="1"/>
              <a:t>em</a:t>
            </a:r>
            <a:r>
              <a:rPr lang="en-US" sz="2000" dirty="0"/>
              <a:t>’ all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Loops + Pruning</a:t>
            </a:r>
            <a:endParaRPr sz="2000" dirty="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if statements and short circuiting to skip loops</a:t>
            </a:r>
            <a:endParaRPr sz="2000" dirty="0"/>
          </a:p>
          <a:p>
            <a:pPr marL="182880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bool expressions (X and Y) if X is False then Y isn’t checked</a:t>
            </a:r>
            <a:endParaRPr sz="2000" dirty="0"/>
          </a:p>
          <a:p>
            <a:pPr marL="182880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bool expressions (X or Y) if X is True then Y isn’t checked</a:t>
            </a:r>
            <a:endParaRPr sz="2000" dirty="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break/continue to stop/skip loops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Permutations</a:t>
            </a:r>
            <a:endParaRPr sz="2000" dirty="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Python use </a:t>
            </a:r>
            <a:r>
              <a:rPr lang="en-US" sz="2000" dirty="0" err="1"/>
              <a:t>itertools</a:t>
            </a:r>
            <a:r>
              <a:rPr lang="en-US" sz="2000" dirty="0"/>
              <a:t> very powerful combination library!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Subsets</a:t>
            </a:r>
          </a:p>
          <a:p>
            <a:pPr lvl="2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use bitmasks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Section 3.2.1 Works through an example for each of the above concepts, take a look!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2007225A-D6A0-A4D0-C912-C0ACC615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73834E7F-AF92-8EF8-9A34-11539FD1D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C5F951A-D8DF-2B19-E0BB-20F8220F7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417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Concept: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We can represent a subset of items using an integer (a bitmask). The </a:t>
            </a:r>
            <a:r>
              <a:rPr lang="en-US" sz="1800" dirty="0" err="1"/>
              <a:t>i-th</a:t>
            </a:r>
            <a:r>
              <a:rPr lang="en-US" sz="1800" dirty="0"/>
              <a:t> bit is 1 if the item is included, and 0 if it is not.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For a set of N items, simply iterating from 0 to 2^N - 1 generates all possible global subsets.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</a:t>
            </a:r>
            <a:r>
              <a:rPr lang="en-US" sz="2000" dirty="0" err="1"/>
              <a:t>Submask</a:t>
            </a:r>
            <a:r>
              <a:rPr lang="en-US" sz="2000" dirty="0"/>
              <a:t> Problem: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What if you only want to find all subsets of an already existing subset (a </a:t>
            </a:r>
            <a:r>
              <a:rPr lang="en-US" sz="1800" dirty="0" err="1"/>
              <a:t>submask</a:t>
            </a:r>
            <a:r>
              <a:rPr lang="en-US" sz="1800" dirty="0"/>
              <a:t>)?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Iterating through all 2^N possibilities and filtering them is too slow.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Bitwise Solution: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subset = (mask &amp; (subset - 1)) is the core logic.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Subtracting 1 from subset flips its lowest set bit to 0 and turns all lower 0s into 1s.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The bitwise &amp; with the original mask acts as a filter, instantly turning off any newly created 1s that don't belong to the parent mask.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Result: It generates every valid </a:t>
            </a:r>
            <a:r>
              <a:rPr lang="en-US" sz="1800" dirty="0" err="1"/>
              <a:t>submask</a:t>
            </a:r>
            <a:r>
              <a:rPr lang="en-US" sz="1800" dirty="0"/>
              <a:t> in strictly decreasing order (e.g., for mask = 18 or 10010, it perfectly yields 18, 16, 2, and 0) without wasting cycles on invalid states.</a:t>
            </a:r>
          </a:p>
          <a:p>
            <a:pPr indent="-355600">
              <a:spcBef>
                <a:spcPts val="0"/>
              </a:spcBef>
              <a:buSzPts val="2000"/>
            </a:pPr>
            <a:endParaRPr lang="en-US" sz="2000" dirty="0"/>
          </a:p>
          <a:p>
            <a:pPr lvl="1" indent="-355600">
              <a:spcBef>
                <a:spcPts val="0"/>
              </a:spcBef>
              <a:buSzPts val="2000"/>
            </a:pPr>
            <a:endParaRPr lang="en-US" sz="1800" dirty="0"/>
          </a:p>
        </p:txBody>
      </p:sp>
      <p:sp>
        <p:nvSpPr>
          <p:cNvPr id="2" name="Google Shape;341;g38a82980c7b_2_22">
            <a:extLst>
              <a:ext uri="{FF2B5EF4-FFF2-40B4-BE49-F238E27FC236}">
                <a16:creationId xmlns:a16="http://schemas.microsoft.com/office/drawing/2014/main" id="{E62E5824-712D-9C8B-FF92-ADF11E6E74AB}"/>
              </a:ext>
            </a:extLst>
          </p:cNvPr>
          <p:cNvSpPr txBox="1">
            <a:spLocks/>
          </p:cNvSpPr>
          <p:nvPr/>
        </p:nvSpPr>
        <p:spPr>
          <a:xfrm>
            <a:off x="1436225" y="218800"/>
            <a:ext cx="93483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dirty="0"/>
              <a:t>2.2.3 Bitmask – Iterating Through Subsets with Bitmasks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48DCDB-AF41-968E-5CA3-31B163237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944673"/>
              </p:ext>
            </p:extLst>
          </p:nvPr>
        </p:nvGraphicFramePr>
        <p:xfrm>
          <a:off x="3888807" y="5181821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486862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0342194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mask = 10 = 0b1010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091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subset 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mask &amp; (subset 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623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0b1010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61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0b0111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5730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E22F39B-25F9-C037-B2FF-B94B14853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3" y="5376410"/>
            <a:ext cx="34544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4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B44877E0-0172-F98F-D96E-773D648C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0605BF2D-F323-90C0-2B36-4DBAAF6C4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3.2.2 Recursive Complete Search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E001AA60-F240-6BF7-D0B5-D5547A6D0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06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CA" sz="2000" dirty="0"/>
              <a:t>Also known as Backtracking. It models the search space as a tree and traverses it recursively.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CA" sz="2000" dirty="0"/>
              <a:t>When to use it: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When the number of nested loops is not known in advance, making iterative approaches impossible.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CA" sz="2000" dirty="0"/>
              <a:t>Key Components: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Base Case: The condition where a partial solution becomes a full solution. Encapsulates the condition of the smallest problem instance.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Recursive Step: The loop that tries all possible candidates for the current state and makes recursive calls to go deeper.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Filtering vs Generating: Backtracking generates solutions and stops exploring a branch the moment it becomes invalid, which is much faster than generating all possibilities and then filtering out the invalid solutions.</a:t>
            </a:r>
          </a:p>
        </p:txBody>
      </p:sp>
    </p:spTree>
    <p:extLst>
      <p:ext uri="{BB962C8B-B14F-4D97-AF65-F5344CB8AC3E}">
        <p14:creationId xmlns:p14="http://schemas.microsoft.com/office/powerpoint/2010/main" val="67404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9F4F47ED-A440-8811-77BF-8083B84B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BDEA8412-3049-BCB3-3BFB-AC91BF627C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Code Example: 8-Queens (Python)</a:t>
            </a:r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9AEE5FC2-61B8-6175-8240-F8222B6DA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494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dirty="0"/>
              <a:t>The Goal: Place 8 queens on an 8×8 board without them attacking each other.</a:t>
            </a:r>
            <a:endParaRPr lang="en-US" sz="1800" dirty="0"/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1800" dirty="0"/>
              <a:t>Try all possibilities, enumerate all combinations of 8 different cells out of the 8x8=64 possible cells!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64C8 about 4B possibilities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dirty="0"/>
              <a:t>Prune the column? (queens can’t occupy same column)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8^8 about 17M possibilities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dirty="0"/>
              <a:t>Prune column and row?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8! About 40k possibilities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dirty="0"/>
              <a:t>Prune column, row and diagonals? Yes!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dirty="0"/>
              <a:t>Sub-8! Possibilities</a:t>
            </a:r>
          </a:p>
          <a:p>
            <a:pPr lvl="1" indent="-355600">
              <a:spcBef>
                <a:spcPts val="0"/>
              </a:spcBef>
              <a:buSzPts val="2000"/>
            </a:pPr>
            <a:endParaRPr lang="en-US" dirty="0"/>
          </a:p>
          <a:p>
            <a:pPr lvl="1" indent="-355600">
              <a:spcBef>
                <a:spcPts val="0"/>
              </a:spcBef>
              <a:buSzPts val="2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9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369706C-08D9-4025-AF43-894334A1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FEF1FEE-ECF7-4E5D-6022-6DD7BB84F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Code Example: 8-Queens (Python)</a:t>
            </a:r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2261643A-50E3-628B-4EC6-7A4C0934E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494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Goal: Place 8 queens on an 8×8 board without them attacking each other.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Recursive State: </a:t>
            </a:r>
            <a:r>
              <a:rPr lang="en-US" sz="2000" dirty="0" err="1"/>
              <a:t>place_queen</a:t>
            </a:r>
            <a:r>
              <a:rPr lang="en-US" sz="2000" dirty="0"/>
              <a:t>(</a:t>
            </a:r>
            <a:r>
              <a:rPr lang="en-US" sz="2000" dirty="0" err="1"/>
              <a:t>column_index</a:t>
            </a:r>
            <a:r>
              <a:rPr lang="en-US" sz="2000" dirty="0"/>
              <a:t>)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Logic: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Base Case</a:t>
            </a:r>
            <a:r>
              <a:rPr lang="en-US" sz="1800" dirty="0"/>
              <a:t>: If </a:t>
            </a:r>
            <a:r>
              <a:rPr lang="en-US" sz="1800" dirty="0" err="1"/>
              <a:t>column_index</a:t>
            </a:r>
            <a:r>
              <a:rPr lang="en-US" sz="1800" dirty="0"/>
              <a:t> == 8, all queens are placed. We found a valid arrangement! Record it and return.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b="1" dirty="0"/>
              <a:t>Recursive Step</a:t>
            </a:r>
            <a:r>
              <a:rPr lang="en-US" sz="1800" dirty="0"/>
              <a:t>: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Loop through rows 0 to 7.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Check if placing a queen at (row, </a:t>
            </a:r>
            <a:r>
              <a:rPr lang="en-US" sz="1800" dirty="0" err="1"/>
              <a:t>column_index</a:t>
            </a:r>
            <a:r>
              <a:rPr lang="en-US" sz="1800" dirty="0"/>
              <a:t>) is safe.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If safe, place the queen and recursively call </a:t>
            </a:r>
            <a:r>
              <a:rPr lang="en-US" sz="1800" dirty="0" err="1"/>
              <a:t>place_queen</a:t>
            </a:r>
            <a:r>
              <a:rPr lang="en-US" sz="1800" dirty="0"/>
              <a:t>(</a:t>
            </a:r>
            <a:r>
              <a:rPr lang="en-US" sz="1800" dirty="0" err="1"/>
              <a:t>column_index</a:t>
            </a:r>
            <a:r>
              <a:rPr lang="en-US" sz="1800" dirty="0"/>
              <a:t> + 1).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b="1" dirty="0"/>
              <a:t>Backtrack</a:t>
            </a:r>
            <a:r>
              <a:rPr lang="en-US" sz="1800" dirty="0"/>
              <a:t>: Remove the queen we just placed to try the next row in the loop.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1F26B0-2C4C-4856-7E13-9122E3240E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18"/>
          <a:stretch>
            <a:fillRect/>
          </a:stretch>
        </p:blipFill>
        <p:spPr>
          <a:xfrm>
            <a:off x="6110375" y="3986437"/>
            <a:ext cx="5421330" cy="27258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F9B7A3-CF90-0226-5C61-B72E57963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582"/>
          <a:stretch>
            <a:fillRect/>
          </a:stretch>
        </p:blipFill>
        <p:spPr>
          <a:xfrm>
            <a:off x="820115" y="4347170"/>
            <a:ext cx="4964821" cy="176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a82980c7b_1_23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Filtering versus Generating</a:t>
            </a:r>
            <a:endParaRPr dirty="0"/>
          </a:p>
        </p:txBody>
      </p:sp>
      <p:sp>
        <p:nvSpPr>
          <p:cNvPr id="371" name="Google Shape;371;g38a82980c7b_1_23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Filters: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Programs that examine lots of (if not all) candidate solutions and choose the ones that are correct (or remove the incorrect ones)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Usually iterative algorithms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Usually easier to code, but run slower due to difficulty in pruning more of the search space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ex. The naïve 8-Queen solution is to generate all combinations </a:t>
            </a:r>
            <a:r>
              <a:rPr lang="en-US" sz="2000" baseline="-25000"/>
              <a:t>64</a:t>
            </a:r>
            <a:r>
              <a:rPr lang="en-US" sz="2000"/>
              <a:t>C</a:t>
            </a:r>
            <a:r>
              <a:rPr lang="en-US" sz="2000" baseline="-25000"/>
              <a:t>8</a:t>
            </a:r>
            <a:r>
              <a:rPr lang="en-US" sz="2000"/>
              <a:t> (8</a:t>
            </a:r>
            <a:r>
              <a:rPr lang="en-US" sz="2000" baseline="30000"/>
              <a:t>8</a:t>
            </a:r>
            <a:r>
              <a:rPr lang="en-US" sz="2000"/>
              <a:t>)</a:t>
            </a:r>
            <a:endParaRPr sz="2000" i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Generators: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Gradually build the solutions and immediately prune invalid partial solutions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Usually recursive algorithms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ex. The recursing 8-Queen solution that prunes as it generates solutions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a82980c7b_2_204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2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Prune Infeasible/Inferior Search Space Early</a:t>
            </a:r>
            <a:endParaRPr dirty="0"/>
          </a:p>
        </p:txBody>
      </p:sp>
      <p:sp>
        <p:nvSpPr>
          <p:cNvPr id="379" name="Google Shape;379;g38a82980c7b_2_204"/>
          <p:cNvSpPr txBox="1">
            <a:spLocks noGrp="1"/>
          </p:cNvSpPr>
          <p:nvPr>
            <p:ph type="body" idx="1"/>
          </p:nvPr>
        </p:nvSpPr>
        <p:spPr>
          <a:xfrm>
            <a:off x="480325" y="1257775"/>
            <a:ext cx="11231400" cy="4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generating solutions using recursive backtracking (see tip above), we may encounter a partial solution that will never lead to a full solution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Prune the search there and explore other parts of the search space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Ex. In the queens problem, as soon as you find 2 queens “attacking” each other, you don’t have to explore that solution further (2 queens in same column, row, or diagonal)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Rule of thumb, the earlier you can prune the search space, the better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other problems, we may be able to compute the ‘potential worth’ of a partial (and still valid) solution. 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the potential worth is inferior to the worth of the current best found valid solution so far, we can prune the search there.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a82980c7b_2_295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3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Utilize Symmetries</a:t>
            </a:r>
            <a:endParaRPr dirty="0"/>
          </a:p>
        </p:txBody>
      </p:sp>
      <p:sp>
        <p:nvSpPr>
          <p:cNvPr id="387" name="Google Shape;387;g38a82980c7b_2_295"/>
          <p:cNvSpPr txBox="1">
            <a:spLocks noGrp="1"/>
          </p:cNvSpPr>
          <p:nvPr>
            <p:ph type="body" idx="1"/>
          </p:nvPr>
        </p:nvSpPr>
        <p:spPr>
          <a:xfrm>
            <a:off x="480325" y="1170125"/>
            <a:ext cx="11231400" cy="4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Some problems have symmetries that can be exploited to reduce execution time.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8-Queens example: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Total solutions = 92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Unique (fundamental) solutions = 12 (due to rotational and reflection symmetries)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Strategy: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Generate only the 12 unique solutions.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Derive the full 92 by applying rotations/reflections.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Caution: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Considering symmetries may complicate code.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competitive programming, shorter/cleaner code is usually better (fewer bugs).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symmetry handling doesn’t give significant benefit, it’s best to ignore it.</a:t>
            </a:r>
            <a:endParaRPr sz="2000"/>
          </a:p>
        </p:txBody>
      </p:sp>
      <p:pic>
        <p:nvPicPr>
          <p:cNvPr id="389" name="Google Shape;389;g38a82980c7b_2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6400" y="2510233"/>
            <a:ext cx="1099850" cy="12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8a82980c7b_2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419950" y="2510233"/>
            <a:ext cx="1099850" cy="12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8a82980c7b_2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643538" y="2448770"/>
            <a:ext cx="1099850" cy="12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8a82980c7b_2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867125" y="2510220"/>
            <a:ext cx="1099850" cy="12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8a82980c7b_2_211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4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Pre-Computation </a:t>
            </a:r>
            <a:r>
              <a:rPr lang="en-US" dirty="0" err="1"/>
              <a:t>a.k.a</a:t>
            </a:r>
            <a:r>
              <a:rPr lang="en-US" dirty="0"/>
              <a:t> Pre-Calculation</a:t>
            </a:r>
            <a:endParaRPr dirty="0"/>
          </a:p>
        </p:txBody>
      </p:sp>
      <p:sp>
        <p:nvSpPr>
          <p:cNvPr id="399" name="Google Shape;399;g38a82980c7b_2_211"/>
          <p:cNvSpPr txBox="1">
            <a:spLocks noGrp="1"/>
          </p:cNvSpPr>
          <p:nvPr>
            <p:ph type="body" idx="1"/>
          </p:nvPr>
        </p:nvSpPr>
        <p:spPr>
          <a:xfrm>
            <a:off x="480325" y="1170125"/>
            <a:ext cx="11231400" cy="4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Pre-computation: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Generate tables/data structures before execution to speed up lookups.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Trades memory/space for time.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Example (8-Queens problem):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Only 92 valid solutions exist.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Store them in a 2D array solution[92][8].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a generator program to pre-fill this array.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Later, another program can quickly retrieve solutions from it.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Limitations: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Rarely applicable in modern programming contests.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 useful for most Complete Search problems.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Some exercises (at the end of section 2.2) can still benefit from it.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8a82980c7b_2_218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5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Try Solving the Problem Backwards</a:t>
            </a:r>
            <a:endParaRPr dirty="0"/>
          </a:p>
        </p:txBody>
      </p:sp>
      <p:sp>
        <p:nvSpPr>
          <p:cNvPr id="407" name="Google Shape;407;g38a82980c7b_2_218"/>
          <p:cNvSpPr txBox="1">
            <a:spLocks noGrp="1"/>
          </p:cNvSpPr>
          <p:nvPr>
            <p:ph type="body" idx="1"/>
          </p:nvPr>
        </p:nvSpPr>
        <p:spPr>
          <a:xfrm>
            <a:off x="146075" y="1170125"/>
            <a:ext cx="11880300" cy="545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Some problems are easier when solved “backwards” (unconventional angle) instead of the obvious way.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UVa 10360 – Rat Attack: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Descriptions: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1025x1025 grid where there are n &lt;= 20’000 rats across the cells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Find which cell (x, y) should be gas-bombed so that the number of rats killed in a square box (x-d, y-d) to (</a:t>
            </a:r>
            <a:r>
              <a:rPr lang="en-US" sz="2000" err="1"/>
              <a:t>x+d</a:t>
            </a:r>
            <a:r>
              <a:rPr lang="en-US" sz="2000"/>
              <a:t>, </a:t>
            </a:r>
            <a:r>
              <a:rPr lang="en-US" sz="2000" err="1"/>
              <a:t>y+d</a:t>
            </a:r>
            <a:r>
              <a:rPr lang="en-US" sz="2000"/>
              <a:t>) is maximized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 is power of gas-bomb (d &lt;= 50)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Naïve approach (frontal attack):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bomb every cell and count the kills with a O(1025^2 * d</a:t>
            </a:r>
            <a:r>
              <a:rPr lang="en-US" sz="2000" baseline="30000"/>
              <a:t>2</a:t>
            </a:r>
            <a:r>
              <a:rPr lang="en-US" sz="2000"/>
              <a:t>) scan (each cell in the bombing radius)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Worse case: 1025</a:t>
            </a:r>
            <a:r>
              <a:rPr lang="en-US" sz="2000" baseline="30000"/>
              <a:t>2</a:t>
            </a:r>
            <a:r>
              <a:rPr lang="en-US" sz="2000"/>
              <a:t>x50</a:t>
            </a:r>
            <a:r>
              <a:rPr lang="en-US" sz="2000" baseline="30000"/>
              <a:t>2</a:t>
            </a:r>
            <a:r>
              <a:rPr lang="en-US" sz="2000"/>
              <a:t> = ~2626 million or ~2.6 billions operations TLE!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Backward approach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Create array int killed[1025][1025]</a:t>
            </a:r>
            <a:endParaRPr sz="2000"/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/>
              <a:t>For each rat at (x, y) add 1 to killed[</a:t>
            </a:r>
            <a:r>
              <a:rPr lang="en-US" sz="2000" err="1"/>
              <a:t>i</a:t>
            </a:r>
            <a:r>
              <a:rPr lang="en-US" sz="2000"/>
              <a:t>][j] where |</a:t>
            </a:r>
            <a:r>
              <a:rPr lang="en-US" sz="2000" err="1"/>
              <a:t>i</a:t>
            </a:r>
            <a:r>
              <a:rPr lang="en-US" sz="2000"/>
              <a:t> - x| &lt;= d and |j - y| &lt;= d</a:t>
            </a:r>
            <a:endParaRPr sz="2000"/>
          </a:p>
          <a:p>
            <a:pPr marL="182880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O(n x d</a:t>
            </a:r>
            <a:r>
              <a:rPr lang="en-US" sz="2000" baseline="30000"/>
              <a:t>2</a:t>
            </a:r>
            <a:r>
              <a:rPr lang="en-US" sz="2000"/>
              <a:t>)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Find coordinate of highest entry in array killed in 1025</a:t>
            </a:r>
            <a:r>
              <a:rPr lang="en-US" sz="2000" baseline="30000"/>
              <a:t>2</a:t>
            </a:r>
            <a:r>
              <a:rPr lang="en-US" sz="2000"/>
              <a:t> operations</a:t>
            </a:r>
            <a:endParaRPr sz="200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Total is 20’000x50</a:t>
            </a:r>
            <a:r>
              <a:rPr lang="en-US" sz="2000" baseline="30000"/>
              <a:t>2</a:t>
            </a:r>
            <a:r>
              <a:rPr lang="en-US" sz="2000"/>
              <a:t>+1025</a:t>
            </a:r>
            <a:r>
              <a:rPr lang="en-US" sz="2000" baseline="30000"/>
              <a:t>2</a:t>
            </a:r>
            <a:r>
              <a:rPr lang="en-US" sz="2000"/>
              <a:t>=51Million operations for (n=20’000, d=50)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/>
              <a:t>Instead of iterating through all cells, you iterate through all rats.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/>
              <a:t>Since not every cell have rats</a:t>
            </a:r>
            <a:endParaRPr sz="2000"/>
          </a:p>
        </p:txBody>
      </p:sp>
      <p:pic>
        <p:nvPicPr>
          <p:cNvPr id="409" name="Google Shape;409;g38a82980c7b_2_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6593" y="4207422"/>
            <a:ext cx="20193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8a82980c7b_2_225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6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Data Compression</a:t>
            </a:r>
            <a:endParaRPr dirty="0"/>
          </a:p>
        </p:txBody>
      </p:sp>
      <p:sp>
        <p:nvSpPr>
          <p:cNvPr id="416" name="Google Shape;416;g38a82980c7b_2_225"/>
          <p:cNvSpPr txBox="1">
            <a:spLocks noGrp="1"/>
          </p:cNvSpPr>
          <p:nvPr>
            <p:ph type="body" idx="1"/>
          </p:nvPr>
        </p:nvSpPr>
        <p:spPr>
          <a:xfrm>
            <a:off x="494675" y="1170124"/>
            <a:ext cx="11231400" cy="545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Some problems disguise input constraints to look too big for Complete Search.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Careful reading can reveal remarks that shrink the search space.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Ex: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Given a multiset S of M = 100K integers, we want to know how many different integers that we can form if we pick two (not necessarily distinct) integers from S and sum them. 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content of multiset S is prime numbers not more than 20K.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Direct Method: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Try all possible O(M</a:t>
            </a:r>
            <a:r>
              <a:rPr lang="en-US" sz="2000" baseline="30000" dirty="0"/>
              <a:t>2</a:t>
            </a:r>
            <a:r>
              <a:rPr lang="en-US" sz="2000" dirty="0"/>
              <a:t>) pairs of integers and insert their sums into a hash table (O(1) per insertion)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Get TLE as M = 100K integers (100’000</a:t>
            </a:r>
            <a:r>
              <a:rPr lang="en-US" sz="2000" baseline="30000" dirty="0"/>
              <a:t>2</a:t>
            </a:r>
            <a:r>
              <a:rPr lang="en-US" sz="2000" dirty="0"/>
              <a:t> = 1 Trillion operations)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Key Observation: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 contains only prime numbers under 20K.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 Book 2 of the textbook we find that π(20’000) = 2262 (prime counting function)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Optimized Approach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There are only 2262 distinct prime numbers under 20K.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Do one O(M) data compression pass to ensure that each integer only has at most 2 copies</a:t>
            </a:r>
            <a:endParaRPr sz="2000" dirty="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i.e. N ≤ 2x2262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Do O(N</a:t>
            </a:r>
            <a:r>
              <a:rPr lang="en-US" sz="2000" baseline="30000" dirty="0"/>
              <a:t>2</a:t>
            </a:r>
            <a:r>
              <a:rPr lang="en-US" sz="2000" dirty="0"/>
              <a:t>) complete search as before but now is ~ 20.5M operations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8a82980c7b_2_302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3.2.3 Complete Search Tips – Tip 7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Optimizing Your Source Code Pt 1</a:t>
            </a:r>
            <a:endParaRPr/>
          </a:p>
        </p:txBody>
      </p:sp>
      <p:sp>
        <p:nvSpPr>
          <p:cNvPr id="424" name="Google Shape;424;g38a82980c7b_2_302"/>
          <p:cNvSpPr txBox="1">
            <a:spLocks noGrp="1"/>
          </p:cNvSpPr>
          <p:nvPr>
            <p:ph type="body" idx="1"/>
          </p:nvPr>
        </p:nvSpPr>
        <p:spPr>
          <a:xfrm>
            <a:off x="480325" y="1345025"/>
            <a:ext cx="11231400" cy="4829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By understanding your hardware and how it is organized, especially the I/O, memory, and cache </a:t>
            </a:r>
            <a:r>
              <a:rPr lang="en-US" sz="2000" dirty="0" err="1"/>
              <a:t>behaviour</a:t>
            </a:r>
            <a:r>
              <a:rPr lang="en-US" sz="2000" dirty="0"/>
              <a:t>, you can design better code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Book is biased towards C++ because C++ &gt; Java &gt; Python in terms of speed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Some contests give Java/Python extra time to account for this but it is never 100% fair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Use bit manipulation!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Much more efficient than index manipulation in an array of Booleans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200" dirty="0"/>
              <a:t>For Python, read all input first upfront before processing them in-memory and buffer output first before writing them out in one go, especially if the I/O is big.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Access a 2D array in a row-major fashion (row by row) rather than in a column-major fashion as multidimensional arrays are stored in a row-major order in memory. This will increase the probability of cache hit.</a:t>
            </a:r>
          </a:p>
          <a:p>
            <a:pPr indent="-355600">
              <a:spcBef>
                <a:spcPts val="0"/>
              </a:spcBef>
              <a:buSzPts val="2000"/>
              <a:buAutoNum type="arabicPeriod"/>
            </a:pPr>
            <a:endParaRPr sz="2200" dirty="0"/>
          </a:p>
        </p:txBody>
      </p:sp>
      <p:pic>
        <p:nvPicPr>
          <p:cNvPr id="2" name="Google Shape;435;g3816e0e644b_0_81">
            <a:extLst>
              <a:ext uri="{FF2B5EF4-FFF2-40B4-BE49-F238E27FC236}">
                <a16:creationId xmlns:a16="http://schemas.microsoft.com/office/drawing/2014/main" id="{965C9634-BE59-DF13-59F4-A165E23534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431" y="4551304"/>
            <a:ext cx="6077249" cy="22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816e0e644b_0_81"/>
          <p:cNvSpPr txBox="1">
            <a:spLocks noGrp="1"/>
          </p:cNvSpPr>
          <p:nvPr>
            <p:ph type="title"/>
          </p:nvPr>
        </p:nvSpPr>
        <p:spPr>
          <a:xfrm>
            <a:off x="2231125" y="228425"/>
            <a:ext cx="7729800" cy="9417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3.2.3 Complete Search Tips – Tip 7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Optimizing Your Source Code Pt 2</a:t>
            </a:r>
            <a:endParaRPr dirty="0"/>
          </a:p>
        </p:txBody>
      </p:sp>
      <p:sp>
        <p:nvSpPr>
          <p:cNvPr id="2" name="Google Shape;399;g38a82980c7b_2_211">
            <a:extLst>
              <a:ext uri="{FF2B5EF4-FFF2-40B4-BE49-F238E27FC236}">
                <a16:creationId xmlns:a16="http://schemas.microsoft.com/office/drawing/2014/main" id="{9BEF5C14-CEBE-74ED-7567-182C0CC4A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300" y="1345225"/>
            <a:ext cx="11229975" cy="540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/>
              <a:t>Use lower level data structures/types at all times if you do not need the extra functionality in the higher level (or larger) ones.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/>
              <a:t>When you have the option to write your code either iteratively or recursively, choose the iterative version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/>
              <a:t>Array access in (nested) loops can be slow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/>
              <a:t>If you frequently need A[</a:t>
            </a:r>
            <a:r>
              <a:rPr lang="en-US" sz="1800" err="1"/>
              <a:t>i</a:t>
            </a:r>
            <a:r>
              <a:rPr lang="en-US" sz="1800"/>
              <a:t>] (without changing it) in (nested) loops, you can use a local variable temp = A[</a:t>
            </a:r>
            <a:r>
              <a:rPr lang="en-US" sz="1800" err="1"/>
              <a:t>i</a:t>
            </a:r>
            <a:r>
              <a:rPr lang="en-US" sz="1800"/>
              <a:t>] and work with temp instead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/>
              <a:t>Careful with String manipulation as they are immutable (For a new string, it must be recreated from scratch)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/>
              <a:t>Better to use Python list (and join the list afterwards) if you require lots of modifications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/>
              <a:t>Browse the Internet or relevant books to find more information on how to speed up your code!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/>
              <a:t>Practice by choosing harder problems in UVa or Kattis where the best solution is not 0.000s. Submit variants and check runtime differences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/>
              <a:t>Adopt hacking modifications that consistently give you faster runtime.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/>
              <a:t>Use better data structures and algorithms!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/>
              <a:t>They will always outperform any micro optimizations.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/>
              <a:t>If you are sure that you have written your fastest Complete Search code, but it is still judged as TLE, perhaps explore other non-Complete search solutions. 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/>
              <a:t>For more information and tips relating to other languages, refer to the textbook</a:t>
            </a:r>
          </a:p>
          <a:p>
            <a:pPr indent="-355600">
              <a:spcBef>
                <a:spcPts val="0"/>
              </a:spcBef>
              <a:buSzPts val="2000"/>
            </a:pPr>
            <a:endParaRPr lang="en-US" sz="2000"/>
          </a:p>
          <a:p>
            <a:pPr lvl="0" indent="-355600">
              <a:spcBef>
                <a:spcPts val="0"/>
              </a:spcBef>
              <a:buSzPts val="2000"/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C0D135E-4E74-B8C6-E24C-17D496C9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074EF29-1AF2-76FA-6482-A11477468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3.3.1 Interesting Usages of Binary Search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4BF7036-97EE-8136-7F78-AFAFA5FB7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14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Used when a problem asks to find the "minimum possible maximum" or "maximum possible minimum" (e.g., minimizing the longest distance).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Prerequisite: The search space must be monotonic. If an answer 𝑥 is valid, then all values greater than 𝑥 (or less than 𝑥, depending on the problem) must also be valid.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Strategy: Instead of computing the exact answer directly, guess an answer 𝑚𝑖𝑑. Write a can(mid) function to check if 𝑚𝑖𝑑 is feasible (often using a greedy algorithm). Adjust the binary search bounds based on the result.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Built-in Library Functions: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Avoid writing manual binary search loops for standard array lookups to prevent off-by-one errors.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Python: Use bisect library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 err="1"/>
              <a:t>bisect_left</a:t>
            </a:r>
            <a:r>
              <a:rPr lang="en-US" sz="1800" dirty="0"/>
              <a:t>(</a:t>
            </a:r>
            <a:r>
              <a:rPr lang="en-US" sz="1800" dirty="0" err="1"/>
              <a:t>arr</a:t>
            </a:r>
            <a:r>
              <a:rPr lang="en-US" sz="1800" dirty="0"/>
              <a:t>, x): Returns the index of the first element that is greater than or equal to x. (If x is in the list, it returns the index of its first occurrence).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 err="1"/>
              <a:t>bisect_right</a:t>
            </a:r>
            <a:r>
              <a:rPr lang="en-US" sz="1800" dirty="0"/>
              <a:t>(</a:t>
            </a:r>
            <a:r>
              <a:rPr lang="en-US" sz="1800" dirty="0" err="1"/>
              <a:t>arr</a:t>
            </a:r>
            <a:r>
              <a:rPr lang="en-US" sz="1800" dirty="0"/>
              <a:t>, x): Returns the index of the first element that is strictly greater than x. (If x is in the list, it returns the index right after its last occurrence).</a:t>
            </a:r>
          </a:p>
          <a:p>
            <a:pPr lvl="1" indent="-355600">
              <a:spcBef>
                <a:spcPts val="0"/>
              </a:spcBef>
              <a:buSzPts val="2000"/>
            </a:pP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561FB3-0BF4-2462-D534-4B0D8140B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87" y="5001477"/>
            <a:ext cx="3772613" cy="185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C5F48FBC-909A-CD7C-B899-1A20DB42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9AA1391C-3C72-7398-41CA-4EB01513CA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Unimodal Functions in CP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Google Shape;224;g37c4946a550_0_194">
                <a:extLst>
                  <a:ext uri="{FF2B5EF4-FFF2-40B4-BE49-F238E27FC236}">
                    <a16:creationId xmlns:a16="http://schemas.microsoft.com/office/drawing/2014/main" id="{6AF869B8-0031-869B-43A8-81E653DCE65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4675" y="1096825"/>
                <a:ext cx="11231400" cy="3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/>
              <a:p>
                <a:pPr indent="-355600">
                  <a:spcBef>
                    <a:spcPts val="0"/>
                  </a:spcBef>
                  <a:buSzPts val="2000"/>
                </a:pPr>
                <a:r>
                  <a:rPr lang="en-CA" sz="2000" dirty="0"/>
                  <a:t>A function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sz="2000" dirty="0"/>
                  <a:t> that has a single, distinct global maximum (or minimum)</a:t>
                </a:r>
              </a:p>
              <a:p>
                <a:pPr indent="-355600">
                  <a:spcBef>
                    <a:spcPts val="0"/>
                  </a:spcBef>
                  <a:buSzPts val="2000"/>
                </a:pPr>
                <a:r>
                  <a:rPr lang="en-CA" sz="2000" dirty="0"/>
                  <a:t>It strictly increases to a peak, and then strictly decreases (or vice-versa). </a:t>
                </a:r>
              </a:p>
              <a:p>
                <a:pPr indent="-355600">
                  <a:spcBef>
                    <a:spcPts val="0"/>
                  </a:spcBef>
                  <a:buSzPts val="2000"/>
                </a:pPr>
                <a:r>
                  <a:rPr lang="en-CA" sz="2000" dirty="0"/>
                  <a:t>Mathematically, for a maximum peak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sz="20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CA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2000" dirty="0"/>
              </a:p>
              <a:p>
                <a:pPr lvl="1" indent="-355600">
                  <a:spcBef>
                    <a:spcPts val="0"/>
                  </a:spcBef>
                  <a:buSzPts val="2000"/>
                </a:pPr>
                <a:r>
                  <a:rPr lang="en-CA" dirty="0"/>
                  <a:t>If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CA" dirty="0"/>
                  <a:t>, then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CA" dirty="0"/>
              </a:p>
              <a:p>
                <a:pPr lvl="1" indent="-355600">
                  <a:spcBef>
                    <a:spcPts val="0"/>
                  </a:spcBef>
                  <a:buSzPts val="2000"/>
                </a:pPr>
                <a:r>
                  <a:rPr lang="en-CA" dirty="0"/>
                  <a:t>If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CA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/>
                  <a:t>, then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CA" dirty="0"/>
              </a:p>
              <a:p>
                <a:pPr indent="-355600">
                  <a:spcBef>
                    <a:spcPts val="0"/>
                  </a:spcBef>
                  <a:buSzPts val="2000"/>
                </a:pPr>
                <a:r>
                  <a:rPr lang="en-CA" sz="2000" dirty="0"/>
                  <a:t>Why do we care in CP?</a:t>
                </a:r>
              </a:p>
              <a:p>
                <a:pPr lvl="1" indent="-355600">
                  <a:spcBef>
                    <a:spcPts val="0"/>
                  </a:spcBef>
                  <a:buSzPts val="2000"/>
                </a:pPr>
                <a:r>
                  <a:rPr lang="en-CA" sz="1800" dirty="0"/>
                  <a:t>Binary search finds a specific target value in sorted data.</a:t>
                </a:r>
              </a:p>
              <a:p>
                <a:pPr lvl="1" indent="-355600">
                  <a:spcBef>
                    <a:spcPts val="0"/>
                  </a:spcBef>
                  <a:buSzPts val="2000"/>
                </a:pPr>
                <a:r>
                  <a:rPr lang="en-CA" sz="1800" dirty="0"/>
                  <a:t>Ternary search finds the optimal point (min or max) of a continuous unimodal function.</a:t>
                </a:r>
              </a:p>
              <a:p>
                <a:pPr indent="-355600">
                  <a:spcBef>
                    <a:spcPts val="0"/>
                  </a:spcBef>
                  <a:buSzPts val="2000"/>
                </a:pPr>
                <a:r>
                  <a:rPr lang="en-CA" sz="2000" dirty="0"/>
                  <a:t>Classic CP Examples:</a:t>
                </a:r>
              </a:p>
              <a:p>
                <a:pPr lvl="1" indent="-355600">
                  <a:spcBef>
                    <a:spcPts val="0"/>
                  </a:spcBef>
                  <a:buSzPts val="2000"/>
                </a:pPr>
                <a:r>
                  <a:rPr lang="en-CA" sz="1800" dirty="0"/>
                  <a:t>Physics/Geometry: Finding the optimal angle 𝜃 to launch a projectile to maximize distance under specific wind resistance models.</a:t>
                </a:r>
              </a:p>
              <a:p>
                <a:pPr lvl="1" indent="-355600">
                  <a:spcBef>
                    <a:spcPts val="0"/>
                  </a:spcBef>
                  <a:buSzPts val="2000"/>
                </a:pPr>
                <a:r>
                  <a:rPr lang="en-CA" sz="1800" dirty="0"/>
                  <a:t>Distance Minimization: Finding a point 𝑃 on a line segment that minimizes the sum of distances to two other fixed points 𝐴 and 𝐵</a:t>
                </a:r>
                <a:endParaRPr lang="en-CA" sz="2000" dirty="0"/>
              </a:p>
              <a:p>
                <a:pPr indent="-355600">
                  <a:spcBef>
                    <a:spcPts val="0"/>
                  </a:spcBef>
                  <a:buSzPts val="2000"/>
                </a:pPr>
                <a:endParaRPr sz="2000" dirty="0"/>
              </a:p>
            </p:txBody>
          </p:sp>
        </mc:Choice>
        <mc:Fallback xmlns="">
          <p:sp>
            <p:nvSpPr>
              <p:cNvPr id="224" name="Google Shape;224;g37c4946a550_0_194">
                <a:extLst>
                  <a:ext uri="{FF2B5EF4-FFF2-40B4-BE49-F238E27FC236}">
                    <a16:creationId xmlns:a16="http://schemas.microsoft.com/office/drawing/2014/main" id="{6AF869B8-0031-869B-43A8-81E653DCE65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4675" y="1096825"/>
                <a:ext cx="11231400" cy="3310200"/>
              </a:xfrm>
              <a:prstGeom prst="rect">
                <a:avLst/>
              </a:prstGeom>
              <a:blipFill>
                <a:blip r:embed="rId3"/>
                <a:stretch>
                  <a:fillRect t="-15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CD4352B-8AA2-0B25-211A-E5FB4920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165" y="4133910"/>
            <a:ext cx="5441023" cy="260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5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BAD3EB1B-DCDD-03EC-CAB6-8C390578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A955EB76-2F9E-BDFD-6601-A93DF79DA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3.3.2 Ternary Search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03BAA6C3-0E07-CFA6-5383-DC9C79969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23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A Divide and Conquer algorithm similar to Binary Search, but instead of splitting the search space into two parts, it splits it into three parts.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The Midpoints: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Splitting the space requires two midpoints instead of one: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mid1 = low + (high - low) / 3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mid2 = high - (high - low) / 3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The Logic (Finding a Maximum):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If f(mid1) &lt; f(mid2): The maximum cannot be in the left-most third. We discard the left third by setting low = mid1.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If f(mid1) &gt; f(mid2): The maximum cannot be in the right-most third. We discard the right third by setting high = mid2.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If f(mid1) == f(mid2): We can safely discard both the left-most and right-most thirds.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Complexity: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The search space is reduced by 1/3 each step.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Time Complexity: O(log₃ N).</a:t>
            </a:r>
          </a:p>
          <a:p>
            <a:pPr indent="-355600">
              <a:spcBef>
                <a:spcPts val="0"/>
              </a:spcBef>
              <a:buSzPts val="2000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07026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58E6985B-1093-7A9B-6FA6-4105A20A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C3D13391-293F-AE4D-F23B-954BDD1FB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5DB41FD-D6F2-C56E-D415-35B01F1FD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79276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</TotalTime>
  <Words>3191</Words>
  <Application>Microsoft Macintosh PowerPoint</Application>
  <PresentationFormat>Widescreen</PresentationFormat>
  <Paragraphs>281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Gill Sans</vt:lpstr>
      <vt:lpstr>Cambria Math</vt:lpstr>
      <vt:lpstr>Arial</vt:lpstr>
      <vt:lpstr>Parcel</vt:lpstr>
      <vt:lpstr>Parcel</vt:lpstr>
      <vt:lpstr>1_Parcel</vt:lpstr>
      <vt:lpstr>ICPC Bootcamp Day 2</vt:lpstr>
      <vt:lpstr>Understanding the Search Space</vt:lpstr>
      <vt:lpstr>The Monotonic Search Space</vt:lpstr>
      <vt:lpstr>3.2.1 Iterative Complete Search</vt:lpstr>
      <vt:lpstr>Template</vt:lpstr>
      <vt:lpstr>3.2.2 Recursive Complete Search</vt:lpstr>
      <vt:lpstr>Code Example: 8-Queens (Python)</vt:lpstr>
      <vt:lpstr>Code Example: 8-Queens (Python)</vt:lpstr>
      <vt:lpstr>3.2.3 Complete Search Tips – Tip 1 Filtering versus Generating</vt:lpstr>
      <vt:lpstr>3.2.3 Complete Search Tips – Tip 2 Prune Infeasible/Inferior Search Space Early</vt:lpstr>
      <vt:lpstr>3.2.3 Complete Search Tips – Tip 3 Utilize Symmetries</vt:lpstr>
      <vt:lpstr>3.2.3 Complete Search Tips – Tip 4 Pre-Computation a.k.a Pre-Calculation</vt:lpstr>
      <vt:lpstr>3.2.3 Complete Search Tips – Tip 5 Try Solving the Problem Backwards</vt:lpstr>
      <vt:lpstr>3.2.3 Complete Search Tips – Tip 6 Data Compression</vt:lpstr>
      <vt:lpstr>3.2.3 Complete Search Tips – Tip 7 Optimizing Your Source Code Pt 1</vt:lpstr>
      <vt:lpstr>3.2.3 Complete Search Tips – Tip 7 Optimizing Your Source Code Pt 2</vt:lpstr>
      <vt:lpstr>3.3.1 Interesting Usages of Binary Search</vt:lpstr>
      <vt:lpstr>Unimodal Functions in CP</vt:lpstr>
      <vt:lpstr>3.3.2 Ternary Search</vt:lpstr>
      <vt:lpstr>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Pelchat</dc:creator>
  <cp:lastModifiedBy>Ryan Pelchat</cp:lastModifiedBy>
  <cp:revision>42</cp:revision>
  <dcterms:created xsi:type="dcterms:W3CDTF">2025-09-06T15:13:09Z</dcterms:created>
  <dcterms:modified xsi:type="dcterms:W3CDTF">2026-08-19T13:32:51Z</dcterms:modified>
</cp:coreProperties>
</file>