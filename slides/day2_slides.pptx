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  <p:sldMasterId id="2147483662" r:id="rId3"/>
  </p:sldMasterIdLst>
  <p:notesMasterIdLst>
    <p:notesMasterId r:id="rId24"/>
  </p:notesMasterIdLst>
  <p:sldIdLst>
    <p:sldId id="256" r:id="rId4"/>
    <p:sldId id="306" r:id="rId5"/>
    <p:sldId id="307" r:id="rId6"/>
    <p:sldId id="301" r:id="rId7"/>
    <p:sldId id="302" r:id="rId8"/>
    <p:sldId id="304" r:id="rId9"/>
    <p:sldId id="303" r:id="rId10"/>
    <p:sldId id="305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85" r:id="rId20"/>
    <p:sldId id="309" r:id="rId21"/>
    <p:sldId id="308" r:id="rId22"/>
    <p:sldId id="310" r:id="rId23"/>
  </p:sldIdLst>
  <p:sldSz cx="12192000" cy="6858000"/>
  <p:notesSz cx="6858000" cy="9144000"/>
  <p:embeddedFontLst>
    <p:embeddedFont>
      <p:font typeface="Cambria Math" panose="02040503050406030204" pitchFamily="18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4" roundtripDataSignature="AMtx7mi14jFXTrCmS0u2hXQXGuC3zsnM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/>
    <p:restoredTop sz="81136"/>
  </p:normalViewPr>
  <p:slideViewPr>
    <p:cSldViewPr snapToGrid="0">
      <p:cViewPr varScale="1">
        <p:scale>
          <a:sx n="124" d="100"/>
          <a:sy n="124" d="100"/>
        </p:scale>
        <p:origin x="10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47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1.fntdata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4" Type="http://customschemas.google.com/relationships/presentationmetadata" Target="meta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1" name="Google Shape;10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300EE37A-895F-8CE6-3C18-0E3BB6562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94F59321-70E7-9DCD-FCFA-728DC3C3BE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AAF1D1A3-CC6F-95DA-D315-7DE7D02CF4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0FF94B46-4AD8-BA75-AF7E-C46BCA998A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88351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680CF953-4EC9-2A12-EA1C-647A69C54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5AD397D-396A-212A-1CBA-56C691800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67FEDBB8-F770-D3F3-1B46-B472148E64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25A83592-508E-D36A-E384-EA4A870B743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28445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8a82980c7b_2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0" name="Google Shape;330;g38a82980c7b_2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</a:t>
            </a:r>
            <a:r>
              <a:rPr lang="en-US" err="1"/>
              <a:t>wiki.python.org</a:t>
            </a:r>
            <a:r>
              <a:rPr lang="en-US"/>
              <a:t>/</a:t>
            </a:r>
            <a:r>
              <a:rPr lang="en-US" err="1"/>
              <a:t>moin</a:t>
            </a:r>
            <a:r>
              <a:rPr lang="en-US"/>
              <a:t>/</a:t>
            </a:r>
            <a:r>
              <a:rPr lang="en-US" err="1"/>
              <a:t>TimeComplexity</a:t>
            </a:r>
            <a:endParaRPr/>
          </a:p>
        </p:txBody>
      </p:sp>
      <p:sp>
        <p:nvSpPr>
          <p:cNvPr id="331" name="Google Shape;331;g38a82980c7b_2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BDBA8086-D206-9493-4AA3-866E658B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5BCB0D9B-05E8-9665-BD4D-662B5906F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9283243B-585C-A188-BF0B-9476D5F9C7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FF88E9BE-EDB3-3CD1-4784-74EA28CA2A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705912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0CFDEDD6-CC4A-9D17-7EB0-6D6A078C0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7CA4A8CB-A2BC-F024-5763-DE0F41DDF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7C343540-10C4-2EC8-98AD-04C60CBBDC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89063363-AC47-F188-40D2-EE24202C8D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968203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7E3CC550-5227-9930-3149-265F74D4B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34D75FF4-91A7-DE1C-280F-59176C33F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508AE2C7-375A-94EC-F746-4E0751D077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4CD690FE-151F-2AC3-437A-8A7137E196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7739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FB3744D2-8774-F78F-D1FF-3F78B8564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45A879B-C8A3-FD5B-5DF8-B7F3BA65BF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32E56A50-F254-9F04-2B26-7BC096A703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51208BC8-60FF-77D7-5202-2EA1884503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4812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8a82980c7b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7" name="Google Shape;367;g38a82980c7b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368" name="Google Shape;368;g38a82980c7b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8a82980c7b_2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g38a82980c7b_2_2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376" name="Google Shape;376;g38a82980c7b_2_20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8a82980c7b_2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g38a82980c7b_2_29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384" name="Google Shape;384;g38a82980c7b_2_29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8a82980c7b_2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5" name="Google Shape;395;g38a82980c7b_2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396" name="Google Shape;396;g38a82980c7b_2_2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8a82980c7b_2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3" name="Google Shape;403;g38a82980c7b_2_2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4" name="Google Shape;404;g38a82980c7b_2_2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8a82980c7b_2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g38a82980c7b_2_2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413" name="Google Shape;413;g38a82980c7b_2_2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8a82980c7b_2_3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0" name="Google Shape;420;g38a82980c7b_2_3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421" name="Google Shape;421;g38a82980c7b_2_30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816e0e644b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9" name="Google Shape;429;g3816e0e644b_0_8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430" name="Google Shape;430;g3816e0e644b_0_8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EB3FA6E6-50DD-EE87-D2F6-6B811849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142AB2D-8561-0EC3-A04D-B7005E3566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B26EA038-A49F-1922-B7A0-6928BA225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C8A862BC-0309-EB1D-DCE5-59604B8B6D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941319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25C8B69-260A-9809-B114-AE1967F4B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4887C06F-A781-2699-E33C-C1267EB029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09544089-2021-7081-F08E-BD9AE8EDF2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B4558013-D7D1-99D4-E219-C274565D86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48339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064C5B8D-EBE6-AE1A-6F87-7C7EC98D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8D44BEE4-8E5A-C854-A357-8ADD3E314C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7CE41932-E357-154D-1134-11BAE02380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59D04CE3-F87B-2234-DD2B-1A3F444785F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373326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9D0DE057-86EE-3F61-897A-86FAF4324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B4431AC-79DF-345D-9F57-BDE0EF3CB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8BEDD730-A279-F1FD-531F-43FB23B374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22290D2E-673E-0F02-B956-A5C6603DCE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45071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765563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860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536115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84372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078799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42040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89035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99515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5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85143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27998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610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411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243931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ime-counting_function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 dirty="0"/>
              <a:t>ICPC Bootcamp Day 2</a:t>
            </a:r>
            <a:endParaRPr dirty="0"/>
          </a:p>
        </p:txBody>
      </p:sp>
      <p:sp>
        <p:nvSpPr>
          <p:cNvPr id="104" name="Google Shape;104;p1"/>
          <p:cNvSpPr txBox="1"/>
          <p:nvPr/>
        </p:nvSpPr>
        <p:spPr>
          <a:xfrm>
            <a:off x="98507" y="2874195"/>
            <a:ext cx="7494095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Understanding the Search Space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Monotonic Search Space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3.2.1 Iterative Complete Search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2.2.3 Bitmask – Iterating Through Subsets with Bitmasks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Recursion Review 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3.2.2 Recursive Complete Search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Code Example: 8-Queens (Python)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3.2.3 Complete Search Tip 1 Filtering versus Generating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3.2.3 Complete Search Tip 2 Prune Infeasible/Inferior Search Space Early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3.2.3 Complete Search Tip 3 Utilize Symmetries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3.2.3 Complete Search Tip 4 Pre-Computation </a:t>
            </a:r>
            <a:r>
              <a:rPr lang="en-US" sz="1800" dirty="0" err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a.k.a</a:t>
            </a: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 Pre-Calculation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3.2.3 Complete Search Tip 5 Try Solving the Problem Backwards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3.2.3 Complete Search Tip 6 Data Compression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3.2.3 Complete Search Tip 7 Optimizing Your Source Code</a:t>
            </a:r>
          </a:p>
        </p:txBody>
      </p:sp>
      <p:sp>
        <p:nvSpPr>
          <p:cNvPr id="3" name="Google Shape;104;p1">
            <a:extLst>
              <a:ext uri="{FF2B5EF4-FFF2-40B4-BE49-F238E27FC236}">
                <a16:creationId xmlns:a16="http://schemas.microsoft.com/office/drawing/2014/main" id="{35C1C396-0B18-5489-3171-F800B9408780}"/>
              </a:ext>
            </a:extLst>
          </p:cNvPr>
          <p:cNvSpPr txBox="1"/>
          <p:nvPr/>
        </p:nvSpPr>
        <p:spPr>
          <a:xfrm>
            <a:off x="6074643" y="2874195"/>
            <a:ext cx="611735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3.3.1 Interesting Usages of Binary Search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Unimodal Functions in CP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3.3.2 Ternary 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64491CC5-F7F9-E15E-2BAD-0291F159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FFC05EE0-D4DF-6A49-4B91-65728A35F0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Understanding the Search Space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8BB878AF-06D8-6712-9D34-534387FFC0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081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Definition: 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The complete set of all possible candidate solutions to a given problem.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Discrete vs. Continuous: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Discrete: A finite set of options, such as all possible arrangements of an array, or all subsets of a bitmask.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Continuous: An infinite range of real numbers, such as finding the exact time a projectile hits the ground.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Navigation Strategies: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Complete Search: Exploring the entire search space one by one (or pruning bad branches early).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Divide and Conquer: Using algorithms to skip massive chunks of the search space at once (e.g., eliminating half the options per step).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The Goal in CP: To define the search space clearly and find the fastest algorithm to navigate it without triggering a Time Limit Exceeded (TLE) verdict.</a:t>
            </a:r>
          </a:p>
        </p:txBody>
      </p:sp>
    </p:spTree>
    <p:extLst>
      <p:ext uri="{BB962C8B-B14F-4D97-AF65-F5344CB8AC3E}">
        <p14:creationId xmlns:p14="http://schemas.microsoft.com/office/powerpoint/2010/main" val="3287284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0DC2EB6B-A9BE-CBAC-8659-B6FFBDADC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C4C6DDD5-E36E-2265-55D3-E013D98996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r>
              <a:rPr lang="en-CA" dirty="0"/>
              <a:t>The Monotonic Search Space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F2407B29-CBB1-796B-BA63-3324C3727D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081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What does "Monotonic" mean?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In computer science, a monotonic condition is one that transitions exactly once across a sorted search space.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Example: A </a:t>
            </a:r>
            <a:r>
              <a:rPr lang="en-US" sz="1800" dirty="0" err="1"/>
              <a:t>boolean</a:t>
            </a:r>
            <a:r>
              <a:rPr lang="en-US" sz="1800" dirty="0"/>
              <a:t> function </a:t>
            </a:r>
            <a:r>
              <a:rPr lang="en-US" sz="1800" dirty="0" err="1"/>
              <a:t>isValid</a:t>
            </a:r>
            <a:r>
              <a:rPr lang="en-US" sz="1800" dirty="0"/>
              <a:t>(x) that returns [False, False, False, True, True, True].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The Golden Rule of Binary Search: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You cannot use Binary Search unless your search space is monotonic relative to the question you are asking.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Why it matters: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If the space is [False, True, False, True], checking the middle element tells you absolutely nothing about where to look next.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If the space is monotonic, finding a True guarantees that everything to the right is also True (or vice versa). You can safely discard half of the search space in a single 𝑂(log⁡𝑁 ) operation.</a:t>
            </a:r>
          </a:p>
        </p:txBody>
      </p:sp>
    </p:spTree>
    <p:extLst>
      <p:ext uri="{BB962C8B-B14F-4D97-AF65-F5344CB8AC3E}">
        <p14:creationId xmlns:p14="http://schemas.microsoft.com/office/powerpoint/2010/main" val="26302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8a82980c7b_2_15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3.2.1 Iterative Complete Search</a:t>
            </a:r>
            <a:endParaRPr dirty="0"/>
          </a:p>
        </p:txBody>
      </p:sp>
      <p:sp>
        <p:nvSpPr>
          <p:cNvPr id="334" name="Google Shape;334;g38a82980c7b_2_15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Iterative Complete Search 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Nested Loops</a:t>
            </a:r>
            <a:endParaRPr sz="2000" dirty="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Try </a:t>
            </a:r>
            <a:r>
              <a:rPr lang="en-US" sz="2000" dirty="0" err="1"/>
              <a:t>em</a:t>
            </a:r>
            <a:r>
              <a:rPr lang="en-US" sz="2000" dirty="0"/>
              <a:t>’ all</a:t>
            </a:r>
            <a:endParaRPr sz="2000" dirty="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Loops + Pruning</a:t>
            </a:r>
            <a:endParaRPr sz="2000" dirty="0"/>
          </a:p>
          <a:p>
            <a:pPr marL="1371600" lvl="2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use if statements and short circuiting to skip loops</a:t>
            </a:r>
            <a:endParaRPr sz="2000" dirty="0"/>
          </a:p>
          <a:p>
            <a:pPr marL="1828800" lvl="3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bool expressions (X and Y) if X is False then Y isn’t checked</a:t>
            </a:r>
            <a:endParaRPr sz="2000" dirty="0"/>
          </a:p>
          <a:p>
            <a:pPr marL="1828800" lvl="3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bool expressions (X or Y) if X is True then Y isn’t checked</a:t>
            </a:r>
            <a:endParaRPr sz="2000" dirty="0"/>
          </a:p>
          <a:p>
            <a:pPr marL="1371600" lvl="2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use break/continue to stop/skip loops</a:t>
            </a:r>
            <a:endParaRPr sz="2000" dirty="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Permutations</a:t>
            </a:r>
            <a:endParaRPr sz="2000" dirty="0"/>
          </a:p>
          <a:p>
            <a:pPr marL="1371600" lvl="2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Python use </a:t>
            </a:r>
            <a:r>
              <a:rPr lang="en-US" sz="2000" dirty="0" err="1"/>
              <a:t>itertools</a:t>
            </a:r>
            <a:endParaRPr lang="en-US" sz="2000" dirty="0"/>
          </a:p>
          <a:p>
            <a:pPr lvl="1" indent="-355600">
              <a:lnSpc>
                <a:spcPct val="115000"/>
              </a:lnSpc>
              <a:spcBef>
                <a:spcPts val="0"/>
              </a:spcBef>
              <a:buSzPts val="2000"/>
            </a:pPr>
            <a:r>
              <a:rPr lang="en-US" sz="2000" dirty="0"/>
              <a:t>Subsets</a:t>
            </a:r>
          </a:p>
          <a:p>
            <a:pPr lvl="2" indent="-355600">
              <a:lnSpc>
                <a:spcPct val="115000"/>
              </a:lnSpc>
              <a:spcBef>
                <a:spcPts val="0"/>
              </a:spcBef>
              <a:buSzPts val="2000"/>
            </a:pPr>
            <a:r>
              <a:rPr lang="en-US" sz="2000" dirty="0"/>
              <a:t>use bitmasks</a:t>
            </a:r>
            <a:endParaRPr sz="2000" dirty="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Section 3.2.1 Works through an example for each of the above concepts, take a look!</a:t>
            </a:r>
            <a:endParaRPr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2007225A-D6A0-A4D0-C912-C0ACC6150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73834E7F-AF92-8EF8-9A34-11539FD1D1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C5F951A-D8DF-2B19-E0BB-20F8220F76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417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 Concept: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We can represent a subset of items using an integer (a bitmask). The </a:t>
            </a:r>
            <a:r>
              <a:rPr lang="en-US" sz="1800" err="1"/>
              <a:t>i-th</a:t>
            </a:r>
            <a:r>
              <a:rPr lang="en-US" sz="1800"/>
              <a:t> bit is 1 if the item is included, and 0 if it is not.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For a set of N items, simply iterating from 0 to 2^N - 1 generates all possible global subsets.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The </a:t>
            </a:r>
            <a:r>
              <a:rPr lang="en-US" sz="2000" err="1"/>
              <a:t>Submask</a:t>
            </a:r>
            <a:r>
              <a:rPr lang="en-US" sz="2000"/>
              <a:t> Problem: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What if you only want to find all subsets of an already existing subset (a </a:t>
            </a:r>
            <a:r>
              <a:rPr lang="en-US" sz="1800" err="1"/>
              <a:t>submask</a:t>
            </a:r>
            <a:r>
              <a:rPr lang="en-US" sz="1800"/>
              <a:t>)?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Iterating through all 2^N possibilities and filtering them is too slow.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The Bitwise Solution: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subset = (mask &amp; (subset - 1)) is the core logic.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Subtracting 1 from subset flips its lowest set bit to 0 and turns all lower 0s into 1s.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The bitwise &amp; with the original mask acts as a filter, instantly turning off any newly created 1s that don't belong to the parent mask.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Result: It generates every valid </a:t>
            </a:r>
            <a:r>
              <a:rPr lang="en-US" sz="1800" err="1"/>
              <a:t>submask</a:t>
            </a:r>
            <a:r>
              <a:rPr lang="en-US" sz="1800"/>
              <a:t> in strictly decreasing order (e.g., for mask = 18 or 10010, it perfectly yields 18, 16, 2, and 0) without wasting cycles on invalid states.</a:t>
            </a:r>
          </a:p>
          <a:p>
            <a:pPr indent="-355600">
              <a:spcBef>
                <a:spcPts val="0"/>
              </a:spcBef>
              <a:buSzPts val="2000"/>
            </a:pPr>
            <a:endParaRPr lang="en-US" sz="2000"/>
          </a:p>
          <a:p>
            <a:pPr lvl="1" indent="-355600">
              <a:spcBef>
                <a:spcPts val="0"/>
              </a:spcBef>
              <a:buSzPts val="2000"/>
            </a:pPr>
            <a:endParaRPr lang="en-US" sz="1800"/>
          </a:p>
        </p:txBody>
      </p:sp>
      <p:sp>
        <p:nvSpPr>
          <p:cNvPr id="2" name="Google Shape;341;g38a82980c7b_2_22">
            <a:extLst>
              <a:ext uri="{FF2B5EF4-FFF2-40B4-BE49-F238E27FC236}">
                <a16:creationId xmlns:a16="http://schemas.microsoft.com/office/drawing/2014/main" id="{E62E5824-712D-9C8B-FF92-ADF11E6E74AB}"/>
              </a:ext>
            </a:extLst>
          </p:cNvPr>
          <p:cNvSpPr txBox="1">
            <a:spLocks/>
          </p:cNvSpPr>
          <p:nvPr/>
        </p:nvSpPr>
        <p:spPr>
          <a:xfrm>
            <a:off x="1436225" y="218800"/>
            <a:ext cx="93483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en-US" dirty="0"/>
              <a:t>2.2.3 Bitmask – Iterating Through Subsets with Bitmasks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48DCDB-AF41-968E-5CA3-31B163237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0944673"/>
              </p:ext>
            </p:extLst>
          </p:nvPr>
        </p:nvGraphicFramePr>
        <p:xfrm>
          <a:off x="3888807" y="5181821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4868628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903421949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/>
                        <a:t>mask = 10 = 0b1010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091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subset 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mask &amp; (subset 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2623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0b1010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26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0b0111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573020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E22F39B-25F9-C037-B2FF-B94B14853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93" y="5376410"/>
            <a:ext cx="34544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04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13" end="1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141" end="2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237" end="2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258" end="3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343" end="4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415" end="4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437" end="4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487" end="57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575" end="7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charRg st="711" end="89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D7B05EDB-1DA0-3AFE-2703-F7AFA0A2A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CA1F0E7B-43E3-0C0A-2E01-3E046B4E08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Recursion Review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8E1379E-5FB2-E855-6079-F33982AFF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2946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Definition: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Programming technique where a function calls itself to solve smaller instances of the same problem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Two Golden Rules: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Base Case: Condition that stops the recursion. Without it, your program will crash with a Stack Overflow.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Recursive Step: The part where the function processes a piece of the data and calls itself with the remaining data, moving closer to the base case.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The Call Stack: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Each time a function calls itself, the computer pauses the current execution and pushes the new call onto the memory stack.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Once a base case is reached, the stack "unwinds," returning values back up the chain.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52C3AFC-F3F4-3F1B-EE75-09D97DD8D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137" y="4197529"/>
            <a:ext cx="5359400" cy="237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14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B44877E0-0172-F98F-D96E-773D648CB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0605BF2D-F323-90C0-2B36-4DBAAF6C4F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3.2.2 Recursive Complete Search</a:t>
            </a:r>
            <a:endParaRPr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E001AA60-F240-6BF7-D0B5-D5547A6D0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061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CA" sz="2000"/>
              <a:t>Also known as Backtracking. It models the search space as a tree and traverses it recursively.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CA" sz="2000"/>
              <a:t>When to use it: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/>
              <a:t>When the number of nested loops is not known in advance, making iterative approaches impossible.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CA" sz="2000"/>
              <a:t>Key Components: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/>
              <a:t>Base Case: The condition where a partial solution becomes a full valid solution (record or print it) or becomes invalid (terminate the recursion).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/>
              <a:t>Recursive Step: The loop that tries all possible candidates for the current state and makes recursive calls to go deeper.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/>
              <a:t>Filtering vs Generating: Backtracking generates solutions and stops exploring a branch the moment it becomes invalid, which is much faster than filtering all possibilities at the end.</a:t>
            </a:r>
          </a:p>
        </p:txBody>
      </p:sp>
    </p:spTree>
    <p:extLst>
      <p:ext uri="{BB962C8B-B14F-4D97-AF65-F5344CB8AC3E}">
        <p14:creationId xmlns:p14="http://schemas.microsoft.com/office/powerpoint/2010/main" val="674041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9F4F47ED-A440-8811-77BF-8083B84B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BDEA8412-3049-BCB3-3BFB-AC91BF627C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Code Example: 8-Queens (Python)</a:t>
            </a:r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9AEE5FC2-61B8-6175-8240-F8222B6DA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4946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US" sz="2000"/>
              <a:t>The Goal: Place 8 queens on an 8×8 board without them attacking each other[cite: 1].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/>
              <a:t>The Recursive State: </a:t>
            </a:r>
            <a:r>
              <a:rPr lang="en-US" sz="2000" err="1"/>
              <a:t>place_queen</a:t>
            </a:r>
            <a:r>
              <a:rPr lang="en-US" sz="2000"/>
              <a:t>(</a:t>
            </a:r>
            <a:r>
              <a:rPr lang="en-US" sz="2000" err="1"/>
              <a:t>column_index</a:t>
            </a:r>
            <a:r>
              <a:rPr lang="en-US" sz="2000"/>
              <a:t>)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/>
              <a:t>The Logic: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b="1"/>
              <a:t>Base Case</a:t>
            </a:r>
            <a:r>
              <a:rPr lang="en-US" sz="1800"/>
              <a:t>: If </a:t>
            </a:r>
            <a:r>
              <a:rPr lang="en-US" sz="1800" err="1"/>
              <a:t>column_index</a:t>
            </a:r>
            <a:r>
              <a:rPr lang="en-US" sz="1800"/>
              <a:t> == 8, all queens are placed. We found a valid arrangement[cite: 1]! Record it and return.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b="1"/>
              <a:t>Recursive Step</a:t>
            </a:r>
            <a:r>
              <a:rPr lang="en-US" sz="1800"/>
              <a:t>: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/>
              <a:t>Loop through rows 0 to 7.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/>
              <a:t>Check if placing a queen at (row, </a:t>
            </a:r>
            <a:r>
              <a:rPr lang="en-US" sz="1800" err="1"/>
              <a:t>column_index</a:t>
            </a:r>
            <a:r>
              <a:rPr lang="en-US" sz="1800"/>
              <a:t>) is safe.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/>
              <a:t>If safe, place the queen and recursively call </a:t>
            </a:r>
            <a:r>
              <a:rPr lang="en-US" sz="1800" err="1"/>
              <a:t>place_queen</a:t>
            </a:r>
            <a:r>
              <a:rPr lang="en-US" sz="1800"/>
              <a:t>(</a:t>
            </a:r>
            <a:r>
              <a:rPr lang="en-US" sz="1800" err="1"/>
              <a:t>column_index</a:t>
            </a:r>
            <a:r>
              <a:rPr lang="en-US" sz="1800"/>
              <a:t> + 1).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b="1"/>
              <a:t>Backtrack</a:t>
            </a:r>
            <a:r>
              <a:rPr lang="en-US" sz="1800"/>
              <a:t>: Remove the queen we just placed to try the next row in the loop.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167CEF-ECE4-ADA7-6FC8-E8361C796E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1418"/>
          <a:stretch>
            <a:fillRect/>
          </a:stretch>
        </p:blipFill>
        <p:spPr>
          <a:xfrm>
            <a:off x="6110375" y="3986437"/>
            <a:ext cx="5421330" cy="27258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48062B-07FE-2D24-36D6-193EC9D25E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8582"/>
          <a:stretch>
            <a:fillRect/>
          </a:stretch>
        </p:blipFill>
        <p:spPr>
          <a:xfrm>
            <a:off x="820115" y="4347170"/>
            <a:ext cx="4964821" cy="176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697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8a82980c7b_1_23"/>
          <p:cNvSpPr txBox="1">
            <a:spLocks noGrp="1"/>
          </p:cNvSpPr>
          <p:nvPr>
            <p:ph type="title"/>
          </p:nvPr>
        </p:nvSpPr>
        <p:spPr>
          <a:xfrm>
            <a:off x="2231125" y="228425"/>
            <a:ext cx="7729800" cy="9417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3.2.3 Complete Search Tips – Tip 1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Filtering versus Generating</a:t>
            </a:r>
            <a:endParaRPr dirty="0"/>
          </a:p>
        </p:txBody>
      </p:sp>
      <p:sp>
        <p:nvSpPr>
          <p:cNvPr id="371" name="Google Shape;371;g38a82980c7b_1_23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Filters: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Programs that examine lots of (if not all) candidate solutions and choose the ones that are correct (or remove the incorrect ones)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Usually iterative algorithms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Usually easier to code, but run slower due to difficulty in pruning more of the search space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ex. The naïve 8-Queen solution is to generate all combinations </a:t>
            </a:r>
            <a:r>
              <a:rPr lang="en-US" sz="2000" baseline="-25000"/>
              <a:t>64</a:t>
            </a:r>
            <a:r>
              <a:rPr lang="en-US" sz="2000"/>
              <a:t>C</a:t>
            </a:r>
            <a:r>
              <a:rPr lang="en-US" sz="2000" baseline="-25000"/>
              <a:t>8</a:t>
            </a:r>
            <a:r>
              <a:rPr lang="en-US" sz="2000"/>
              <a:t> (8</a:t>
            </a:r>
            <a:r>
              <a:rPr lang="en-US" sz="2000" baseline="30000"/>
              <a:t>8</a:t>
            </a:r>
            <a:r>
              <a:rPr lang="en-US" sz="2000"/>
              <a:t>)</a:t>
            </a:r>
            <a:endParaRPr sz="2000" i="1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Generators: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Gradually build the solutions and immediately prune invalid partial solutions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Usually recursive algorithms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ex. The recursing 8-Queen solution that prunes as it generates solutions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8a82980c7b_2_204"/>
          <p:cNvSpPr txBox="1">
            <a:spLocks noGrp="1"/>
          </p:cNvSpPr>
          <p:nvPr>
            <p:ph type="title"/>
          </p:nvPr>
        </p:nvSpPr>
        <p:spPr>
          <a:xfrm>
            <a:off x="2231125" y="228425"/>
            <a:ext cx="7729800" cy="9417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3.2.3 Complete Search Tips – Tip 2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Prune Infeasible/Inferior Search Space Early</a:t>
            </a:r>
            <a:endParaRPr dirty="0"/>
          </a:p>
        </p:txBody>
      </p:sp>
      <p:sp>
        <p:nvSpPr>
          <p:cNvPr id="379" name="Google Shape;379;g38a82980c7b_2_204"/>
          <p:cNvSpPr txBox="1">
            <a:spLocks noGrp="1"/>
          </p:cNvSpPr>
          <p:nvPr>
            <p:ph type="body" idx="1"/>
          </p:nvPr>
        </p:nvSpPr>
        <p:spPr>
          <a:xfrm>
            <a:off x="480325" y="1257775"/>
            <a:ext cx="11231400" cy="46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When generating solutions using recursive backtracking (see tip above), we may encounter a partial solution that will never lead to a full solution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Prune the search there and explore other parts of the search space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Ex. In the queens problem, as soon as you find 2 queens “attacking” each other, you don’t have to explore that solution further (2 queens in same column, row, or diagonal)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Rule of thumb, the earlier you can prune the search space, the better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other problems, we may be able to compute the ‘potential worth’ of a partial (and still valid) solution. 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the potential worth is inferior to the worth of the current best found valid solution so far, we can prune the search there.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8a82980c7b_2_295"/>
          <p:cNvSpPr txBox="1">
            <a:spLocks noGrp="1"/>
          </p:cNvSpPr>
          <p:nvPr>
            <p:ph type="title"/>
          </p:nvPr>
        </p:nvSpPr>
        <p:spPr>
          <a:xfrm>
            <a:off x="2231125" y="228425"/>
            <a:ext cx="7729800" cy="9417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3.2.3 Complete Search Tips – Tip 3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Utilize Symmetries</a:t>
            </a:r>
            <a:endParaRPr dirty="0"/>
          </a:p>
        </p:txBody>
      </p:sp>
      <p:sp>
        <p:nvSpPr>
          <p:cNvPr id="387" name="Google Shape;387;g38a82980c7b_2_295"/>
          <p:cNvSpPr txBox="1">
            <a:spLocks noGrp="1"/>
          </p:cNvSpPr>
          <p:nvPr>
            <p:ph type="body" idx="1"/>
          </p:nvPr>
        </p:nvSpPr>
        <p:spPr>
          <a:xfrm>
            <a:off x="480325" y="1170125"/>
            <a:ext cx="11231400" cy="46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Some problems have symmetries that can be exploited to reduce execution time.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8-Queens example: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Total solutions = 92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Unique (fundamental) solutions = 12 (due to rotational and reflection symmetries)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Strategy: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Generate only the 12 unique solutions.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Derive the full 92 by applying rotations/reflections.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Caution: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Considering symmetries may complicate code.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competitive programming, shorter/cleaner code is usually better (fewer bugs).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symmetry handling doesn’t give significant benefit, it’s best to ignore it.</a:t>
            </a:r>
            <a:endParaRPr sz="2000"/>
          </a:p>
        </p:txBody>
      </p:sp>
      <p:pic>
        <p:nvPicPr>
          <p:cNvPr id="389" name="Google Shape;389;g38a82980c7b_2_2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96400" y="2510233"/>
            <a:ext cx="1099850" cy="122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g38a82980c7b_2_2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419950" y="2510233"/>
            <a:ext cx="1099850" cy="122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g38a82980c7b_2_2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9643538" y="2448770"/>
            <a:ext cx="1099850" cy="122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g38a82980c7b_2_2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10867125" y="2510220"/>
            <a:ext cx="1099850" cy="122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8a82980c7b_2_211"/>
          <p:cNvSpPr txBox="1">
            <a:spLocks noGrp="1"/>
          </p:cNvSpPr>
          <p:nvPr>
            <p:ph type="title"/>
          </p:nvPr>
        </p:nvSpPr>
        <p:spPr>
          <a:xfrm>
            <a:off x="2231125" y="228425"/>
            <a:ext cx="7729800" cy="9417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3.2.3 Complete Search Tips – Tip 4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Pre-Computation </a:t>
            </a:r>
            <a:r>
              <a:rPr lang="en-US" dirty="0" err="1"/>
              <a:t>a.k.a</a:t>
            </a:r>
            <a:r>
              <a:rPr lang="en-US" dirty="0"/>
              <a:t> Pre-Calculation</a:t>
            </a:r>
            <a:endParaRPr dirty="0"/>
          </a:p>
        </p:txBody>
      </p:sp>
      <p:sp>
        <p:nvSpPr>
          <p:cNvPr id="399" name="Google Shape;399;g38a82980c7b_2_211"/>
          <p:cNvSpPr txBox="1">
            <a:spLocks noGrp="1"/>
          </p:cNvSpPr>
          <p:nvPr>
            <p:ph type="body" idx="1"/>
          </p:nvPr>
        </p:nvSpPr>
        <p:spPr>
          <a:xfrm>
            <a:off x="480325" y="1170125"/>
            <a:ext cx="11231400" cy="46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Pre-computation: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Generate tables/data structures before execution to speed up lookups.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Trades memory/space for time.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Example (8-Queens problem):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Only 92 valid solutions exist.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Store them in a 2D array solution[92][8].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Use a generator program to pre-fill this array.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Later, another program can quickly retrieve solutions from it.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Limitations: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Rarely applicable in modern programming contests.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Not useful for most Complete Search problems.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Some exercises (at the end of section 2.2) can still benefit from it.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8a82980c7b_2_218"/>
          <p:cNvSpPr txBox="1">
            <a:spLocks noGrp="1"/>
          </p:cNvSpPr>
          <p:nvPr>
            <p:ph type="title"/>
          </p:nvPr>
        </p:nvSpPr>
        <p:spPr>
          <a:xfrm>
            <a:off x="2231125" y="228425"/>
            <a:ext cx="7729800" cy="9417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3.2.3 Complete Search Tips – Tip 5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Try Solving the Problem Backwards</a:t>
            </a:r>
            <a:endParaRPr dirty="0"/>
          </a:p>
        </p:txBody>
      </p:sp>
      <p:sp>
        <p:nvSpPr>
          <p:cNvPr id="407" name="Google Shape;407;g38a82980c7b_2_218"/>
          <p:cNvSpPr txBox="1">
            <a:spLocks noGrp="1"/>
          </p:cNvSpPr>
          <p:nvPr>
            <p:ph type="body" idx="1"/>
          </p:nvPr>
        </p:nvSpPr>
        <p:spPr>
          <a:xfrm>
            <a:off x="146075" y="1170125"/>
            <a:ext cx="11880300" cy="545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Some problems are easier when solved “backwards” (unconventional angle) instead of the obvious way.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Ex: UVa 10360 – Rat Attack: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Descriptions:</a:t>
            </a:r>
            <a:endParaRPr sz="200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1025x1025 grid where there are n &lt;= 20’000 rats across the cells</a:t>
            </a:r>
            <a:endParaRPr sz="200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Find which cell (x, y) should be gas-bombed so that the number of rats killed in a square box (x-d, y-d) to (</a:t>
            </a:r>
            <a:r>
              <a:rPr lang="en-US" sz="2000" err="1"/>
              <a:t>x+d</a:t>
            </a:r>
            <a:r>
              <a:rPr lang="en-US" sz="2000"/>
              <a:t>, </a:t>
            </a:r>
            <a:r>
              <a:rPr lang="en-US" sz="2000" err="1"/>
              <a:t>y+d</a:t>
            </a:r>
            <a:r>
              <a:rPr lang="en-US" sz="2000"/>
              <a:t>) is maximized</a:t>
            </a:r>
            <a:endParaRPr sz="200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 is power of gas-bomb (d &lt;= 50)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Naïve approach (frontal attack):</a:t>
            </a:r>
            <a:endParaRPr sz="200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Let’s bomb every cell and count the kills with a O(1025^2 * d</a:t>
            </a:r>
            <a:r>
              <a:rPr lang="en-US" sz="2000" baseline="30000"/>
              <a:t>2</a:t>
            </a:r>
            <a:r>
              <a:rPr lang="en-US" sz="2000"/>
              <a:t>) scan (each cell in the bombing radius)</a:t>
            </a:r>
            <a:endParaRPr sz="200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Worse case: 1025</a:t>
            </a:r>
            <a:r>
              <a:rPr lang="en-US" sz="2000" baseline="30000"/>
              <a:t>2</a:t>
            </a:r>
            <a:r>
              <a:rPr lang="en-US" sz="2000"/>
              <a:t>x50</a:t>
            </a:r>
            <a:r>
              <a:rPr lang="en-US" sz="2000" baseline="30000"/>
              <a:t>2</a:t>
            </a:r>
            <a:r>
              <a:rPr lang="en-US" sz="2000"/>
              <a:t> = ~2626 million or ~2.6 billions operations TLE!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Backward approach</a:t>
            </a:r>
            <a:endParaRPr sz="200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Create array int killed[1025][1025]</a:t>
            </a:r>
            <a:endParaRPr sz="2000"/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/>
              <a:t>For each rat at (x, y) add 1 to killed[</a:t>
            </a:r>
            <a:r>
              <a:rPr lang="en-US" sz="2000" err="1"/>
              <a:t>i</a:t>
            </a:r>
            <a:r>
              <a:rPr lang="en-US" sz="2000"/>
              <a:t>][j] where |</a:t>
            </a:r>
            <a:r>
              <a:rPr lang="en-US" sz="2000" err="1"/>
              <a:t>i</a:t>
            </a:r>
            <a:r>
              <a:rPr lang="en-US" sz="2000"/>
              <a:t> - x| &lt;= d and |j - y| &lt;= d</a:t>
            </a:r>
            <a:endParaRPr sz="2000"/>
          </a:p>
          <a:p>
            <a:pPr marL="1828800" lvl="3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O(n x d</a:t>
            </a:r>
            <a:r>
              <a:rPr lang="en-US" sz="2000" baseline="30000"/>
              <a:t>2</a:t>
            </a:r>
            <a:r>
              <a:rPr lang="en-US" sz="2000"/>
              <a:t>)</a:t>
            </a:r>
            <a:endParaRPr sz="200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Find coordinate of highest entry in array killed in 1025</a:t>
            </a:r>
            <a:r>
              <a:rPr lang="en-US" sz="2000" baseline="30000"/>
              <a:t>2</a:t>
            </a:r>
            <a:r>
              <a:rPr lang="en-US" sz="2000"/>
              <a:t> operations</a:t>
            </a:r>
            <a:endParaRPr sz="2000"/>
          </a:p>
          <a:p>
            <a:pPr marL="1371600" lvl="2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Total is 20’000x50</a:t>
            </a:r>
            <a:r>
              <a:rPr lang="en-US" sz="2000" baseline="30000"/>
              <a:t>2</a:t>
            </a:r>
            <a:r>
              <a:rPr lang="en-US" sz="2000"/>
              <a:t>+1025</a:t>
            </a:r>
            <a:r>
              <a:rPr lang="en-US" sz="2000" baseline="30000"/>
              <a:t>2</a:t>
            </a:r>
            <a:r>
              <a:rPr lang="en-US" sz="2000"/>
              <a:t>=51Million operations for (n=20’000, d=50)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/>
              <a:t>Instead of iterating through all cells, you iterate through all rats.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/>
              <a:t>Since not every cell have rats</a:t>
            </a:r>
            <a:endParaRPr sz="2000"/>
          </a:p>
        </p:txBody>
      </p:sp>
      <p:pic>
        <p:nvPicPr>
          <p:cNvPr id="409" name="Google Shape;409;g38a82980c7b_2_2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96593" y="4207422"/>
            <a:ext cx="2019300" cy="2276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8a82980c7b_2_225"/>
          <p:cNvSpPr txBox="1">
            <a:spLocks noGrp="1"/>
          </p:cNvSpPr>
          <p:nvPr>
            <p:ph type="title"/>
          </p:nvPr>
        </p:nvSpPr>
        <p:spPr>
          <a:xfrm>
            <a:off x="2231125" y="228425"/>
            <a:ext cx="7729800" cy="9417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3.2.3 Complete Search Tips – Tip 6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Data Compression</a:t>
            </a:r>
            <a:endParaRPr dirty="0"/>
          </a:p>
        </p:txBody>
      </p:sp>
      <p:sp>
        <p:nvSpPr>
          <p:cNvPr id="416" name="Google Shape;416;g38a82980c7b_2_225"/>
          <p:cNvSpPr txBox="1">
            <a:spLocks noGrp="1"/>
          </p:cNvSpPr>
          <p:nvPr>
            <p:ph type="body" idx="1"/>
          </p:nvPr>
        </p:nvSpPr>
        <p:spPr>
          <a:xfrm>
            <a:off x="494675" y="1170125"/>
            <a:ext cx="11231400" cy="46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Some problems disguise input constraints to look too big for Complete Search.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Careful reading can reveal remarks that shrink the search space.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Ex: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Given a multiset S of M = 100K integers, we want to know how many different integers that we can form if we pick two (not necessarily distinct) integers from S and sum them. 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 content of multiset S is prime numbers not more than 20K. 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Direct Method: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Try all possible O(M</a:t>
            </a:r>
            <a:r>
              <a:rPr lang="en-US" sz="2000" baseline="30000"/>
              <a:t>2</a:t>
            </a:r>
            <a:r>
              <a:rPr lang="en-US" sz="2000"/>
              <a:t>) pairs of integers and insert their sums into a hash table (O(1) per insertion)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Get TLE as M = 100K integers (100’000</a:t>
            </a:r>
            <a:r>
              <a:rPr lang="en-US" sz="2000" baseline="30000"/>
              <a:t>2</a:t>
            </a:r>
            <a:r>
              <a:rPr lang="en-US" sz="2000"/>
              <a:t> = 1 Trillion operations)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Key Observation: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 contains only prime numbers under 20K.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Book 2 of the textbook we find that π (20’000) = 2262 (prime counting function)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Optimized Approach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There are only 2262 distinct prime numbers under 20K.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Do one O(M) data compression pass to ensure that each integer only has at most 2 copies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i.e. N ≤  2x2262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Do O(N</a:t>
            </a:r>
            <a:r>
              <a:rPr lang="en-US" sz="2000" baseline="30000"/>
              <a:t>2</a:t>
            </a:r>
            <a:r>
              <a:rPr lang="en-US" sz="2000"/>
              <a:t>) complete search as before but now is ~ 20.5M operations</a:t>
            </a:r>
            <a:endParaRPr sz="2000"/>
          </a:p>
        </p:txBody>
      </p:sp>
      <p:sp>
        <p:nvSpPr>
          <p:cNvPr id="417" name="Google Shape;417;g38a82980c7b_2_225"/>
          <p:cNvSpPr txBox="1"/>
          <p:nvPr/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marR="0" lvl="0" indent="-355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BAFB5"/>
              </a:buClr>
              <a:buSzPts val="2000"/>
              <a:buFont typeface="Arial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"/>
                <a:ea typeface="Gill Sans"/>
                <a:cs typeface="Gill Sans"/>
                <a:sym typeface="Gill Sans"/>
              </a:rPr>
              <a:t>Sources: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  <a:p>
            <a:pPr marL="914400" marR="0" lvl="1" indent="-355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  <a:tabLst/>
              <a:defRPr/>
            </a:pPr>
            <a:r>
              <a: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"/>
                <a:ea typeface="Gill Sans"/>
                <a:cs typeface="Gill Sans"/>
                <a:sym typeface="Gill Sans"/>
              </a:rPr>
              <a:t>Competitive Programming 4 Section 3.2.3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  <a:p>
            <a:pPr marL="914400" marR="0" lvl="1" indent="-355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Gill Sans"/>
              <a:buChar char="•"/>
              <a:tabLst/>
              <a:defRPr/>
            </a:pPr>
            <a:r>
              <a:rPr kumimoji="0" lang="en-US" sz="2000" b="0" i="0" u="sng" strike="noStrike" kern="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Gill Sans"/>
                <a:ea typeface="Gill Sans"/>
                <a:cs typeface="Gill Sans"/>
                <a:sym typeface="Gill Sans"/>
                <a:hlinkClick r:id="rId3"/>
              </a:rPr>
              <a:t>https://en.wikipedia.org/wiki/Prime-counting_function</a:t>
            </a:r>
            <a:r>
              <a: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"/>
                <a:ea typeface="Gill Sans"/>
                <a:cs typeface="Gill Sans"/>
                <a:sym typeface="Gill Sans"/>
              </a:rPr>
              <a:t> 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8a82980c7b_2_302"/>
          <p:cNvSpPr txBox="1">
            <a:spLocks noGrp="1"/>
          </p:cNvSpPr>
          <p:nvPr>
            <p:ph type="title"/>
          </p:nvPr>
        </p:nvSpPr>
        <p:spPr>
          <a:xfrm>
            <a:off x="2231125" y="228425"/>
            <a:ext cx="7729800" cy="9417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3.2.3 Complete Search Tips – Tip 7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Optimizing Your Source Code Pt 1</a:t>
            </a:r>
            <a:endParaRPr/>
          </a:p>
        </p:txBody>
      </p:sp>
      <p:sp>
        <p:nvSpPr>
          <p:cNvPr id="424" name="Google Shape;424;g38a82980c7b_2_302"/>
          <p:cNvSpPr txBox="1">
            <a:spLocks noGrp="1"/>
          </p:cNvSpPr>
          <p:nvPr>
            <p:ph type="body" idx="1"/>
          </p:nvPr>
        </p:nvSpPr>
        <p:spPr>
          <a:xfrm>
            <a:off x="480325" y="1345025"/>
            <a:ext cx="11231400" cy="4829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By understanding your hardware and how it is organized, especially the I/O, memory, and cache </a:t>
            </a:r>
            <a:r>
              <a:rPr lang="en-US" sz="2000" dirty="0" err="1"/>
              <a:t>behaviour</a:t>
            </a:r>
            <a:r>
              <a:rPr lang="en-US" sz="2000" dirty="0"/>
              <a:t>, you can design better code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Book is biased towards C++ because C++ &gt; Java &gt; Python in terms of speed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Some contests give Java/Python extra time to account for this but it is never 100% fair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Use bit manipulation!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Much more efficient than index manipulation in an array of Booleans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200" dirty="0"/>
              <a:t>For Python, read all input first upfront before processing them in-memory and buffer output first before writing them out in one go, especially if the I/O is big.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Access a 2D array in a row-major fashion (row by row) rather than in a column-major fashion as multidimensional arrays are stored in a row-major order in memory. This will increase the probability of cache hit.</a:t>
            </a:r>
          </a:p>
          <a:p>
            <a:pPr indent="-355600">
              <a:spcBef>
                <a:spcPts val="0"/>
              </a:spcBef>
              <a:buSzPts val="2000"/>
              <a:buAutoNum type="arabicPeriod"/>
            </a:pPr>
            <a:endParaRPr sz="2200" dirty="0"/>
          </a:p>
        </p:txBody>
      </p:sp>
      <p:pic>
        <p:nvPicPr>
          <p:cNvPr id="2" name="Google Shape;435;g3816e0e644b_0_81">
            <a:extLst>
              <a:ext uri="{FF2B5EF4-FFF2-40B4-BE49-F238E27FC236}">
                <a16:creationId xmlns:a16="http://schemas.microsoft.com/office/drawing/2014/main" id="{965C9634-BE59-DF13-59F4-A165E235342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60431" y="4551304"/>
            <a:ext cx="6077249" cy="220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816e0e644b_0_81"/>
          <p:cNvSpPr txBox="1">
            <a:spLocks noGrp="1"/>
          </p:cNvSpPr>
          <p:nvPr>
            <p:ph type="title"/>
          </p:nvPr>
        </p:nvSpPr>
        <p:spPr>
          <a:xfrm>
            <a:off x="2231125" y="228425"/>
            <a:ext cx="7729800" cy="9417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3.2.3 Complete Search Tips – Tip 7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Optimizing Your Source Code Pt 2</a:t>
            </a:r>
            <a:endParaRPr dirty="0"/>
          </a:p>
        </p:txBody>
      </p:sp>
      <p:sp>
        <p:nvSpPr>
          <p:cNvPr id="2" name="Google Shape;399;g38a82980c7b_2_211">
            <a:extLst>
              <a:ext uri="{FF2B5EF4-FFF2-40B4-BE49-F238E27FC236}">
                <a16:creationId xmlns:a16="http://schemas.microsoft.com/office/drawing/2014/main" id="{9BEF5C14-CEBE-74ED-7567-182C0CC4A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0300" y="1345225"/>
            <a:ext cx="11229975" cy="540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US" sz="2000"/>
              <a:t>Use lower level data structures/types at all times if you do not need the extra functionality in the higher level (or larger) ones.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When you have the option to write your code either iteratively or recursively, choose the iterative version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/>
              <a:t>Array access in (nested) loops can be slow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If you frequently need A[</a:t>
            </a:r>
            <a:r>
              <a:rPr lang="en-US" sz="1800" err="1"/>
              <a:t>i</a:t>
            </a:r>
            <a:r>
              <a:rPr lang="en-US" sz="1800"/>
              <a:t>] (without changing it) in (nested) loops, you can use a local variable temp = A[</a:t>
            </a:r>
            <a:r>
              <a:rPr lang="en-US" sz="1800" err="1"/>
              <a:t>i</a:t>
            </a:r>
            <a:r>
              <a:rPr lang="en-US" sz="1800"/>
              <a:t>] and work with temp instead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Careful with String manipulation as they are immutable (For a new string, it must be recreated from scratch)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Better to use Python list (and join the list afterwards) if you require lots of modifications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Browse the Internet or relevant books to find more information on how to speed up your code!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Practice by choosing harder problems in UVa or Kattis where the best solution is not 0.000s. Submit variants and check runtime differences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Adopt hacking modifications that consistently give you faster runtime.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Use better data structures and algorithms!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/>
              <a:t>They will always outperform any micro optimizations.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If you are sure that you have written your fastest Complete Search code, but it is still judged as TLE, perhaps explore other non-Complete search solutions. 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/>
              <a:t>For more information and tips relating to other languages, refer to the textbook</a:t>
            </a:r>
          </a:p>
          <a:p>
            <a:pPr indent="-355600">
              <a:spcBef>
                <a:spcPts val="0"/>
              </a:spcBef>
              <a:buSzPts val="2000"/>
            </a:pPr>
            <a:endParaRPr lang="en-US" sz="2000"/>
          </a:p>
          <a:p>
            <a:pPr lvl="0" indent="-355600">
              <a:spcBef>
                <a:spcPts val="0"/>
              </a:spcBef>
              <a:buSzPts val="2000"/>
            </a:pPr>
            <a:endParaRPr lang="en-US"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AC0D135E-4E74-B8C6-E24C-17D496C9C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F074EF29-1AF2-76FA-6482-A114774680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3.3.1 Interesting Usages of Binary Search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4BF7036-97EE-8136-7F78-AFAFA5FB76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149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Used when a problem asks to find the "minimum possible maximum" or "maximum possible minimum" (e.g., minimizing the longest distance).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The Prerequisite: The search space must be monotonic. If an answer 𝑥 is valid, then all values greater than 𝑥 (or less than 𝑥, depending on the problem) must also be valid.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The Strategy: Instead of computing the exact answer directly, guess an answer 𝑚𝑖𝑑. Write a can(mid) function to check if 𝑚𝑖𝑑 is feasible (often using a greedy algorithm). Adjust the binary search bounds based on the result.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Built-in Library Functions:</a:t>
            </a:r>
          </a:p>
          <a:p>
            <a:pPr lvl="0" indent="-355600">
              <a:spcBef>
                <a:spcPts val="0"/>
              </a:spcBef>
              <a:buSzPts val="2000"/>
            </a:pPr>
            <a:r>
              <a:rPr lang="en-US" sz="2000" dirty="0"/>
              <a:t>Avoid writing manual binary search loops for standard array lookups to prevent off-by-one errors.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Python: Use bisect library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 err="1"/>
              <a:t>bisect_left</a:t>
            </a:r>
            <a:r>
              <a:rPr lang="en-US" sz="1800" dirty="0"/>
              <a:t>(</a:t>
            </a:r>
            <a:r>
              <a:rPr lang="en-US" sz="1800" dirty="0" err="1"/>
              <a:t>arr</a:t>
            </a:r>
            <a:r>
              <a:rPr lang="en-US" sz="1800" dirty="0"/>
              <a:t>, x): Returns the index of the first element that is greater than or equal to x. (If x is in the list, it returns the index of its first occurrence).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 err="1"/>
              <a:t>bisect_right</a:t>
            </a:r>
            <a:r>
              <a:rPr lang="en-US" sz="1800" dirty="0"/>
              <a:t>(</a:t>
            </a:r>
            <a:r>
              <a:rPr lang="en-US" sz="1800" dirty="0" err="1"/>
              <a:t>arr</a:t>
            </a:r>
            <a:r>
              <a:rPr lang="en-US" sz="1800" dirty="0"/>
              <a:t>, x): Returns the index of the first element that is strictly greater than x. (If x is in the list, it returns the index right after its last occurrence).</a:t>
            </a:r>
          </a:p>
          <a:p>
            <a:pPr lvl="1" indent="-355600">
              <a:spcBef>
                <a:spcPts val="0"/>
              </a:spcBef>
              <a:buSzPts val="2000"/>
            </a:pPr>
            <a:endParaRPr lang="en-US" sz="1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561FB3-0BF4-2462-D534-4B0D8140B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387" y="5001477"/>
            <a:ext cx="3772613" cy="185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78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C5F48FBC-909A-CD7C-B899-1A20DB42F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9AA1391C-3C72-7398-41CA-4EB01513CA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Unimodal Functions in CP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Google Shape;224;g37c4946a550_0_194">
                <a:extLst>
                  <a:ext uri="{FF2B5EF4-FFF2-40B4-BE49-F238E27FC236}">
                    <a16:creationId xmlns:a16="http://schemas.microsoft.com/office/drawing/2014/main" id="{6AF869B8-0031-869B-43A8-81E653DCE65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4675" y="1096825"/>
                <a:ext cx="11231400" cy="3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fontScale="92500" lnSpcReduction="10000"/>
              </a:bodyPr>
              <a:lstStyle/>
              <a:p>
                <a:pPr indent="-355600">
                  <a:spcBef>
                    <a:spcPts val="0"/>
                  </a:spcBef>
                  <a:buSzPts val="2000"/>
                </a:pPr>
                <a:r>
                  <a:rPr lang="en-CA" sz="2000" dirty="0"/>
                  <a:t>A function </a:t>
                </a:r>
                <a14:m>
                  <m:oMath xmlns:m="http://schemas.openxmlformats.org/officeDocument/2006/math">
                    <m:r>
                      <a:rPr lang="en-CA" i="1"/>
                      <m:t>𝑓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𝑥</m:t>
                        </m:r>
                      </m:e>
                    </m:d>
                  </m:oMath>
                </a14:m>
                <a:r>
                  <a:rPr lang="en-CA" sz="2000" dirty="0"/>
                  <a:t> that has a single, distinct global maximum (or minimum)</a:t>
                </a:r>
              </a:p>
              <a:p>
                <a:pPr indent="-355600">
                  <a:spcBef>
                    <a:spcPts val="0"/>
                  </a:spcBef>
                  <a:buSzPts val="2000"/>
                </a:pPr>
                <a:r>
                  <a:rPr lang="en-CA" sz="2000" dirty="0"/>
                  <a:t>It strictly increases to a peak, and then strictly decreases (or vice-versa). </a:t>
                </a:r>
              </a:p>
              <a:p>
                <a:pPr indent="-355600">
                  <a:spcBef>
                    <a:spcPts val="0"/>
                  </a:spcBef>
                  <a:buSzPts val="2000"/>
                </a:pPr>
                <a:r>
                  <a:rPr lang="en-CA" sz="2000" dirty="0"/>
                  <a:t>Mathematically, for a maximum peak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sz="20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CA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CA" sz="2000" dirty="0"/>
              </a:p>
              <a:p>
                <a:pPr lvl="1" indent="-355600">
                  <a:spcBef>
                    <a:spcPts val="0"/>
                  </a:spcBef>
                  <a:buSzPts val="2000"/>
                </a:pPr>
                <a:r>
                  <a:rPr lang="en-CA" dirty="0"/>
                  <a:t>If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𝑥</m:t>
                        </m:r>
                      </m:e>
                      <m:sub>
                        <m:r>
                          <a:rPr lang="en-CA"/>
                          <m:t>1</m:t>
                        </m:r>
                      </m:sub>
                    </m:sSub>
                    <m:r>
                      <a:rPr lang="en-CA"/>
                      <m:t>&lt;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𝑥</m:t>
                        </m:r>
                      </m:e>
                      <m:sub>
                        <m:r>
                          <a:rPr lang="en-CA"/>
                          <m:t>2</m:t>
                        </m:r>
                      </m:sub>
                    </m:sSub>
                    <m:r>
                      <a:rPr lang="en-CA"/>
                      <m:t>≤</m:t>
                    </m:r>
                    <m:sSup>
                      <m:sSupPr>
                        <m:ctrlPr>
                          <a:rPr lang="en-CA" i="1"/>
                        </m:ctrlPr>
                      </m:sSupPr>
                      <m:e>
                        <m:r>
                          <a:rPr lang="en-CA" i="1"/>
                          <m:t>𝑥</m:t>
                        </m:r>
                      </m:e>
                      <m:sup>
                        <m:r>
                          <a:rPr lang="en-CA"/>
                          <m:t>∗</m:t>
                        </m:r>
                      </m:sup>
                    </m:sSup>
                  </m:oMath>
                </a14:m>
                <a:r>
                  <a:rPr lang="en-CA" dirty="0"/>
                  <a:t>, then </a:t>
                </a:r>
                <a14:m>
                  <m:oMath xmlns:m="http://schemas.openxmlformats.org/officeDocument/2006/math">
                    <m:r>
                      <a:rPr lang="en-CA" i="1"/>
                      <m:t>𝑓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𝑥</m:t>
                            </m:r>
                          </m:e>
                          <m:sub>
                            <m:r>
                              <a:rPr lang="en-CA"/>
                              <m:t>1</m:t>
                            </m:r>
                          </m:sub>
                        </m:sSub>
                      </m:e>
                    </m:d>
                    <m:r>
                      <a:rPr lang="en-CA"/>
                      <m:t>&lt;</m:t>
                    </m:r>
                    <m:r>
                      <a:rPr lang="en-CA" i="1"/>
                      <m:t>𝑓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𝑥</m:t>
                            </m:r>
                          </m:e>
                          <m:sub>
                            <m:r>
                              <a:rPr lang="en-CA"/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CA" dirty="0"/>
              </a:p>
              <a:p>
                <a:pPr lvl="1" indent="-355600">
                  <a:spcBef>
                    <a:spcPts val="0"/>
                  </a:spcBef>
                  <a:buSzPts val="2000"/>
                </a:pPr>
                <a:r>
                  <a:rPr lang="en-CA" dirty="0"/>
                  <a:t>If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/>
                        </m:ctrlPr>
                      </m:sSupPr>
                      <m:e>
                        <m:r>
                          <a:rPr lang="en-CA" i="1"/>
                          <m:t>𝑥</m:t>
                        </m:r>
                      </m:e>
                      <m:sup>
                        <m:r>
                          <a:rPr lang="en-CA"/>
                          <m:t>∗</m:t>
                        </m:r>
                      </m:sup>
                    </m:sSup>
                    <m:r>
                      <a:rPr lang="en-CA"/>
                      <m:t>≤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𝑥</m:t>
                        </m:r>
                      </m:e>
                      <m:sub>
                        <m:r>
                          <a:rPr lang="en-CA"/>
                          <m:t>1</m:t>
                        </m:r>
                      </m:sub>
                    </m:sSub>
                    <m:r>
                      <a:rPr lang="en-CA"/>
                      <m:t>&lt;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𝑥</m:t>
                        </m:r>
                      </m:e>
                      <m:sub>
                        <m:r>
                          <a:rPr lang="en-CA"/>
                          <m:t>2</m:t>
                        </m:r>
                      </m:sub>
                    </m:sSub>
                  </m:oMath>
                </a14:m>
                <a:r>
                  <a:rPr lang="en-CA" dirty="0"/>
                  <a:t>, then </a:t>
                </a:r>
                <a14:m>
                  <m:oMath xmlns:m="http://schemas.openxmlformats.org/officeDocument/2006/math">
                    <m:r>
                      <a:rPr lang="en-CA" i="1"/>
                      <m:t>𝑓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𝑥</m:t>
                            </m:r>
                          </m:e>
                          <m:sub>
                            <m:r>
                              <a:rPr lang="en-CA"/>
                              <m:t>1</m:t>
                            </m:r>
                          </m:sub>
                        </m:sSub>
                      </m:e>
                    </m:d>
                    <m:r>
                      <a:rPr lang="en-CA"/>
                      <m:t>&gt;</m:t>
                    </m:r>
                    <m:r>
                      <a:rPr lang="en-CA" i="1"/>
                      <m:t>𝑓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𝑥</m:t>
                            </m:r>
                          </m:e>
                          <m:sub>
                            <m:r>
                              <a:rPr lang="en-CA"/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CA" dirty="0"/>
              </a:p>
              <a:p>
                <a:pPr indent="-355600">
                  <a:spcBef>
                    <a:spcPts val="0"/>
                  </a:spcBef>
                  <a:buSzPts val="2000"/>
                </a:pPr>
                <a:r>
                  <a:rPr lang="en-CA" sz="2000" dirty="0"/>
                  <a:t>Why do we care in CP?</a:t>
                </a:r>
              </a:p>
              <a:p>
                <a:pPr lvl="1" indent="-355600">
                  <a:spcBef>
                    <a:spcPts val="0"/>
                  </a:spcBef>
                  <a:buSzPts val="2000"/>
                </a:pPr>
                <a:r>
                  <a:rPr lang="en-CA" sz="1800" dirty="0"/>
                  <a:t>Binary search finds a specific target value in sorted data.</a:t>
                </a:r>
              </a:p>
              <a:p>
                <a:pPr lvl="1" indent="-355600">
                  <a:spcBef>
                    <a:spcPts val="0"/>
                  </a:spcBef>
                  <a:buSzPts val="2000"/>
                </a:pPr>
                <a:r>
                  <a:rPr lang="en-CA" sz="1800" dirty="0"/>
                  <a:t>Ternary search finds the optimal point (min or max) of a continuous unimodal function.</a:t>
                </a:r>
              </a:p>
              <a:p>
                <a:pPr indent="-355600">
                  <a:spcBef>
                    <a:spcPts val="0"/>
                  </a:spcBef>
                  <a:buSzPts val="2000"/>
                </a:pPr>
                <a:r>
                  <a:rPr lang="en-CA" sz="2000" dirty="0"/>
                  <a:t>Classic CP Examples:</a:t>
                </a:r>
              </a:p>
              <a:p>
                <a:pPr lvl="1" indent="-355600">
                  <a:spcBef>
                    <a:spcPts val="0"/>
                  </a:spcBef>
                  <a:buSzPts val="2000"/>
                </a:pPr>
                <a:r>
                  <a:rPr lang="en-CA" sz="1800" dirty="0"/>
                  <a:t>Physics/Geometry: Finding the optimal angle 𝜃 to launch a projectile to maximize distance under specific wind resistance models.</a:t>
                </a:r>
              </a:p>
              <a:p>
                <a:pPr lvl="1" indent="-355600">
                  <a:spcBef>
                    <a:spcPts val="0"/>
                  </a:spcBef>
                  <a:buSzPts val="2000"/>
                </a:pPr>
                <a:r>
                  <a:rPr lang="en-CA" sz="1800" dirty="0"/>
                  <a:t>Distance Minimization: Finding a point 𝑃 on a line segment that minimizes the sum of distances to two other fixed points 𝐴 and 𝐵</a:t>
                </a:r>
                <a:endParaRPr lang="en-CA" sz="2000" dirty="0"/>
              </a:p>
              <a:p>
                <a:pPr indent="-355600">
                  <a:spcBef>
                    <a:spcPts val="0"/>
                  </a:spcBef>
                  <a:buSzPts val="2000"/>
                </a:pPr>
                <a:endParaRPr sz="2000" dirty="0"/>
              </a:p>
            </p:txBody>
          </p:sp>
        </mc:Choice>
        <mc:Fallback>
          <p:sp>
            <p:nvSpPr>
              <p:cNvPr id="224" name="Google Shape;224;g37c4946a550_0_194">
                <a:extLst>
                  <a:ext uri="{FF2B5EF4-FFF2-40B4-BE49-F238E27FC236}">
                    <a16:creationId xmlns:a16="http://schemas.microsoft.com/office/drawing/2014/main" id="{6AF869B8-0031-869B-43A8-81E653DCE65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4675" y="1096825"/>
                <a:ext cx="11231400" cy="3310200"/>
              </a:xfrm>
              <a:prstGeom prst="rect">
                <a:avLst/>
              </a:prstGeom>
              <a:blipFill>
                <a:blip r:embed="rId3"/>
                <a:stretch>
                  <a:fillRect t="-15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CD4352B-8AA2-0B25-211A-E5FB4920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165" y="4133910"/>
            <a:ext cx="5441023" cy="260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854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BAD3EB1B-DCDD-03EC-CAB6-8C390578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A955EB76-2F9E-BDFD-6601-A93DF79DA7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>
              <a:buSzPct val="100000"/>
            </a:pPr>
            <a:r>
              <a:rPr lang="en-US" dirty="0"/>
              <a:t>3.3.2 Ternary Search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03BAA6C3-0E07-CFA6-5383-DC9C799698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232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A Divide and Conquer algorithm similar to Binary Search, but instead of splitting the search space into two parts, it splits it into three parts.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The Midpoints: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Splitting the space requires two midpoints instead of one: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mid1 = low + (high - low) / 3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mid2 = high - (high - low) / 3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The Logic (Finding a Maximum):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If f(mid1) &lt; f(mid2): The maximum cannot be in the left-most third. We discard the left third by setting low = mid1.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If f(mid1) &gt; f(mid2): The maximum cannot be in the right-most third. We discard the right third by setting high = mid2.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If f(mid1) == f(mid2): We can safely discard both the left-most and right-most thirds.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Complexity: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The search space is reduced by 1/3 each step.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Time Complexity: O(log₃ N).</a:t>
            </a:r>
          </a:p>
          <a:p>
            <a:pPr indent="-355600">
              <a:spcBef>
                <a:spcPts val="0"/>
              </a:spcBef>
              <a:buSzPts val="2000"/>
            </a:pP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1070267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58E6985B-1093-7A9B-6FA6-4105A20AC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C3D13391-293F-AE4D-F23B-954BDD1FB7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5DB41FD-D6F2-C56E-D415-35B01F1FDD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1792767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1737</TotalTime>
  <Words>3252</Words>
  <Application>Microsoft Macintosh PowerPoint</Application>
  <PresentationFormat>Widescreen</PresentationFormat>
  <Paragraphs>282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Cambria Math</vt:lpstr>
      <vt:lpstr>Gill Sans</vt:lpstr>
      <vt:lpstr>Arial</vt:lpstr>
      <vt:lpstr>Parcel</vt:lpstr>
      <vt:lpstr>Parcel</vt:lpstr>
      <vt:lpstr>1_Parcel</vt:lpstr>
      <vt:lpstr>ICPC Bootcamp Day 2</vt:lpstr>
      <vt:lpstr>Understanding the Search Space</vt:lpstr>
      <vt:lpstr>The Monotonic Search Space</vt:lpstr>
      <vt:lpstr>3.2.1 Iterative Complete Search</vt:lpstr>
      <vt:lpstr>Template</vt:lpstr>
      <vt:lpstr>Recursion Review</vt:lpstr>
      <vt:lpstr>3.2.2 Recursive Complete Search</vt:lpstr>
      <vt:lpstr>Code Example: 8-Queens (Python)</vt:lpstr>
      <vt:lpstr>3.2.3 Complete Search Tips – Tip 1 Filtering versus Generating</vt:lpstr>
      <vt:lpstr>3.2.3 Complete Search Tips – Tip 2 Prune Infeasible/Inferior Search Space Early</vt:lpstr>
      <vt:lpstr>3.2.3 Complete Search Tips – Tip 3 Utilize Symmetries</vt:lpstr>
      <vt:lpstr>3.2.3 Complete Search Tips – Tip 4 Pre-Computation a.k.a Pre-Calculation</vt:lpstr>
      <vt:lpstr>3.2.3 Complete Search Tips – Tip 5 Try Solving the Problem Backwards</vt:lpstr>
      <vt:lpstr>3.2.3 Complete Search Tips – Tip 6 Data Compression</vt:lpstr>
      <vt:lpstr>3.2.3 Complete Search Tips – Tip 7 Optimizing Your Source Code Pt 1</vt:lpstr>
      <vt:lpstr>3.2.3 Complete Search Tips – Tip 7 Optimizing Your Source Code Pt 2</vt:lpstr>
      <vt:lpstr>3.3.1 Interesting Usages of Binary Search</vt:lpstr>
      <vt:lpstr>Unimodal Functions in CP</vt:lpstr>
      <vt:lpstr>3.3.2 Ternary Search</vt:lpstr>
      <vt:lpstr>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 Pelchat</dc:creator>
  <cp:lastModifiedBy>Ryan Pelchat</cp:lastModifiedBy>
  <cp:revision>30</cp:revision>
  <dcterms:created xsi:type="dcterms:W3CDTF">2025-09-06T15:13:09Z</dcterms:created>
  <dcterms:modified xsi:type="dcterms:W3CDTF">2026-08-16T13:33:16Z</dcterms:modified>
</cp:coreProperties>
</file>