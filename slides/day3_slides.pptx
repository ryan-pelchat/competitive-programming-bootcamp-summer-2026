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32"/>
  </p:notesMasterIdLst>
  <p:sldIdLst>
    <p:sldId id="256" r:id="rId3"/>
    <p:sldId id="306" r:id="rId4"/>
    <p:sldId id="311" r:id="rId5"/>
    <p:sldId id="315" r:id="rId6"/>
    <p:sldId id="259" r:id="rId7"/>
    <p:sldId id="260" r:id="rId8"/>
    <p:sldId id="261" r:id="rId9"/>
    <p:sldId id="262" r:id="rId10"/>
    <p:sldId id="263" r:id="rId11"/>
    <p:sldId id="264" r:id="rId12"/>
    <p:sldId id="316" r:id="rId13"/>
    <p:sldId id="266" r:id="rId14"/>
    <p:sldId id="265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9" r:id="rId27"/>
    <p:sldId id="280" r:id="rId28"/>
    <p:sldId id="281" r:id="rId29"/>
    <p:sldId id="278" r:id="rId30"/>
    <p:sldId id="314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4" roundtripDataSignature="AMtx7mi14jFXTrCmS0u2hXQXGuC3zsnM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80"/>
    <p:restoredTop sz="81136"/>
  </p:normalViewPr>
  <p:slideViewPr>
    <p:cSldViewPr snapToGrid="0">
      <p:cViewPr varScale="1">
        <p:scale>
          <a:sx n="124" d="100"/>
          <a:sy n="124" d="100"/>
        </p:scale>
        <p:origin x="11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10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300EE37A-895F-8CE6-3C18-0E3BB6562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94F59321-70E7-9DCD-FCFA-728DC3C3BE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AAF1D1A3-CC6F-95DA-D315-7DE7D02CF4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0FF94B46-4AD8-BA75-AF7E-C46BCA998A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8835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5B5B34F9-62BB-134B-280E-D8A286EAA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72D3A63D-B920-CB4A-9506-734670D85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C57A9795-AD6E-D0CE-7D29-7D3530AED3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A0722FD6-DB8B-30DF-41D2-365B63D9E5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5703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BDC479E1-F00F-BE4A-ECB6-9D5D13309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ce74de10f_0_155:notes">
            <a:extLst>
              <a:ext uri="{FF2B5EF4-FFF2-40B4-BE49-F238E27FC236}">
                <a16:creationId xmlns:a16="http://schemas.microsoft.com/office/drawing/2014/main" id="{84B67341-04A0-CE26-03F4-CD86ADC991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0" name="Google Shape;280;g39ce74de10f_0_155:notes">
            <a:extLst>
              <a:ext uri="{FF2B5EF4-FFF2-40B4-BE49-F238E27FC236}">
                <a16:creationId xmlns:a16="http://schemas.microsoft.com/office/drawing/2014/main" id="{E4670E58-081A-97BC-5C21-3E1F514721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81" name="Google Shape;281;g39ce74de10f_0_155:notes">
            <a:extLst>
              <a:ext uri="{FF2B5EF4-FFF2-40B4-BE49-F238E27FC236}">
                <a16:creationId xmlns:a16="http://schemas.microsoft.com/office/drawing/2014/main" id="{2A00E5E7-578C-EE59-6B78-E356E6D176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5325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ce74de10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2" name="Google Shape;122;g39ce74de10f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 input information to the board</a:t>
            </a:r>
            <a:endParaRPr/>
          </a:p>
        </p:txBody>
      </p:sp>
      <p:sp>
        <p:nvSpPr>
          <p:cNvPr id="123" name="Google Shape;123;g39ce74de10f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ce74de10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0" name="Google Shape;130;g39ce74de10f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Copy these 2 examples to the board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Ex: l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Test case M=20, C=3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Price of the 3 models of garment g = 0 → 6 4 8 // the prices are not sorted in the input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Price of the 2 models of garment g = 1 → 5 10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Price of the 4 models of garment g = 2 → 1 5 3 5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For this test case, the answer is 19, which may result from buying the underlined items (8+10+1).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This is not unique, as solutions (6+10+3) and (4+10+5) are also optimal.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Ex: 2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Test case M=9, C=3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Price of the 3 models of garment g = 0 → 6 4 8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Price of the 2 models of garment g = 1 → 5 10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Price of the 4 models of garment g = 2 → 1 5 3 5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The answer is then “no solution” because even if we buy all the cheapest models for each garment,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the total price (4+5+1) = 10 still exceeds our given budget M = 9.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1" name="Google Shape;131;g39ce74de10f_0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ce74de10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8" name="Google Shape;138;g39ce74de10f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Work through example 1 and 2 using greedy method and copy example 3 to the board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(one optimal is 4+5+3=12)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Ex: 3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Test case M=12, C=3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Price of the 3 models of garment g = 0 → 6 4 8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Price of the 2 models of garment g = 1 → 5 10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Price of the 4 models of garment g = 2 → 1 5 3 5</a:t>
            </a:r>
            <a:endParaRPr/>
          </a:p>
        </p:txBody>
      </p:sp>
      <p:sp>
        <p:nvSpPr>
          <p:cNvPr id="139" name="Google Shape;139;g39ce74de10f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ce74de10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6" name="Google Shape;146;g39ce74de10f_0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 can try.. but we will soon realise that it does not work why is that?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This is because divide and conquer shines when each sub-problem are independent from each other i.e.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g39ce74de10f_0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ce74de10f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4" name="Google Shape;154;g39ce74de10f_0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g39ce74de10f_0_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ce74de10f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2" name="Google Shape;162;g39ce74de10f_0_1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g39ce74de10f_0_1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AEA67C26-D05C-5C2C-1FEF-DD0D3CB90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ce74de10f_0_155:notes">
            <a:extLst>
              <a:ext uri="{FF2B5EF4-FFF2-40B4-BE49-F238E27FC236}">
                <a16:creationId xmlns:a16="http://schemas.microsoft.com/office/drawing/2014/main" id="{D5B4C7A3-781B-7050-5F70-CFD10DABA8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0" name="Google Shape;280;g39ce74de10f_0_155:notes">
            <a:extLst>
              <a:ext uri="{FF2B5EF4-FFF2-40B4-BE49-F238E27FC236}">
                <a16:creationId xmlns:a16="http://schemas.microsoft.com/office/drawing/2014/main" id="{0690B6A2-CBCA-F294-530E-48A3207C82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81" name="Google Shape;281;g39ce74de10f_0_155:notes">
            <a:extLst>
              <a:ext uri="{FF2B5EF4-FFF2-40B4-BE49-F238E27FC236}">
                <a16:creationId xmlns:a16="http://schemas.microsoft.com/office/drawing/2014/main" id="{CA3AD5C6-2A6C-7261-7BD2-633A15EED2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68840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ce74de10f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8" name="Google Shape;178;g39ce74de10f_0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2 rules on the board</a:t>
            </a:r>
            <a:endParaRPr/>
          </a:p>
        </p:txBody>
      </p:sp>
      <p:sp>
        <p:nvSpPr>
          <p:cNvPr id="179" name="Google Shape;179;g39ce74de10f_0_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ce74de10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0" name="Google Shape;170;g39ce74de10f_0_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2 on the board</a:t>
            </a:r>
            <a:endParaRPr/>
          </a:p>
        </p:txBody>
      </p:sp>
      <p:sp>
        <p:nvSpPr>
          <p:cNvPr id="171" name="Google Shape;171;g39ce74de10f_0_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ce74de10f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6" name="Google Shape;186;g39ce74de10f_0_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@functools.lru_cache(</a:t>
            </a:r>
            <a:r>
              <a:rPr lang="en-US" sz="1100" i="1"/>
              <a:t>maxsize=128</a:t>
            </a:r>
            <a:r>
              <a:rPr lang="en-US" sz="1100"/>
              <a:t>, </a:t>
            </a:r>
            <a:r>
              <a:rPr lang="en-US" sz="1100" i="1"/>
              <a:t>typed=False</a:t>
            </a:r>
            <a:r>
              <a:rPr lang="en-US" sz="1100"/>
              <a:t>)</a:t>
            </a:r>
            <a:endParaRPr sz="11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Decorator to wrap a function with a memoizing callable that saves up to the </a:t>
            </a:r>
            <a:r>
              <a:rPr lang="en-US" sz="1100" i="1"/>
              <a:t>maxsize</a:t>
            </a:r>
            <a:r>
              <a:rPr lang="en-US" sz="1100"/>
              <a:t> most recent calls. It can save time when an expensive or I/O bound function is periodically called with the same arguments.</a:t>
            </a:r>
            <a:endParaRPr/>
          </a:p>
        </p:txBody>
      </p:sp>
      <p:sp>
        <p:nvSpPr>
          <p:cNvPr id="187" name="Google Shape;187;g39ce74de10f_0_1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ce74de10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4" name="Google Shape;194;g39ce74de10f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Write these 3 rules down on the board</a:t>
            </a:r>
          </a:p>
        </p:txBody>
      </p:sp>
      <p:sp>
        <p:nvSpPr>
          <p:cNvPr id="195" name="Google Shape;195;g39ce74de10f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ce74de10f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2" name="Google Shape;202;g39ce74de10f_0_1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Work it out on the </a:t>
            </a:r>
            <a:r>
              <a:rPr lang="en-US" dirty="0" err="1"/>
              <a:t>IPad</a:t>
            </a:r>
            <a:endParaRPr dirty="0"/>
          </a:p>
        </p:txBody>
      </p:sp>
      <p:sp>
        <p:nvSpPr>
          <p:cNvPr id="203" name="Google Shape;203;g39ce74de10f_0_1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e86a3ee1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0" name="Google Shape;210;g39e86a3ee1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11" name="Google Shape;211;g39e86a3ee18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e86a3ee18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8" name="Google Shape;218;g39e86a3ee18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19" name="Google Shape;219;g39e86a3ee18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e86a3ee1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7" name="Google Shape;227;g39e86a3ee18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28" name="Google Shape;228;g39e86a3ee18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9e86a3ee18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6" name="Google Shape;236;g39e86a3ee18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37" name="Google Shape;237;g39e86a3ee18_0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e86a3ee18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4" name="Google Shape;244;g39e86a3ee18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45" name="Google Shape;245;g39e86a3ee18_0_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9e86a3ee18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2" name="Google Shape;252;g39e86a3ee18_0_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53" name="Google Shape;253;g39e86a3ee18_0_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ce74de10f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1" name="Google Shape;261;g39ce74de10f_0_2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62" name="Google Shape;262;g39ce74de10f_0_2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e86a3ee1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9" name="Google Shape;269;g39e86a3ee18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70" name="Google Shape;270;g39e86a3ee18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9ce74de10f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9" name="Google Shape;289;g39ce74de10f_0_1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90" name="Google Shape;290;g39ce74de10f_0_1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ce74de10f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98" name="Google Shape;298;g39ce74de10f_0_1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a1. Max 1D Range Sum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a2. Max 2D Range Sum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b. Longest Increasing Subsequence (LIS)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c. 0-1 Knapsack (Subset-Sum)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d. Coin-Change (CC) - The General Version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e. Traveling-Salesman-Problem (TSP)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DP level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UVa 10003 - Cutting Sticks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9" name="Google Shape;299;g39ce74de10f_0_1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9ce74de10f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07" name="Google Shape;307;g39ce74de10f_0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308" name="Google Shape;308;g39ce74de10f_0_1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ce74de10f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0" name="Google Shape;280;g39ce74de10f_0_1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81" name="Google Shape;281;g39ce74de10f_0_1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57FA766C-D6E6-8151-883E-98A9C7DC3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8B083D44-3CF6-00DC-0AFE-C1BA6F1E8D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D186552E-A2A4-5960-C2D5-459A5A2F89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EDA0E95E-008F-A082-FAD6-A1192BA14B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8412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1581912" y="2638044"/>
            <a:ext cx="4271771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body" idx="2"/>
          </p:nvPr>
        </p:nvSpPr>
        <p:spPr>
          <a:xfrm>
            <a:off x="6338315" y="2638044"/>
            <a:ext cx="4270247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rgbClr val="6B8890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2"/>
          </p:nvPr>
        </p:nvSpPr>
        <p:spPr>
          <a:xfrm>
            <a:off x="1583436" y="3143250"/>
            <a:ext cx="4270248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3"/>
          </p:nvPr>
        </p:nvSpPr>
        <p:spPr>
          <a:xfrm>
            <a:off x="6338316" y="3143250"/>
            <a:ext cx="4253484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4"/>
          </p:nvPr>
        </p:nvSpPr>
        <p:spPr>
          <a:xfrm>
            <a:off x="633831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rgbClr val="6B8890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2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6736080" y="804672"/>
            <a:ext cx="4815840" cy="5248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92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2"/>
          </p:nvPr>
        </p:nvSpPr>
        <p:spPr>
          <a:xfrm>
            <a:off x="1115568" y="3549918"/>
            <a:ext cx="3794760" cy="2194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>
            <a:spLocks noGrp="1"/>
          </p:cNvSpPr>
          <p:nvPr>
            <p:ph type="pic" idx="2"/>
          </p:nvPr>
        </p:nvSpPr>
        <p:spPr>
          <a:xfrm>
            <a:off x="6095999" y="0"/>
            <a:ext cx="6102097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Google Shape;82;p15"/>
          <p:cNvSpPr txBox="1">
            <a:spLocks noGrp="1"/>
          </p:cNvSpPr>
          <p:nvPr>
            <p:ph type="body" idx="1"/>
          </p:nvPr>
        </p:nvSpPr>
        <p:spPr>
          <a:xfrm>
            <a:off x="1115568" y="3549918"/>
            <a:ext cx="3794760" cy="219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 rot="5400000">
            <a:off x="4545009" y="324172"/>
            <a:ext cx="3101983" cy="772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 rot="5400000">
            <a:off x="6810676" y="2779696"/>
            <a:ext cx="4983480" cy="1298608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 rot="5400000">
            <a:off x="2838641" y="329756"/>
            <a:ext cx="4983480" cy="619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sz="2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sz="2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judge.org/index.php?option=com_onlinejudge&amp;Itemid=8&amp;page=show_problem&amp;problem=2445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stevenhalim/cpbook-code/tree/master/ch3/dp" TargetMode="External"/><Relationship Id="rId4" Type="http://schemas.openxmlformats.org/officeDocument/2006/relationships/hyperlink" Target="https://onlinejudge.org/external/114/11450.pdf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hyperlink" Target="https://github.com/stevenhalim/cpbook-code/blob/master/ch3/dp/UVa11450_bu.py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>
            <a:spLocks noGrp="1"/>
          </p:cNvSpPr>
          <p:nvPr>
            <p:ph type="ctrTitle"/>
          </p:nvPr>
        </p:nvSpPr>
        <p:spPr>
          <a:xfrm>
            <a:off x="1600200" y="1124869"/>
            <a:ext cx="8991600" cy="16458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 dirty="0"/>
              <a:t>ICPC Bootcamp Day 3</a:t>
            </a:r>
            <a:endParaRPr dirty="0"/>
          </a:p>
        </p:txBody>
      </p:sp>
      <p:sp>
        <p:nvSpPr>
          <p:cNvPr id="104" name="Google Shape;104;p1"/>
          <p:cNvSpPr txBox="1"/>
          <p:nvPr/>
        </p:nvSpPr>
        <p:spPr>
          <a:xfrm>
            <a:off x="2348952" y="3870789"/>
            <a:ext cx="7494095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3.4 Greedy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3.5 Dynamic Programming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3.5.1 DP Illustration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3.5.2 Classical Examples 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3.5.3 Non-Classical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64491CC5-F7F9-E15E-2BAD-0291F159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FFC05EE0-D4DF-6A49-4B91-65728A35F0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/>
              <a:t>3.4 Greedy</a:t>
            </a:r>
            <a:endParaRPr dirty="0"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8BB878AF-06D8-6712-9D34-534387FFC0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408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The Core Concept: 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An algorithm that makes the locally optimal choice at each step with the hope that these local choices lead to a globally optimal solution.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When does it work? A problem must have two key ingredients: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Greedy-Choice Property: A global optimum can be arrived at by selecting a local optimum.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Optimal Substructure: An optimal solution to the problem contains optimal solutions to its subproblems.5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Greedy algorithms are infamous for providing solutions that look right but fail on edge cases.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If you cannot logically prove the greedy choice is always correct, consider Dynamic Programming instead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The Advantage: When a greedy strategy works, it is usually much faster and easier to code than Complete Search or Dynamic Programming.</a:t>
            </a:r>
          </a:p>
        </p:txBody>
      </p:sp>
    </p:spTree>
    <p:extLst>
      <p:ext uri="{BB962C8B-B14F-4D97-AF65-F5344CB8AC3E}">
        <p14:creationId xmlns:p14="http://schemas.microsoft.com/office/powerpoint/2010/main" val="3287284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E283BB44-92F4-77FD-A4CE-08F8ED43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CB7E51CB-3B4B-2CF6-CE5D-666DA6A059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/>
              <a:t>Example: The Coin Change Problem</a:t>
            </a:r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A2A16C80-1C70-37BE-396C-A0C0A5C3C7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553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The Goal: Give a customer a specific amount of change using the absolute minimum number of coins.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The Greedy Strategy: Always pick the largest coin denomination that fits into the remaining balance.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When Greedy WORKS (Standard Currency):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Denominations: Canadian coins: {1, 5, 10, 25, 100, 200} (in cents).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Target: Make $2.87 (287 cents).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Execution: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Pick 200 (Remaining: 87)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Pick 25 (Remaining: 62)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Pick 25 (Remaining: 37)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Pick 25 (Remaining: 12)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Pick 10 (Remaining: 2)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Pick 1 (Remaining: 1)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Pick 1 (Remaining: 0)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Result: 7 coins. For this specific set of denominations, Greedy is mathematically proven to always be optimal!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When Greedy FAILS (Custom Currency):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Denominations: A fictional currency with coins {1, 3, 4}.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Target: Make 6.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Greedy Execution: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Pick 4 (Remaining: 2)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Pick 1 (Remaining: 1)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Pick 1 (Remaining: 0)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Result: 3 coins (4 + 1 + 1).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The Optimal Solution: Just use two 3 coins (3 + 3 = 6).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Greedy blindly took the biggest coin (4) and trapped itself into a sub-optimal path. When Greedy fails like this, you must use Dynamic Programming!</a:t>
            </a:r>
          </a:p>
        </p:txBody>
      </p:sp>
    </p:spTree>
    <p:extLst>
      <p:ext uri="{BB962C8B-B14F-4D97-AF65-F5344CB8AC3E}">
        <p14:creationId xmlns:p14="http://schemas.microsoft.com/office/powerpoint/2010/main" val="101287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C298F94B-F23A-F10E-D6C5-373298710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9ce74de10f_0_155">
            <a:extLst>
              <a:ext uri="{FF2B5EF4-FFF2-40B4-BE49-F238E27FC236}">
                <a16:creationId xmlns:a16="http://schemas.microsoft.com/office/drawing/2014/main" id="{FE49B9A4-35BF-F3DA-360C-05E473CCD9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3.5 Dynamic Programming</a:t>
            </a:r>
            <a:endParaRPr dirty="0"/>
          </a:p>
        </p:txBody>
      </p:sp>
      <p:sp>
        <p:nvSpPr>
          <p:cNvPr id="284" name="Google Shape;284;g39ce74de10f_0_155">
            <a:extLst>
              <a:ext uri="{FF2B5EF4-FFF2-40B4-BE49-F238E27FC236}">
                <a16:creationId xmlns:a16="http://schemas.microsoft.com/office/drawing/2014/main" id="{C27161CB-BFB2-8D64-3C45-FF76DA668F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The Core Concept: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DP is essentially "smart recursion" or "exhaustive search with a memory."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How it works: 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It breaks a complex problem down into simpler subproblems, solves each subproblem just once, and stores their solutions.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When does it work?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b="1" dirty="0"/>
              <a:t>Optimal Substructure</a:t>
            </a:r>
            <a:r>
              <a:rPr lang="en-US" sz="1800" dirty="0"/>
              <a:t>: Similar to greedy, the global optimal solution can be built from optimal sub-solutions.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b="1" dirty="0"/>
              <a:t>Overlapping Subproblems</a:t>
            </a:r>
            <a:r>
              <a:rPr lang="en-US" sz="1800" dirty="0"/>
              <a:t>: The space of subproblems must be small, meaning the same subproblems are encountered repeatedly.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The Advantage: Transforms exponential time complexities (like 𝑂(2</a:t>
            </a:r>
            <a:r>
              <a:rPr lang="en-US" sz="2000" baseline="30000" dirty="0"/>
              <a:t>𝑁</a:t>
            </a:r>
            <a:r>
              <a:rPr lang="en-US" sz="2000" dirty="0"/>
              <a:t> )) into polynomial time complexities (like 𝑂(𝑁</a:t>
            </a:r>
            <a:r>
              <a:rPr lang="en-US" sz="2000" baseline="30000" dirty="0"/>
              <a:t>2</a:t>
            </a:r>
            <a:r>
              <a:rPr lang="en-US" sz="2000" dirty="0"/>
              <a:t> )).</a:t>
            </a:r>
          </a:p>
          <a:p>
            <a:pPr lvl="0" indent="-355600">
              <a:spcBef>
                <a:spcPts val="0"/>
              </a:spcBef>
              <a:buSzPts val="2000"/>
            </a:pPr>
            <a:endParaRPr lang="en-US" sz="2000" dirty="0"/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Primarily used in optimization problems and counting problems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If you encounter a problem that says “minimize this” or “maximize that” or “count the ways to do that”, then there is a (high) chance that it is a DP problem</a:t>
            </a:r>
          </a:p>
          <a:p>
            <a:pPr lvl="0" indent="-355600">
              <a:spcBef>
                <a:spcPts val="0"/>
              </a:spcBef>
              <a:buSzPts val="2000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97305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ce74de10f_0_8"/>
          <p:cNvSpPr txBox="1">
            <a:spLocks noGrp="1"/>
          </p:cNvSpPr>
          <p:nvPr>
            <p:ph type="title"/>
          </p:nvPr>
        </p:nvSpPr>
        <p:spPr>
          <a:xfrm>
            <a:off x="1603800" y="228425"/>
            <a:ext cx="89844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3.5 Dynamic Programming – Problem Study Wedding Shopping</a:t>
            </a:r>
            <a:endParaRPr dirty="0"/>
          </a:p>
        </p:txBody>
      </p:sp>
      <p:sp>
        <p:nvSpPr>
          <p:cNvPr id="126" name="Google Shape;126;g39ce74de10f_0_8"/>
          <p:cNvSpPr txBox="1">
            <a:spLocks noGrp="1"/>
          </p:cNvSpPr>
          <p:nvPr>
            <p:ph type="body" idx="1"/>
          </p:nvPr>
        </p:nvSpPr>
        <p:spPr>
          <a:xfrm>
            <a:off x="0" y="1096825"/>
            <a:ext cx="12192000" cy="52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Variation on the Knapsack problem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Given different options for each garment (e.g., 3 shirt models, 2 belt models, 4 shoe models, . . . )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Given a limited budget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Task: buy one model of each garment and spend the maximum possible amount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Input: 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Let M be the budget where 1 &lt;= M &lt;= 200</a:t>
            </a:r>
            <a:endParaRPr sz="2000" dirty="0"/>
          </a:p>
          <a:p>
            <a:pPr lvl="1" indent="-355600">
              <a:lnSpc>
                <a:spcPct val="115000"/>
              </a:lnSpc>
              <a:spcBef>
                <a:spcPts val="0"/>
              </a:spcBef>
              <a:buSzPts val="2000"/>
            </a:pPr>
            <a:r>
              <a:rPr lang="en-US" sz="2000" dirty="0"/>
              <a:t>Let C be the number of garment types where 1 &lt;= C &lt;= 20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Let g be the set of garments i.e. g ∈ [0..C-1]</a:t>
            </a:r>
            <a:endParaRPr sz="2000" dirty="0"/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Each garment in g has possible 1 to 20 (inclusive) models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Output: Integer of maximum amount of money we can spend, else print “no solution”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UVa 11450 - Wedding Shopping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 dirty="0">
                <a:solidFill>
                  <a:schemeClr val="hlink"/>
                </a:solidFill>
                <a:hlinkClick r:id="rId3"/>
              </a:rPr>
              <a:t>https://onlinejudge.org/index.php?option=com_onlinejudge&amp;Itemid=8&amp;page=show_problem&amp;problem=2445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 dirty="0">
                <a:solidFill>
                  <a:schemeClr val="hlink"/>
                </a:solidFill>
                <a:hlinkClick r:id="rId4"/>
              </a:rPr>
              <a:t>https://onlinejudge.org/external/114/11450.pdf</a:t>
            </a:r>
            <a:r>
              <a:rPr lang="en-US" sz="2000" dirty="0"/>
              <a:t> 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 dirty="0">
                <a:solidFill>
                  <a:schemeClr val="hlink"/>
                </a:solidFill>
                <a:hlinkClick r:id="rId5"/>
              </a:rPr>
              <a:t>https://github.com/stevenhalim/cpbook-code/tree/master/ch3/dp</a:t>
            </a:r>
            <a:r>
              <a:rPr lang="en-US" sz="2000" dirty="0"/>
              <a:t> 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ce74de10f_0_32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3.5 Dynamic Programming – Example Test Cases</a:t>
            </a:r>
            <a:endParaRPr dirty="0"/>
          </a:p>
        </p:txBody>
      </p:sp>
      <p:sp>
        <p:nvSpPr>
          <p:cNvPr id="134" name="Google Shape;134;g39ce74de10f_0_32"/>
          <p:cNvSpPr txBox="1">
            <a:spLocks noGrp="1"/>
          </p:cNvSpPr>
          <p:nvPr>
            <p:ph type="body" idx="1"/>
          </p:nvPr>
        </p:nvSpPr>
        <p:spPr>
          <a:xfrm>
            <a:off x="0" y="1096825"/>
            <a:ext cx="12192000" cy="52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Ex: l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Test case M=20, C=3</a:t>
            </a:r>
            <a:endParaRPr sz="2000" dirty="0"/>
          </a:p>
          <a:p>
            <a:pPr lvl="1" indent="-355600">
              <a:lnSpc>
                <a:spcPct val="115000"/>
              </a:lnSpc>
              <a:spcBef>
                <a:spcPts val="0"/>
              </a:spcBef>
              <a:buSzPts val="2000"/>
            </a:pPr>
            <a:r>
              <a:rPr lang="en-US" sz="2000" dirty="0"/>
              <a:t>Price of garments in g</a:t>
            </a:r>
            <a:r>
              <a:rPr lang="en-US" sz="2000" baseline="-25000" dirty="0"/>
              <a:t>0</a:t>
            </a:r>
            <a:r>
              <a:rPr lang="en-US" sz="2000" dirty="0"/>
              <a:t> → 6 4 </a:t>
            </a:r>
            <a:r>
              <a:rPr lang="en-US" sz="2000" u="sng" dirty="0"/>
              <a:t>8</a:t>
            </a:r>
            <a:r>
              <a:rPr lang="en-US" sz="2000" dirty="0"/>
              <a:t> // the prices are not sorted in the input</a:t>
            </a:r>
            <a:endParaRPr sz="2000" dirty="0"/>
          </a:p>
          <a:p>
            <a:pPr lvl="1" indent="-355600">
              <a:lnSpc>
                <a:spcPct val="115000"/>
              </a:lnSpc>
              <a:spcBef>
                <a:spcPts val="0"/>
              </a:spcBef>
              <a:buSzPts val="2000"/>
            </a:pPr>
            <a:r>
              <a:rPr lang="en-US" sz="2000" dirty="0"/>
              <a:t>Price of garments in g</a:t>
            </a:r>
            <a:r>
              <a:rPr lang="en-US" sz="2000" baseline="-25000" dirty="0"/>
              <a:t>1</a:t>
            </a:r>
            <a:r>
              <a:rPr lang="en-US" sz="2000" dirty="0"/>
              <a:t> → 5 </a:t>
            </a:r>
            <a:r>
              <a:rPr lang="en-US" sz="2000" u="sng" dirty="0"/>
              <a:t>10</a:t>
            </a:r>
            <a:endParaRPr sz="2000" u="sng" dirty="0"/>
          </a:p>
          <a:p>
            <a:pPr lvl="1" indent="-355600">
              <a:lnSpc>
                <a:spcPct val="115000"/>
              </a:lnSpc>
              <a:spcBef>
                <a:spcPts val="0"/>
              </a:spcBef>
              <a:buSzPts val="2000"/>
            </a:pPr>
            <a:r>
              <a:rPr lang="en-US" sz="2000" dirty="0"/>
              <a:t>Price of garments in g</a:t>
            </a:r>
            <a:r>
              <a:rPr lang="en-US" sz="2000" baseline="-25000" dirty="0"/>
              <a:t>2</a:t>
            </a:r>
            <a:r>
              <a:rPr lang="en-US" sz="2000" dirty="0"/>
              <a:t> → </a:t>
            </a:r>
            <a:r>
              <a:rPr lang="en-US" sz="2000" u="sng" dirty="0"/>
              <a:t>1</a:t>
            </a:r>
            <a:r>
              <a:rPr lang="en-US" sz="2000" dirty="0"/>
              <a:t> 5 3 5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For this test case, the answer is 19, which may result from buying the underlined items (8+10+1). This is not unique, as solutions (6+10+3) and (4+10+5) are also optimal.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Ex: 2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Test case M=9, C=3</a:t>
            </a:r>
            <a:endParaRPr sz="2000" dirty="0"/>
          </a:p>
          <a:p>
            <a:pPr lvl="1" indent="-355600">
              <a:lnSpc>
                <a:spcPct val="115000"/>
              </a:lnSpc>
              <a:spcBef>
                <a:spcPts val="0"/>
              </a:spcBef>
              <a:buSzPts val="2000"/>
            </a:pPr>
            <a:r>
              <a:rPr lang="en-US" sz="2000" dirty="0"/>
              <a:t>Price of garments in g</a:t>
            </a:r>
            <a:r>
              <a:rPr lang="en-US" sz="2000" baseline="-25000" dirty="0"/>
              <a:t>0</a:t>
            </a:r>
            <a:r>
              <a:rPr lang="en-US" sz="2000" dirty="0"/>
              <a:t> → 6 4 8 </a:t>
            </a:r>
            <a:endParaRPr sz="2000" dirty="0"/>
          </a:p>
          <a:p>
            <a:pPr lvl="1" indent="-355600">
              <a:lnSpc>
                <a:spcPct val="115000"/>
              </a:lnSpc>
              <a:spcBef>
                <a:spcPts val="0"/>
              </a:spcBef>
              <a:buSzPts val="2000"/>
            </a:pPr>
            <a:r>
              <a:rPr lang="en-US" sz="2000" dirty="0"/>
              <a:t>Price of garments in g</a:t>
            </a:r>
            <a:r>
              <a:rPr lang="en-US" sz="2000" baseline="-25000" dirty="0"/>
              <a:t>1</a:t>
            </a:r>
            <a:r>
              <a:rPr lang="en-US" sz="2000" dirty="0"/>
              <a:t> → 5 10</a:t>
            </a:r>
            <a:endParaRPr sz="2000" dirty="0"/>
          </a:p>
          <a:p>
            <a:pPr lvl="1" indent="-355600">
              <a:lnSpc>
                <a:spcPct val="115000"/>
              </a:lnSpc>
              <a:spcBef>
                <a:spcPts val="0"/>
              </a:spcBef>
              <a:buSzPts val="2000"/>
            </a:pPr>
            <a:r>
              <a:rPr lang="en-US" sz="2000" dirty="0"/>
              <a:t>Price of garments in g</a:t>
            </a:r>
            <a:r>
              <a:rPr lang="en-US" sz="2000" baseline="-25000" dirty="0"/>
              <a:t>2</a:t>
            </a:r>
            <a:r>
              <a:rPr lang="en-US" sz="2000" dirty="0"/>
              <a:t> → 1 5 3 5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The answer is then “no solution” because even if we buy all the cheapest models for each garment, the total price (4+5+1) = 10 still exceeds our given budget M = 9.</a:t>
            </a:r>
            <a:endParaRPr sz="2000" dirty="0"/>
          </a:p>
        </p:txBody>
      </p:sp>
      <p:sp>
        <p:nvSpPr>
          <p:cNvPr id="135" name="Google Shape;135;g39ce74de10f_0_32"/>
          <p:cNvSpPr txBox="1"/>
          <p:nvPr/>
        </p:nvSpPr>
        <p:spPr>
          <a:xfrm>
            <a:off x="0" y="6300500"/>
            <a:ext cx="112314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ct val="100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sz="2000" b="0" i="0" u="none" strike="noStrike" cap="non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lang="en-US" sz="20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sz="2000" b="0" i="0" u="none" strike="noStrike" cap="non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ce74de10f_0_18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Greedy</a:t>
            </a:r>
            <a:endParaRPr/>
          </a:p>
        </p:txBody>
      </p:sp>
      <p:sp>
        <p:nvSpPr>
          <p:cNvPr id="142" name="Google Shape;142;g39ce74de10f_0_18"/>
          <p:cNvSpPr txBox="1">
            <a:spLocks noGrp="1"/>
          </p:cNvSpPr>
          <p:nvPr>
            <p:ph type="body" idx="1"/>
          </p:nvPr>
        </p:nvSpPr>
        <p:spPr>
          <a:xfrm>
            <a:off x="0" y="1096825"/>
            <a:ext cx="12192000" cy="51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One idea to maximize the budget is to take the most expensive model for each garment g which still fits in out budget!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This seems to work with example 1 and 2 but does not work with the following example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Ex: 3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Test case M=12, C=3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Price of garments in g</a:t>
            </a:r>
            <a:r>
              <a:rPr lang="en-US" sz="2000" baseline="-25000" dirty="0"/>
              <a:t>0</a:t>
            </a:r>
            <a:r>
              <a:rPr lang="en-US" sz="2000" dirty="0"/>
              <a:t> → 6 </a:t>
            </a:r>
            <a:r>
              <a:rPr lang="en-US" sz="2000" u="sng" dirty="0"/>
              <a:t>4</a:t>
            </a:r>
            <a:r>
              <a:rPr lang="en-US" sz="2000" dirty="0"/>
              <a:t> </a:t>
            </a:r>
            <a:r>
              <a:rPr lang="en-US" sz="2000" b="1" dirty="0"/>
              <a:t>8</a:t>
            </a:r>
            <a:endParaRPr sz="2000" b="1" dirty="0"/>
          </a:p>
          <a:p>
            <a:pPr lvl="1" indent="-355600">
              <a:lnSpc>
                <a:spcPct val="115000"/>
              </a:lnSpc>
              <a:spcBef>
                <a:spcPts val="0"/>
              </a:spcBef>
              <a:buSzPts val="2000"/>
            </a:pPr>
            <a:r>
              <a:rPr lang="en-US" sz="2000" dirty="0"/>
              <a:t>Price of garments in g</a:t>
            </a:r>
            <a:r>
              <a:rPr lang="en-US" sz="2000" baseline="-25000" dirty="0"/>
              <a:t>1</a:t>
            </a:r>
            <a:r>
              <a:rPr lang="en-US" sz="2000" dirty="0"/>
              <a:t> → </a:t>
            </a:r>
            <a:r>
              <a:rPr lang="en-US" sz="2000" u="sng" dirty="0"/>
              <a:t>5</a:t>
            </a:r>
            <a:r>
              <a:rPr lang="en-US" sz="2000" dirty="0"/>
              <a:t> 10</a:t>
            </a:r>
            <a:endParaRPr sz="2000" dirty="0"/>
          </a:p>
          <a:p>
            <a:pPr lvl="1" indent="-355600">
              <a:lnSpc>
                <a:spcPct val="115000"/>
              </a:lnSpc>
              <a:spcBef>
                <a:spcPts val="0"/>
              </a:spcBef>
              <a:buSzPts val="2000"/>
            </a:pPr>
            <a:r>
              <a:rPr lang="en-US" sz="2000" dirty="0"/>
              <a:t>Price of garments in g</a:t>
            </a:r>
            <a:r>
              <a:rPr lang="en-US" sz="2000" baseline="-25000" dirty="0"/>
              <a:t>2</a:t>
            </a:r>
            <a:r>
              <a:rPr lang="en-US" sz="2000" dirty="0"/>
              <a:t> → 1 5 </a:t>
            </a:r>
            <a:r>
              <a:rPr lang="en-US" sz="2000" u="sng" dirty="0"/>
              <a:t>3</a:t>
            </a:r>
            <a:r>
              <a:rPr lang="en-US" sz="2000" dirty="0"/>
              <a:t> 5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Greedy strategy selects garment in g</a:t>
            </a:r>
            <a:r>
              <a:rPr lang="en-US" sz="2000" baseline="-25000" dirty="0"/>
              <a:t>0</a:t>
            </a:r>
            <a:r>
              <a:rPr lang="en-US" sz="2000" dirty="0"/>
              <a:t> with price 8 (b = 12-8 = 4), causing us to not have enough budget to buy any model in garment g</a:t>
            </a:r>
            <a:r>
              <a:rPr lang="en-US" sz="2000" baseline="-25000" dirty="0"/>
              <a:t>1</a:t>
            </a:r>
            <a:r>
              <a:rPr lang="en-US" sz="2000" dirty="0"/>
              <a:t>, thus incorrectly reporting “no solution”. </a:t>
            </a:r>
            <a:endParaRPr sz="2000"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One optimal solution is 4+5+3 = 12, which uses up all our budget. 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The optimal solution is not unique as 6+5+1 = 12 also depletes the budget.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ce74de10f_0_25"/>
          <p:cNvSpPr txBox="1">
            <a:spLocks noGrp="1"/>
          </p:cNvSpPr>
          <p:nvPr>
            <p:ph type="title"/>
          </p:nvPr>
        </p:nvSpPr>
        <p:spPr>
          <a:xfrm>
            <a:off x="1469848" y="262775"/>
            <a:ext cx="92523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3.5 Dynamic Programming – Divide and Conquer</a:t>
            </a:r>
            <a:endParaRPr dirty="0"/>
          </a:p>
        </p:txBody>
      </p:sp>
      <p:sp>
        <p:nvSpPr>
          <p:cNvPr id="150" name="Google Shape;150;g39ce74de10f_0_25"/>
          <p:cNvSpPr txBox="1">
            <a:spLocks noGrp="1"/>
          </p:cNvSpPr>
          <p:nvPr>
            <p:ph type="body" idx="1"/>
          </p:nvPr>
        </p:nvSpPr>
        <p:spPr>
          <a:xfrm>
            <a:off x="0" y="1096825"/>
            <a:ext cx="12192000" cy="3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55600">
              <a:lnSpc>
                <a:spcPct val="115000"/>
              </a:lnSpc>
              <a:spcBef>
                <a:spcPts val="0"/>
              </a:spcBef>
              <a:buSzPts val="2000"/>
            </a:pPr>
            <a:r>
              <a:rPr lang="en-US" sz="2000" dirty="0"/>
              <a:t>We can try.. but we will soon realize that it does not work why is that?</a:t>
            </a:r>
            <a:endParaRPr sz="2000" dirty="0"/>
          </a:p>
          <a:p>
            <a:pPr lvl="1" indent="-355600">
              <a:lnSpc>
                <a:spcPct val="115000"/>
              </a:lnSpc>
              <a:spcBef>
                <a:spcPts val="0"/>
              </a:spcBef>
              <a:buSzPts val="2000"/>
            </a:pPr>
            <a:r>
              <a:rPr lang="en-US" sz="2000" dirty="0"/>
              <a:t>This is because divide and conquer shines when each sub-problem are independent from each other</a:t>
            </a:r>
            <a:endParaRPr sz="2000" dirty="0"/>
          </a:p>
          <a:p>
            <a:pPr lvl="1" indent="-355600">
              <a:lnSpc>
                <a:spcPct val="115000"/>
              </a:lnSpc>
              <a:spcBef>
                <a:spcPts val="0"/>
              </a:spcBef>
              <a:buSzPts val="2000"/>
            </a:pPr>
            <a:r>
              <a:rPr lang="en-US" sz="2000" dirty="0"/>
              <a:t>This problem has sub-problems that are dependent on each other</a:t>
            </a:r>
            <a:endParaRPr lang="en-CA" sz="2200" dirty="0"/>
          </a:p>
          <a:p>
            <a:pPr indent="-355600">
              <a:lnSpc>
                <a:spcPct val="115000"/>
              </a:lnSpc>
              <a:spcBef>
                <a:spcPts val="0"/>
              </a:spcBef>
              <a:buSzPts val="2000"/>
            </a:pPr>
            <a:endParaRPr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ce74de10f_0_44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Complete Search</a:t>
            </a:r>
            <a:endParaRPr/>
          </a:p>
        </p:txBody>
      </p:sp>
      <p:sp>
        <p:nvSpPr>
          <p:cNvPr id="158" name="Google Shape;158;g39ce74de10f_0_44"/>
          <p:cNvSpPr txBox="1">
            <a:spLocks noGrp="1"/>
          </p:cNvSpPr>
          <p:nvPr>
            <p:ph type="body" idx="1"/>
          </p:nvPr>
        </p:nvSpPr>
        <p:spPr>
          <a:xfrm>
            <a:off x="0" y="1096825"/>
            <a:ext cx="12192000" cy="51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Recursive backtracking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Write a recursive function </a:t>
            </a:r>
            <a:r>
              <a:rPr lang="en-US" sz="2000" dirty="0" err="1"/>
              <a:t>dp</a:t>
            </a:r>
            <a:r>
              <a:rPr lang="en-US" sz="2000" dirty="0"/>
              <a:t>(g, b) 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g is the current garment g that we are dealing with 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b is the current (remaining) budget b that we have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returns the required answer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Note that the pair (g, b) is the state of this problem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Idea: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Start with g</a:t>
            </a:r>
            <a:r>
              <a:rPr lang="en-US" sz="2000" baseline="-25000" dirty="0"/>
              <a:t>0</a:t>
            </a:r>
            <a:r>
              <a:rPr lang="en-US" sz="2000" dirty="0"/>
              <a:t> (first garment) and b=M (initial budget) then try all possible models in garment g</a:t>
            </a:r>
            <a:r>
              <a:rPr lang="en-US" sz="2000" baseline="-25000" dirty="0"/>
              <a:t>0</a:t>
            </a:r>
            <a:r>
              <a:rPr lang="en-US" sz="2000" dirty="0"/>
              <a:t> and recurse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Stop when we tried all the garments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Prune when a solution is infeasible (b &lt; 0)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Pick solution with result that is the smallest non-negative b</a:t>
            </a:r>
            <a:endParaRPr sz="2100" dirty="0"/>
          </a:p>
        </p:txBody>
      </p:sp>
      <p:sp>
        <p:nvSpPr>
          <p:cNvPr id="159" name="Google Shape;159;g39ce74de10f_0_44"/>
          <p:cNvSpPr txBox="1"/>
          <p:nvPr/>
        </p:nvSpPr>
        <p:spPr>
          <a:xfrm>
            <a:off x="0" y="6216850"/>
            <a:ext cx="11231400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ct val="100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sz="2000" b="0" i="0" u="none" strike="noStrike" cap="non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lang="en-US" sz="20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sz="2000" b="0" i="0" u="none" strike="noStrike" cap="non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ce74de10f_0_118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Complete Search</a:t>
            </a:r>
            <a:endParaRPr/>
          </a:p>
        </p:txBody>
      </p:sp>
      <p:sp>
        <p:nvSpPr>
          <p:cNvPr id="166" name="Google Shape;166;g39ce74de10f_0_118"/>
          <p:cNvSpPr txBox="1">
            <a:spLocks noGrp="1"/>
          </p:cNvSpPr>
          <p:nvPr>
            <p:ph type="body" idx="1"/>
          </p:nvPr>
        </p:nvSpPr>
        <p:spPr>
          <a:xfrm>
            <a:off x="0" y="1096825"/>
            <a:ext cx="12192000" cy="51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Formally define Complete Search recurrences (transitions)</a:t>
            </a:r>
            <a:endParaRPr sz="2000" dirty="0"/>
          </a:p>
          <a:p>
            <a:pPr marL="9144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dirty="0"/>
              <a:t>if b &lt; 0 (i.e., the remaining budget goes negative), </a:t>
            </a:r>
            <a:endParaRPr sz="2000" dirty="0"/>
          </a:p>
          <a:p>
            <a:pPr marL="13716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 dirty="0" err="1"/>
              <a:t>dp</a:t>
            </a:r>
            <a:r>
              <a:rPr lang="en-US" sz="2000" dirty="0"/>
              <a:t>(g, b) = - </a:t>
            </a:r>
            <a:r>
              <a:rPr lang="en-US" sz="2300" dirty="0"/>
              <a:t>∞</a:t>
            </a:r>
            <a:r>
              <a:rPr lang="en-US" sz="2000" dirty="0"/>
              <a:t>(in practice, we can just return a large negative value)</a:t>
            </a:r>
            <a:endParaRPr sz="2000" dirty="0"/>
          </a:p>
          <a:p>
            <a:pPr marL="9144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dirty="0"/>
              <a:t>If a model from the last garment type has been bought, that is, </a:t>
            </a:r>
            <a:r>
              <a:rPr lang="en-US" sz="2000" dirty="0" err="1"/>
              <a:t>g</a:t>
            </a:r>
            <a:r>
              <a:rPr lang="en-US" sz="2000" baseline="-25000" dirty="0" err="1"/>
              <a:t>C</a:t>
            </a:r>
            <a:r>
              <a:rPr lang="en-US" sz="2000" dirty="0"/>
              <a:t> </a:t>
            </a:r>
            <a:endParaRPr sz="2000" dirty="0"/>
          </a:p>
          <a:p>
            <a:pPr marL="13716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 dirty="0" err="1"/>
              <a:t>dp</a:t>
            </a:r>
            <a:r>
              <a:rPr lang="en-US" sz="2000" dirty="0"/>
              <a:t>(g, b) = M-b (this is the actual budget that we spent)</a:t>
            </a:r>
            <a:endParaRPr sz="2000" dirty="0"/>
          </a:p>
          <a:p>
            <a:pPr marL="9144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dirty="0"/>
              <a:t> In general case, for every garment in current garment type </a:t>
            </a:r>
            <a:r>
              <a:rPr lang="en-US" sz="2000" dirty="0" err="1"/>
              <a:t>g</a:t>
            </a:r>
            <a:r>
              <a:rPr lang="en-US" sz="2000" baseline="-25000" dirty="0" err="1"/>
              <a:t>i</a:t>
            </a:r>
            <a:r>
              <a:rPr lang="en-US" sz="2000" dirty="0"/>
              <a:t> </a:t>
            </a:r>
            <a:endParaRPr sz="2000" dirty="0"/>
          </a:p>
          <a:p>
            <a:pPr marL="13716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 dirty="0" err="1"/>
              <a:t>dp</a:t>
            </a:r>
            <a:r>
              <a:rPr lang="en-US" sz="2000" dirty="0"/>
              <a:t>(g, b) = max(</a:t>
            </a:r>
            <a:r>
              <a:rPr lang="en-US" sz="2000" dirty="0" err="1"/>
              <a:t>dp</a:t>
            </a:r>
            <a:r>
              <a:rPr lang="en-US" sz="2000" dirty="0"/>
              <a:t>(g</a:t>
            </a:r>
            <a:r>
              <a:rPr lang="en-US" sz="2000" baseline="-25000" dirty="0"/>
              <a:t>i+1</a:t>
            </a:r>
            <a:r>
              <a:rPr lang="en-US" sz="2000" dirty="0"/>
              <a:t>, b-price[ </a:t>
            </a:r>
            <a:r>
              <a:rPr lang="en-US" sz="2000" dirty="0" err="1"/>
              <a:t>g</a:t>
            </a:r>
            <a:r>
              <a:rPr lang="en-US" sz="2000" baseline="-25000" dirty="0" err="1"/>
              <a:t>i</a:t>
            </a:r>
            <a:r>
              <a:rPr lang="en-US" sz="2000" baseline="-25000" dirty="0"/>
              <a:t> </a:t>
            </a:r>
            <a:r>
              <a:rPr lang="en-US" sz="2000" dirty="0"/>
              <a:t>][model]))</a:t>
            </a:r>
            <a:endParaRPr sz="2000" dirty="0"/>
          </a:p>
          <a:p>
            <a:pPr marL="13716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 dirty="0"/>
              <a:t>We want to maximize this value (Recall that the invalid ones have large negative value)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Issue: Very very slow!!!!!!!  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There can be up to 20 garments each with up to 20 models, therefore there are 20</a:t>
            </a:r>
            <a:r>
              <a:rPr lang="en-US" sz="2100" baseline="30000" dirty="0"/>
              <a:t>20</a:t>
            </a:r>
            <a:r>
              <a:rPr lang="en-US" sz="2100" dirty="0"/>
              <a:t> solutions that it could possibly check in the worst case</a:t>
            </a:r>
            <a:endParaRPr sz="21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100" dirty="0"/>
          </a:p>
        </p:txBody>
      </p:sp>
      <p:sp>
        <p:nvSpPr>
          <p:cNvPr id="167" name="Google Shape;167;g39ce74de10f_0_118"/>
          <p:cNvSpPr txBox="1"/>
          <p:nvPr/>
        </p:nvSpPr>
        <p:spPr>
          <a:xfrm>
            <a:off x="0" y="6216850"/>
            <a:ext cx="11231400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ct val="100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sz="2000" b="0" i="0" u="none" strike="noStrike" cap="non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lang="en-US" sz="20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sz="2000" b="0" i="0" u="none" strike="noStrike" cap="non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DE7A09EE-424C-935D-7EAD-E5DBE923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9ce74de10f_0_155">
            <a:extLst>
              <a:ext uri="{FF2B5EF4-FFF2-40B4-BE49-F238E27FC236}">
                <a16:creationId xmlns:a16="http://schemas.microsoft.com/office/drawing/2014/main" id="{1C534F31-1DAF-D117-7349-1D536B287F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Top-Down vs Bottom-UP DP</a:t>
            </a:r>
            <a:endParaRPr/>
          </a:p>
        </p:txBody>
      </p:sp>
      <p:sp>
        <p:nvSpPr>
          <p:cNvPr id="284" name="Google Shape;284;g39ce74de10f_0_155">
            <a:extLst>
              <a:ext uri="{FF2B5EF4-FFF2-40B4-BE49-F238E27FC236}">
                <a16:creationId xmlns:a16="http://schemas.microsoft.com/office/drawing/2014/main" id="{95AE7D61-D7B0-397A-CA3E-3D40A5F1F3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Top-Down (Memoization):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Write a recursive Complete Search function.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Save (</a:t>
            </a:r>
            <a:r>
              <a:rPr lang="en-US" sz="1800" dirty="0" err="1"/>
              <a:t>memoize</a:t>
            </a:r>
            <a:r>
              <a:rPr lang="en-US" sz="1800" dirty="0"/>
              <a:t>) the return value in a lookup table (array or hash map) based on the state parameters.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If the state has been visited before, return the saved value instead of branching further.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b="1" dirty="0"/>
              <a:t>Pros</a:t>
            </a:r>
            <a:r>
              <a:rPr lang="en-US" sz="1800" dirty="0"/>
              <a:t>: Natural translation from problem description; only computes necessary states.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b="1" dirty="0"/>
              <a:t>Cons</a:t>
            </a:r>
            <a:r>
              <a:rPr lang="en-US" sz="1800" dirty="0"/>
              <a:t>: Can be slower than Bottom-Up</a:t>
            </a:r>
            <a:endParaRPr lang="en-US" sz="1800" b="1" dirty="0"/>
          </a:p>
          <a:p>
            <a:pPr marL="558800" lvl="1" indent="0">
              <a:spcBef>
                <a:spcPts val="0"/>
              </a:spcBef>
              <a:buSzPts val="2000"/>
              <a:buNone/>
            </a:pPr>
            <a:endParaRPr lang="en-US" sz="1800" dirty="0"/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Bottom-Up (Tabulation):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Build a table iteratively starting from the base cases up to the final answer.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Determine the topological order of subproblem dependencies.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b="1" dirty="0"/>
              <a:t>Pros</a:t>
            </a:r>
            <a:r>
              <a:rPr lang="en-US" sz="1800" dirty="0"/>
              <a:t>: Avoids recursive overhead; more cache-friendly memory access.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b="1" dirty="0"/>
              <a:t>Cons</a:t>
            </a:r>
            <a:r>
              <a:rPr lang="en-US" sz="1800" dirty="0"/>
              <a:t>: Not as intuitive to reason through </a:t>
            </a:r>
          </a:p>
        </p:txBody>
      </p:sp>
    </p:spTree>
    <p:extLst>
      <p:ext uri="{BB962C8B-B14F-4D97-AF65-F5344CB8AC3E}">
        <p14:creationId xmlns:p14="http://schemas.microsoft.com/office/powerpoint/2010/main" val="22482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ce74de10f_0_93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Top-Down</a:t>
            </a:r>
            <a:endParaRPr/>
          </a:p>
        </p:txBody>
      </p:sp>
      <p:sp>
        <p:nvSpPr>
          <p:cNvPr id="182" name="Google Shape;182;g39ce74de10f_0_93"/>
          <p:cNvSpPr txBox="1">
            <a:spLocks noGrp="1"/>
          </p:cNvSpPr>
          <p:nvPr>
            <p:ph type="body" idx="1"/>
          </p:nvPr>
        </p:nvSpPr>
        <p:spPr>
          <a:xfrm>
            <a:off x="0" y="1096825"/>
            <a:ext cx="12192000" cy="42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How many distinct problems?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20 possible garments and 201 (0 to 200 inclusive) possible budget values therefore there are only 201x20 = 4020 distinct sub-problems! DP allows you to calculate each just once!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We can use a recursive backtracking complete search algorithm and turn it into a top-down DP by adding the following:</a:t>
            </a:r>
            <a:endParaRPr sz="2000" dirty="0"/>
          </a:p>
          <a:p>
            <a:pPr marL="9144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dirty="0"/>
              <a:t>DP memo table so that we can access in O(1) past calculations</a:t>
            </a:r>
            <a:endParaRPr sz="2000" dirty="0"/>
          </a:p>
          <a:p>
            <a:pPr marL="13716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 dirty="0"/>
              <a:t>Fill DP memo table with a dummy value that signifies that the calculation has not been made yet</a:t>
            </a:r>
            <a:endParaRPr sz="2000" dirty="0"/>
          </a:p>
          <a:p>
            <a:pPr marL="9144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dirty="0"/>
              <a:t>At the start of recursive function, check if this state has been computed before</a:t>
            </a:r>
            <a:endParaRPr sz="2000" dirty="0"/>
          </a:p>
          <a:p>
            <a:pPr marL="13716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 dirty="0"/>
              <a:t>If it has, return value from DP memo table (origin of word memoization)</a:t>
            </a:r>
            <a:endParaRPr sz="2000" dirty="0"/>
          </a:p>
          <a:p>
            <a:pPr marL="13716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 dirty="0"/>
              <a:t>If it has not been computed before, perform computation and store in DP memo table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ce74de10f_0_68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3.5 Dynamic Programming – Top-Down</a:t>
            </a:r>
            <a:endParaRPr dirty="0"/>
          </a:p>
        </p:txBody>
      </p:sp>
      <p:sp>
        <p:nvSpPr>
          <p:cNvPr id="174" name="Google Shape;174;g39ce74de10f_0_68"/>
          <p:cNvSpPr txBox="1">
            <a:spLocks noGrp="1"/>
          </p:cNvSpPr>
          <p:nvPr>
            <p:ph type="body" idx="1"/>
          </p:nvPr>
        </p:nvSpPr>
        <p:spPr>
          <a:xfrm>
            <a:off x="0" y="1096825"/>
            <a:ext cx="12192000" cy="762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Python has </a:t>
            </a:r>
            <a:r>
              <a:rPr lang="en-US" sz="2000" dirty="0" err="1"/>
              <a:t>lru_cache</a:t>
            </a:r>
            <a:r>
              <a:rPr lang="en-US" sz="2000" dirty="0"/>
              <a:t> (from </a:t>
            </a:r>
            <a:r>
              <a:rPr lang="en-US" sz="2000" dirty="0" err="1"/>
              <a:t>functools</a:t>
            </a:r>
            <a:r>
              <a:rPr lang="en-US" sz="2000" dirty="0"/>
              <a:t> library) that is a built-in memoization table 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It will automatically save and then retrieve answers that are the same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3984A1-661E-1A31-9BB6-A57BDCCD8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602" y="2097118"/>
            <a:ext cx="5112249" cy="43968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ce74de10f_0_100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Top-Down</a:t>
            </a:r>
            <a:endParaRPr/>
          </a:p>
        </p:txBody>
      </p:sp>
      <p:sp>
        <p:nvSpPr>
          <p:cNvPr id="190" name="Google Shape;190;g39ce74de10f_0_100"/>
          <p:cNvSpPr txBox="1">
            <a:spLocks noGrp="1"/>
          </p:cNvSpPr>
          <p:nvPr>
            <p:ph type="body" idx="1"/>
          </p:nvPr>
        </p:nvSpPr>
        <p:spPr>
          <a:xfrm>
            <a:off x="0" y="1096825"/>
            <a:ext cx="12192000" cy="42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Runtime analysis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If it has M distinct states, then it requires O(M) memory space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If computing one state (complexity of DP transition) requires O(k) step, then overall time complexity is O(Mk) as DP guarantees that each state is just computed once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This UVa 11450 problem has M = 20 x 201 = 4020 and k = 20 (as we must iterate through at most 20 models for each garment g). 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Thus, the time complexity is at most 4020 x 20 = 80 400 operations per test case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ce74de10f_0_51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3.5 Dynamic Programming – Bottom-Up</a:t>
            </a:r>
            <a:endParaRPr dirty="0"/>
          </a:p>
        </p:txBody>
      </p:sp>
      <p:sp>
        <p:nvSpPr>
          <p:cNvPr id="198" name="Google Shape;198;g39ce74de10f_0_51"/>
          <p:cNvSpPr txBox="1">
            <a:spLocks noGrp="1"/>
          </p:cNvSpPr>
          <p:nvPr>
            <p:ph type="body" idx="1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dirty="0"/>
              <a:t>Determine the required set of parameters that uniquely describe the problem (the state)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 dirty="0"/>
              <a:t>Similar to recursive backtracking and top-down DP as shown earlier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dirty="0"/>
              <a:t>If there are N parameters required to represent the states, create an N dimensional array (DP table), with one entry per state. 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 dirty="0"/>
              <a:t>Similar to the memo table in top-down DP; however, in bottom-up DP, we only need to initialize some cells of the DP table with known initial values (the base cases) rather than dummy values as in top-down DP.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dirty="0"/>
              <a:t>With the base-case cells/states in the DP table already filled, determine the cells/states that can be filled next (the transitions)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 dirty="0"/>
              <a:t>Repeat this process until the DP table is complete 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 dirty="0"/>
              <a:t>Usually accomplished through iterations, using loops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ce74de10f_0_148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Bottom-Up</a:t>
            </a:r>
            <a:endParaRPr/>
          </a:p>
        </p:txBody>
      </p:sp>
      <p:sp>
        <p:nvSpPr>
          <p:cNvPr id="206" name="Google Shape;206;g39ce74de10f_0_148"/>
          <p:cNvSpPr txBox="1">
            <a:spLocks noGrp="1"/>
          </p:cNvSpPr>
          <p:nvPr>
            <p:ph type="body" idx="1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 dirty="0"/>
              <a:t>We will use example A 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dirty="0"/>
              <a:t>Determine the required set of parameters that uniquely describe the problem (the state)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 dirty="0"/>
              <a:t>Two parameters: the current garment g and the current budget left b (same as top-down)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dirty="0"/>
              <a:t>Let g be the row indices 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 dirty="0"/>
              <a:t>Init 2D table (Boolean matrix) reachable[g][b] of size 20 x 201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dirty="0"/>
              <a:t>Fill in the table row by row using previous rows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 dirty="0"/>
              <a:t>Row 0: 12 (from 20-8), 14 (from 20-6), and 16 (from 20-4)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 dirty="0"/>
              <a:t>Let p be the price of a model of current garment g. Loop through rest of the rows where if reachable[g-1][b] is true, then the next state reachable[g][b-p] is also reachable as long as b-p is not negative.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dirty="0"/>
              <a:t>Answer is the the reachable state that is closest to 0 (as we want to have the least amount of money left)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 dirty="0"/>
              <a:t>If there are no reachable states in the last row then there are no solutions</a:t>
            </a:r>
            <a:endParaRPr sz="2000"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 dirty="0"/>
              <a:t>Let’s work it out! 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e86a3ee18_0_0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Bottom-Up Ex: 1, Step 1</a:t>
            </a:r>
            <a:endParaRPr/>
          </a:p>
        </p:txBody>
      </p:sp>
      <p:sp>
        <p:nvSpPr>
          <p:cNvPr id="214" name="Google Shape;214;g39e86a3ee18_0_0"/>
          <p:cNvSpPr txBox="1">
            <a:spLocks noGrp="1"/>
          </p:cNvSpPr>
          <p:nvPr>
            <p:ph type="body" idx="1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Determine the required set of parameters that uniquely describe the problem (the state)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Two parameters: the current garment g and the current budget left b (same as top-down)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e86a3ee18_0_14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Bottom-Up Ex: 1, Step 2</a:t>
            </a:r>
            <a:endParaRPr/>
          </a:p>
        </p:txBody>
      </p:sp>
      <p:sp>
        <p:nvSpPr>
          <p:cNvPr id="222" name="Google Shape;222;g39e86a3ee18_0_14"/>
          <p:cNvSpPr txBox="1">
            <a:spLocks noGrp="1"/>
          </p:cNvSpPr>
          <p:nvPr>
            <p:ph type="body" idx="1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Let g be the row indices 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Init 2D table (Boolean matrix) reachable[g][b] of size 20 x 201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endParaRPr sz="2000"/>
          </a:p>
        </p:txBody>
      </p:sp>
      <p:pic>
        <p:nvPicPr>
          <p:cNvPr id="224" name="Google Shape;224;g39e86a3ee18_0_14" title="IMG_DF7592FB2942-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175" y="2490175"/>
            <a:ext cx="11628851" cy="2833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e86a3ee18_0_22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Bottom-Up Ex: 1, Step 3</a:t>
            </a:r>
            <a:endParaRPr/>
          </a:p>
        </p:txBody>
      </p:sp>
      <p:sp>
        <p:nvSpPr>
          <p:cNvPr id="231" name="Google Shape;231;g39e86a3ee18_0_22"/>
          <p:cNvSpPr txBox="1">
            <a:spLocks noGrp="1"/>
          </p:cNvSpPr>
          <p:nvPr>
            <p:ph type="body" idx="1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Fill in the table row by row using previous rows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Row 0: 12 (from 20-8), 14 (from 20-6), and 16 (from 20-4)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Let p be the price of a model of current garment g. Loop through rest of the rows where if reachable[g-1][b] is true, then the next state reachable[g][b-p] is also reachable as long as b-p is not negative.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endParaRPr sz="2000"/>
          </a:p>
        </p:txBody>
      </p:sp>
      <p:pic>
        <p:nvPicPr>
          <p:cNvPr id="233" name="Google Shape;233;g39e86a3ee18_0_22" title="IMG_91FEB433994F-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275" y="2967350"/>
            <a:ext cx="11117076" cy="279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e86a3ee18_0_32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Bottom-Up Ex: 1, Step 3</a:t>
            </a:r>
            <a:endParaRPr/>
          </a:p>
        </p:txBody>
      </p:sp>
      <p:pic>
        <p:nvPicPr>
          <p:cNvPr id="241" name="Google Shape;241;g39e86a3ee18_0_32" title="IMG_9C67FEBE8E73-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25" y="1807646"/>
            <a:ext cx="11887201" cy="2960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e86a3ee18_0_41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Bottom-Up Ex: 1, Step 3</a:t>
            </a:r>
            <a:endParaRPr/>
          </a:p>
        </p:txBody>
      </p:sp>
      <p:pic>
        <p:nvPicPr>
          <p:cNvPr id="249" name="Google Shape;249;g39e86a3ee18_0_41" title="IMG_76062F2CBDE0-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25046"/>
            <a:ext cx="11887201" cy="293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e86a3ee18_0_57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Bottom-Up Ex: 1, Step 4</a:t>
            </a:r>
            <a:endParaRPr/>
          </a:p>
        </p:txBody>
      </p:sp>
      <p:sp>
        <p:nvSpPr>
          <p:cNvPr id="256" name="Google Shape;256;g39e86a3ee18_0_57"/>
          <p:cNvSpPr txBox="1">
            <a:spLocks noGrp="1"/>
          </p:cNvSpPr>
          <p:nvPr>
            <p:ph type="body" idx="1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Answer is the the reachable state that is closest to 0 (as we want to have the least amount of money left)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If there are no reachable states in the last row then there are no solutions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Here, the answer is 19! (20-1)</a:t>
            </a:r>
            <a:endParaRPr sz="2000"/>
          </a:p>
        </p:txBody>
      </p:sp>
      <p:pic>
        <p:nvPicPr>
          <p:cNvPr id="258" name="Google Shape;258;g39e86a3ee18_0_57" title="IMG_76062F2CBDE0-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98334"/>
            <a:ext cx="11887201" cy="293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9ce74de10f_0_210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Bottom-Up</a:t>
            </a:r>
            <a:endParaRPr/>
          </a:p>
        </p:txBody>
      </p:sp>
      <p:sp>
        <p:nvSpPr>
          <p:cNvPr id="265" name="Google Shape;265;g39ce74de10f_0_210"/>
          <p:cNvSpPr txBox="1">
            <a:spLocks noGrp="1"/>
          </p:cNvSpPr>
          <p:nvPr>
            <p:ph type="body" idx="1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For problems where we only need the last row of the DP table (the optimal answer and not the whole solution) you can optimize memory usage!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Note that we only need to store two rows, the current row we are processing and the previous row we have processed.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To compute row 1, we only need to know the columns in row 0 that are set to true in reachable. 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To compute row 2, we only need to know the columns in row 1 that are set to true in reachable.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Instead of having a whole table, we can just </a:t>
            </a:r>
            <a:r>
              <a:rPr lang="en-US" sz="2000" dirty="0" err="1"/>
              <a:t>init</a:t>
            </a:r>
            <a:r>
              <a:rPr lang="en-US" sz="2000" dirty="0"/>
              <a:t> 2 rows, have one be a </a:t>
            </a:r>
            <a:r>
              <a:rPr lang="en-US" sz="2000" dirty="0" err="1"/>
              <a:t>curr</a:t>
            </a:r>
            <a:r>
              <a:rPr lang="en-US" sz="2000" dirty="0"/>
              <a:t>, the other be a </a:t>
            </a:r>
            <a:r>
              <a:rPr lang="en-US" sz="2000" dirty="0" err="1"/>
              <a:t>prev</a:t>
            </a:r>
            <a:r>
              <a:rPr lang="en-US" sz="2000" dirty="0"/>
              <a:t> and then swap the two rows as we compute!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For this problem it doesn’t save that much space, but for more complicated problems and larger datasets, it can be useful!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e86a3ee18_0_7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Bottom-Up</a:t>
            </a:r>
            <a:endParaRPr/>
          </a:p>
        </p:txBody>
      </p:sp>
      <p:pic>
        <p:nvPicPr>
          <p:cNvPr id="274" name="Google Shape;274;g39e86a3ee18_0_7" title="IMG_283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675" y="4850617"/>
            <a:ext cx="9628631" cy="122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g39e86a3ee18_0_7" title="IMG_2837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1675" y="3570638"/>
            <a:ext cx="9628631" cy="1206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39e86a3ee18_0_7" title="IMG_2836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1686" y="2313951"/>
            <a:ext cx="9628631" cy="1184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39e86a3ee18_0_7" title="IMG_CC7CA83BADB5-1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81675" y="1033997"/>
            <a:ext cx="9628631" cy="121045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66;g39ce74de10f_0_210">
            <a:extLst>
              <a:ext uri="{FF2B5EF4-FFF2-40B4-BE49-F238E27FC236}">
                <a16:creationId xmlns:a16="http://schemas.microsoft.com/office/drawing/2014/main" id="{35F91360-0A69-7EB4-F9ED-DF378692B821}"/>
              </a:ext>
            </a:extLst>
          </p:cNvPr>
          <p:cNvSpPr txBox="1"/>
          <p:nvPr/>
        </p:nvSpPr>
        <p:spPr>
          <a:xfrm>
            <a:off x="480290" y="6159749"/>
            <a:ext cx="112314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Code:</a:t>
            </a:r>
            <a:endParaRPr sz="2000" b="0" i="0" u="none" strike="noStrike" cap="none" dirty="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355600">
              <a:buClr>
                <a:srgbClr val="262626"/>
              </a:buClr>
              <a:buSzPts val="2000"/>
              <a:buFont typeface="Gill Sans"/>
              <a:buChar char="•"/>
            </a:pPr>
            <a:r>
              <a:rPr lang="en-US" sz="2000" dirty="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  <a:hlinkClick r:id="rId7"/>
              </a:rPr>
              <a:t>https://github.com/stevenhalim/cpbook-code/blob/master/ch3/dp/UVa11450_bu.py</a:t>
            </a:r>
            <a:r>
              <a:rPr lang="en-US" sz="2000" dirty="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2000" b="0" i="0" u="none" strike="noStrike" cap="none" dirty="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ce74de10f_0_166"/>
          <p:cNvSpPr txBox="1">
            <a:spLocks noGrp="1"/>
          </p:cNvSpPr>
          <p:nvPr>
            <p:ph type="title"/>
          </p:nvPr>
        </p:nvSpPr>
        <p:spPr>
          <a:xfrm>
            <a:off x="1538550" y="148275"/>
            <a:ext cx="91149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Displaying the Optimal Solution</a:t>
            </a:r>
            <a:endParaRPr/>
          </a:p>
        </p:txBody>
      </p:sp>
      <p:sp>
        <p:nvSpPr>
          <p:cNvPr id="293" name="Google Shape;293;g39ce74de10f_0_166"/>
          <p:cNvSpPr txBox="1">
            <a:spLocks noGrp="1"/>
          </p:cNvSpPr>
          <p:nvPr>
            <p:ph type="body" idx="1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What if you have to print the optimal solution? All optimal solutions???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Approach 1, TD and BU DP: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Store the predecessor information at each state, if more than 1 optimal, save them in a list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Once final state is found, follow optimal transition at each state and print them all </a:t>
            </a:r>
            <a:endParaRPr sz="2000" dirty="0"/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If problem asks for all solutions, use backtracking (unusual for problems)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Approach 2, TD DP: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use recursion + memoization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Add another recursive function </a:t>
            </a:r>
            <a:r>
              <a:rPr lang="en-US" sz="2000" u="sng" dirty="0"/>
              <a:t>void print </a:t>
            </a:r>
            <a:r>
              <a:rPr lang="en-US" sz="2000" u="sng" dirty="0" err="1"/>
              <a:t>dp</a:t>
            </a:r>
            <a:r>
              <a:rPr lang="en-US" sz="2000" u="sng" dirty="0"/>
              <a:t>(int g, int b)</a:t>
            </a:r>
            <a:r>
              <a:rPr lang="en-US" sz="2000" dirty="0"/>
              <a:t> that uses values stored in memo table to reconstruct the solution</a:t>
            </a:r>
            <a:endParaRPr sz="2000" dirty="0"/>
          </a:p>
        </p:txBody>
      </p:sp>
      <p:pic>
        <p:nvPicPr>
          <p:cNvPr id="295" name="Google Shape;295;g39ce74de10f_0_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3199" y="3761177"/>
            <a:ext cx="7098198" cy="2178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ce74de10f_0_190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Classic Examples</a:t>
            </a:r>
            <a:endParaRPr/>
          </a:p>
        </p:txBody>
      </p:sp>
      <p:sp>
        <p:nvSpPr>
          <p:cNvPr id="302" name="Google Shape;302;g39ce74de10f_0_190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47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There are 6 “classical” examples of DP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In the textbook section 3.5.2 Classical Examples goes through each one in depth providing multiple algorithms in increasing effectiveness (in terms of runtime)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Highly suggest you read over this section!!!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The one problem of each of the 6 types are suggested as homework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CA" sz="2000" dirty="0"/>
              <a:t>RSQ (Range Search Query)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CA" sz="2000" dirty="0"/>
              <a:t>LIS (Longest Increasing Subsequence)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CA" sz="2000" dirty="0"/>
              <a:t>CC (Coin Change)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CA" sz="2000" dirty="0"/>
              <a:t>TSP (Travelling Salesman Problem)</a:t>
            </a:r>
            <a:endParaRPr sz="2000" dirty="0"/>
          </a:p>
        </p:txBody>
      </p:sp>
      <p:pic>
        <p:nvPicPr>
          <p:cNvPr id="304" name="Google Shape;304;g39ce74de10f_0_1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636" y="4103318"/>
            <a:ext cx="10494727" cy="23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9ce74de10f_0_198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Non-Classical Examples</a:t>
            </a:r>
            <a:endParaRPr/>
          </a:p>
        </p:txBody>
      </p:sp>
      <p:sp>
        <p:nvSpPr>
          <p:cNvPr id="311" name="Google Shape;311;g39ce74de10f_0_198"/>
          <p:cNvSpPr txBox="1">
            <a:spLocks noGrp="1"/>
          </p:cNvSpPr>
          <p:nvPr>
            <p:ph type="body" idx="1"/>
          </p:nvPr>
        </p:nvSpPr>
        <p:spPr>
          <a:xfrm>
            <a:off x="494675" y="1096824"/>
            <a:ext cx="11231400" cy="438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In modern contests, you will rarely be asked a pure, undisguised classical DP problem.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Identifying the State: 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The hardest part of non-classical DP is defining the parameters that uniquely identify a "subproblem" state.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Adding Dimensions: 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You often need to add constraints directly into the state.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Example: Instead of just </a:t>
            </a:r>
            <a:r>
              <a:rPr lang="en-US" sz="1800" dirty="0" err="1"/>
              <a:t>dp</a:t>
            </a:r>
            <a:r>
              <a:rPr lang="en-US" sz="1800" dirty="0"/>
              <a:t>(index), you might need </a:t>
            </a:r>
            <a:r>
              <a:rPr lang="en-US" sz="1800" dirty="0" err="1"/>
              <a:t>dp</a:t>
            </a:r>
            <a:r>
              <a:rPr lang="en-US" sz="1800" dirty="0"/>
              <a:t>(index, </a:t>
            </a:r>
            <a:r>
              <a:rPr lang="en-US" sz="1800" dirty="0" err="1"/>
              <a:t>has_used_special_ability</a:t>
            </a:r>
            <a:r>
              <a:rPr lang="en-US" sz="1800" dirty="0"/>
              <a:t>, </a:t>
            </a:r>
            <a:r>
              <a:rPr lang="en-US" sz="1800" dirty="0" err="1"/>
              <a:t>remainder_modulo_K</a:t>
            </a:r>
            <a:r>
              <a:rPr lang="en-US" sz="1800" dirty="0"/>
              <a:t>).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DP on Trees / Graphs: Combining DP with Depth First Search (DFS) where the subproblems are the subtrees of a graph.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Tip: Practice writing the brute-force recursive backtrack first. The parameters you pass to that recursive function are usually your DP state!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Check the textbook for more worked examples and practice problems!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9ce74de10f_0_155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Top-Down vs Bottom-UP DP</a:t>
            </a:r>
            <a:endParaRPr/>
          </a:p>
        </p:txBody>
      </p:sp>
      <p:sp>
        <p:nvSpPr>
          <p:cNvPr id="284" name="Google Shape;284;g39ce74de10f_0_155"/>
          <p:cNvSpPr txBox="1">
            <a:spLocks noGrp="1"/>
          </p:cNvSpPr>
          <p:nvPr>
            <p:ph type="body" idx="1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 the top-down DP, the memo table entries are filled ‘as needed’ through the recursion itself.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 the bottom-up DP, we use a correct ‘DP table filling order’ to compute the values such that the previous values needed to process the current cell have already been obtained.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For most DP problems, these two styles are equally good and the decision to use a particular DP style is a matter of preference. However, for harder DP problems, one of the styles can be better than the other.</a:t>
            </a:r>
            <a:endParaRPr sz="2000"/>
          </a:p>
        </p:txBody>
      </p:sp>
      <p:pic>
        <p:nvPicPr>
          <p:cNvPr id="286" name="Google Shape;286;g39ce74de10f_0_1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25" y="2793700"/>
            <a:ext cx="6949574" cy="341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66F9C5D4-08F4-77E3-2136-FDF08B201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E85215E6-2F7E-B463-3E94-492F656F9E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Template</a:t>
            </a:r>
            <a:endParaRPr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DC13CAA2-88B3-4090-28B0-FB9B07F003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Template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271036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1943</TotalTime>
  <Words>3689</Words>
  <Application>Microsoft Macintosh PowerPoint</Application>
  <PresentationFormat>Widescreen</PresentationFormat>
  <Paragraphs>325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Gill Sans</vt:lpstr>
      <vt:lpstr>Arial</vt:lpstr>
      <vt:lpstr>Parcel</vt:lpstr>
      <vt:lpstr>Parcel</vt:lpstr>
      <vt:lpstr>ICPC Bootcamp Day 3</vt:lpstr>
      <vt:lpstr>3.4 Greedy</vt:lpstr>
      <vt:lpstr>Example: The Coin Change Problem</vt:lpstr>
      <vt:lpstr>3.5 Dynamic Programming</vt:lpstr>
      <vt:lpstr>3.5 Dynamic Programming – Problem Study Wedding Shopping</vt:lpstr>
      <vt:lpstr>3.5 Dynamic Programming – Example Test Cases</vt:lpstr>
      <vt:lpstr>3.5 Dynamic Programming – Greedy</vt:lpstr>
      <vt:lpstr>3.5 Dynamic Programming – Divide and Conquer</vt:lpstr>
      <vt:lpstr>3.5 Dynamic Programming – Complete Search</vt:lpstr>
      <vt:lpstr>3.5 Dynamic Programming – Complete Search</vt:lpstr>
      <vt:lpstr>3.5 Dynamic Programming Top-Down vs Bottom-UP DP</vt:lpstr>
      <vt:lpstr>3.5 Dynamic Programming – Top-Down</vt:lpstr>
      <vt:lpstr>3.5 Dynamic Programming – Top-Down</vt:lpstr>
      <vt:lpstr>3.5 Dynamic Programming – Top-Down</vt:lpstr>
      <vt:lpstr>3.5 Dynamic Programming – Bottom-Up</vt:lpstr>
      <vt:lpstr>3.5 Dynamic Programming – Bottom-Up</vt:lpstr>
      <vt:lpstr>Bottom-Up Ex: 1, Step 1</vt:lpstr>
      <vt:lpstr>Bottom-Up Ex: 1, Step 2</vt:lpstr>
      <vt:lpstr>Bottom-Up Ex: 1, Step 3</vt:lpstr>
      <vt:lpstr>Bottom-Up Ex: 1, Step 3</vt:lpstr>
      <vt:lpstr>Bottom-Up Ex: 1, Step 3</vt:lpstr>
      <vt:lpstr>Bottom-Up Ex: 1, Step 4</vt:lpstr>
      <vt:lpstr>3.5 Dynamic Programming – Bottom-Up</vt:lpstr>
      <vt:lpstr>3.5 Dynamic Programming – Bottom-Up</vt:lpstr>
      <vt:lpstr>3.5 Dynamic Programming – Displaying the Optimal Solution</vt:lpstr>
      <vt:lpstr>3.5 Dynamic Programming – Classic Examples</vt:lpstr>
      <vt:lpstr>3.5 Dynamic Programming – Non-Classical Examples</vt:lpstr>
      <vt:lpstr>3.5 Dynamic Programming Top-Down vs Bottom-UP DP</vt:lpstr>
      <vt:lpstr>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Ryan Pelchat</dc:creator>
  <cp:lastModifiedBy>Ryan Pelchat</cp:lastModifiedBy>
  <cp:revision>45</cp:revision>
  <dcterms:created xsi:type="dcterms:W3CDTF">2025-09-06T15:13:09Z</dcterms:created>
  <dcterms:modified xsi:type="dcterms:W3CDTF">2026-08-16T17:01:39Z</dcterms:modified>
</cp:coreProperties>
</file>