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2" r:id="rId3"/>
    <p:sldMasterId id="2147483674" r:id="rId4"/>
  </p:sldMasterIdLst>
  <p:notesMasterIdLst>
    <p:notesMasterId r:id="rId54"/>
  </p:notesMasterIdLst>
  <p:sldIdLst>
    <p:sldId id="256" r:id="rId5"/>
    <p:sldId id="318" r:id="rId6"/>
    <p:sldId id="315" r:id="rId7"/>
    <p:sldId id="569" r:id="rId8"/>
    <p:sldId id="316" r:id="rId9"/>
    <p:sldId id="595" r:id="rId10"/>
    <p:sldId id="596" r:id="rId11"/>
    <p:sldId id="629" r:id="rId12"/>
    <p:sldId id="597" r:id="rId13"/>
    <p:sldId id="598" r:id="rId14"/>
    <p:sldId id="599" r:id="rId15"/>
    <p:sldId id="600" r:id="rId16"/>
    <p:sldId id="626" r:id="rId17"/>
    <p:sldId id="601" r:id="rId18"/>
    <p:sldId id="602" r:id="rId19"/>
    <p:sldId id="603" r:id="rId20"/>
    <p:sldId id="604" r:id="rId21"/>
    <p:sldId id="605" r:id="rId22"/>
    <p:sldId id="627" r:id="rId23"/>
    <p:sldId id="606" r:id="rId24"/>
    <p:sldId id="607" r:id="rId25"/>
    <p:sldId id="608" r:id="rId26"/>
    <p:sldId id="609" r:id="rId27"/>
    <p:sldId id="628" r:id="rId28"/>
    <p:sldId id="610" r:id="rId29"/>
    <p:sldId id="481" r:id="rId30"/>
    <p:sldId id="570" r:id="rId31"/>
    <p:sldId id="317" r:id="rId32"/>
    <p:sldId id="265" r:id="rId33"/>
    <p:sldId id="266" r:id="rId34"/>
    <p:sldId id="267" r:id="rId35"/>
    <p:sldId id="314" r:id="rId36"/>
    <p:sldId id="630" r:id="rId37"/>
    <p:sldId id="631" r:id="rId38"/>
    <p:sldId id="700" r:id="rId39"/>
    <p:sldId id="701" r:id="rId40"/>
    <p:sldId id="702" r:id="rId41"/>
    <p:sldId id="703" r:id="rId42"/>
    <p:sldId id="704" r:id="rId43"/>
    <p:sldId id="705" r:id="rId44"/>
    <p:sldId id="706" r:id="rId45"/>
    <p:sldId id="707" r:id="rId46"/>
    <p:sldId id="708" r:id="rId47"/>
    <p:sldId id="709" r:id="rId48"/>
    <p:sldId id="710" r:id="rId49"/>
    <p:sldId id="711" r:id="rId50"/>
    <p:sldId id="632" r:id="rId51"/>
    <p:sldId id="634" r:id="rId52"/>
    <p:sldId id="633" r:id="rId5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14jFXTrCmS0u2hXQXGuC3zsn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/>
    <p:restoredTop sz="81136"/>
  </p:normalViewPr>
  <p:slideViewPr>
    <p:cSldViewPr snapToGrid="0">
      <p:cViewPr varScale="1">
        <p:scale>
          <a:sx n="124" d="100"/>
          <a:sy n="124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customschemas.google.com/relationships/presentationmetadata" Target="metadata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CEFBD716-5A47-3D56-F5D7-5FD3652A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6C4B19F9-B6FD-06C0-2F67-B41228E55B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D822ECCF-BF31-9BC4-F2A7-CE5A1953F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wiki.python.org</a:t>
            </a:r>
            <a:r>
              <a:rPr lang="en-US" dirty="0"/>
              <a:t>/</a:t>
            </a:r>
            <a:r>
              <a:rPr lang="en-US" dirty="0" err="1"/>
              <a:t>moin</a:t>
            </a:r>
            <a:r>
              <a:rPr lang="en-US" dirty="0"/>
              <a:t>/</a:t>
            </a:r>
            <a:r>
              <a:rPr lang="en-US" dirty="0" err="1"/>
              <a:t>TimeComplexity</a:t>
            </a:r>
            <a:endParaRPr lang="en-US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Quickly go through, can skip after the first 3 bullet points</a:t>
            </a:r>
            <a:br>
              <a:rPr lang="en-US" dirty="0"/>
            </a:br>
            <a:r>
              <a:rPr lang="en-US" dirty="0"/>
              <a:t>Graph represents nodes and paths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Undirected/Directed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Directed Acyclic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Tree: pick any 2 points, there is only 1 path between them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Forest: a bunch of trees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Complete Graph: every point directly connects to every other point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Bipartite graph: you can split the vertices in such a way that they only connect to the other group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lang="en-US" dirty="0"/>
              <a:t>Multigraph: You can have an edge that starts and terminates on itself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8ECE0D70-4944-05D8-4CE1-F4C600C249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685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AFAAF526-F8BC-FD34-FE9A-28CD33AF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17CD2FDF-6F21-05FD-8719-893958E3B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89B10DC9-784A-0A7F-858E-C5057C427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8F956FEF-9062-7CE1-9434-567C99EA31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5037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8DDCF5BB-B38D-0695-2919-6082A666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6D6F90BF-98A5-880F-FC3E-E936330996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92834E9D-989F-87A6-6882-E295F73C7E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900ADC58-4684-CE45-F5FB-2266B7647D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696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F237F77E-2851-7EE5-29D6-956C0F27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2B1B17D4-37F1-B51A-05C1-52C4C33F4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DAD11CAF-C016-E103-DCC1-5FF854EAA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74A597D1-7E75-C3C2-A54B-5E95F53936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737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4E77A3-8CF6-4558-BF09-7F87DE5DAFC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FE6859-CC9E-48B9-9DDD-E4CE6B6D750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4A566C-81AC-4D49-9239-76DC115045A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D402CC-F6F8-4BAE-8881-7C6F7A0EF1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B5FFD7F-4271-48E7-9677-DAAFD83B2EA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7FDF8CC-6AAB-408C-8ACE-655CD24C2CC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2449F34-82FB-479C-9E8C-C826E100D1A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FDF4AD-E5BE-41D6-A57D-A85D96C88F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56D350-5FF3-42D9-9EB0-2C0DE90112E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2564C2-3794-4288-B772-11EF0027089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7F0655-DC52-4BEA-B3D6-78C2940A21F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B34DA9B-B0D7-4787-9DB6-7AD0566FC1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DD40D3-9719-44DE-80DD-71FDE34EE08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4CA3CE-B475-4A5F-A40E-D1C421E25FD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9CCD3C-629B-4CE6-9474-9A75BE3D11C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3EB8CB-56F1-4C2B-AEAE-83D3EB6A211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15706C-4C08-4746-B63E-D5B50BC27EA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39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04527A0-90B1-4EA8-A0D3-5ADF38C3A67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97F88B-C94E-4707-A67D-8EDB5C31375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1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D5C033-5D3D-4F08-A029-82030A7E56A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2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574500C-9C5E-4E65-A9D3-8F024C210356}" type="slidenum">
              <a:rPr lang="en-US" altLang="en-US" smtClean="0"/>
              <a:pPr algn="r" eaLnBrk="1" hangingPunct="1">
                <a:spcBef>
                  <a:spcPct val="50000"/>
                </a:spcBef>
              </a:pPr>
              <a:t>26</a:t>
            </a:fld>
            <a:endParaRPr lang="en-US" altLang="en-US"/>
          </a:p>
        </p:txBody>
      </p:sp>
      <p:sp>
        <p:nvSpPr>
          <p:cNvPr id="247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0D56D5AD-F402-019B-49F4-DE9D12503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995116C0-3182-5F37-9ED7-5DCEF07C5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A8F32E24-3F49-9166-8A09-A409671B1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04291A81-5F79-F27A-4CCA-038AE0748D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59632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D6706FD9-7577-9506-5746-B2A2228D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98EB52DD-D5FE-C77B-D894-30A789F06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524DB9DB-66E6-A876-9514-56214FD50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DA4A8116-B099-53AA-B375-340B0BE11F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5160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36faffe8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836faffe8e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2" name="Google Shape;182;g3836faffe8e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36faffe8e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3836faffe8e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0" name="Google Shape;190;g3836faffe8e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36faffe8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836faffe8e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9" name="Google Shape;199;g3836faffe8e_0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7FA766C-D6E6-8151-883E-98A9C7DC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8B083D44-3CF6-00DC-0AFE-C1BA6F1E8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D186552E-A2A4-5960-C2D5-459A5A2F8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EDA0E95E-008F-A082-FAD6-A1192BA14B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84123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56724DCC-A641-8D04-0CAD-1342166C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B0D9DB53-3CF0-78B1-A8BE-71722BF74D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5CA69E5F-07DC-CA9F-0DB7-7E410B2E1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82FDDE98-E33D-21F9-4B1B-DD5DE9AB7F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71604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6FD74F30-8E36-270C-3394-62050765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278B171F-E570-202F-311F-EA0A8E3F2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01C4A820-6AE1-7BC3-289A-E4C12A9D96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1D43D6BF-85DA-03F3-67F7-A4823A1291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36608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358ABF-8217-4FBE-B3F3-D413B016A28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8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0AACE0-5CB4-4064-B92D-3D50EB3A55E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9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A966FA-BBD1-4612-AB69-7FEA41B5492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0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656D7D-63DC-4A0A-BC62-86D1350E743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1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96E137-431F-4A58-B948-5959F80B984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27526E-267C-40FA-AF4E-452AC992BB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EA1694-9321-4301-AF82-8042A984A593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4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83C5758-F521-418E-8B18-443022F3C52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5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5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EA9977-C8E2-4D2B-80DB-3CF86AE347E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3E830E-C734-40C1-8024-601D58468EED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7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3CF6A9-2BAC-413E-8B97-17272D9BFA5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8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A304266-D30D-4E76-BFD0-AB0537497FB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46CC3EC7-AA5A-3C26-E28E-D6529770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4F8A0278-F56A-1F06-B3B7-A323B2D1A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EBBE1E7E-7E9A-D33E-DC69-8D29EF6C1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E4DC0100-4EA8-941B-CCD0-ACFBD1DBF4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0712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48B619BF-1426-EBFD-6CC3-DF78DCE91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CD1B520C-EC8A-8A10-E76A-F56CC2F5F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57D0676B-FBE6-59E4-49C0-0EB6BE2C1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AB676844-79D6-414D-C33F-BB8C3B034E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45809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D0170E1-A106-9319-65A9-11BE28851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c4946a550_0_194:notes">
            <a:extLst>
              <a:ext uri="{FF2B5EF4-FFF2-40B4-BE49-F238E27FC236}">
                <a16:creationId xmlns:a16="http://schemas.microsoft.com/office/drawing/2014/main" id="{F2E29C3C-1113-8CBA-090F-BA5ED0253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0" name="Google Shape;220;g37c4946a550_0_194:notes">
            <a:extLst>
              <a:ext uri="{FF2B5EF4-FFF2-40B4-BE49-F238E27FC236}">
                <a16:creationId xmlns:a16="http://schemas.microsoft.com/office/drawing/2014/main" id="{6924A89B-2124-A23B-7B51-3F3EED03A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1" name="Google Shape;221;g37c4946a550_0_194:notes">
            <a:extLst>
              <a:ext uri="{FF2B5EF4-FFF2-40B4-BE49-F238E27FC236}">
                <a16:creationId xmlns:a16="http://schemas.microsoft.com/office/drawing/2014/main" id="{B37F42AB-3F30-F063-6FED-441EB86543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713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753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6164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048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9937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9257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005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9543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6342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590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6923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09058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6DFE4-7B4D-4D68-88E6-6938220450A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89499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2E730-A56A-4A90-B7A2-091596201BA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6333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79D06C-38CD-4FC4-B7AC-E452F4DBB6E0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69916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143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430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7F358-4B7B-462B-B91C-E1221F19287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0077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2B57D-918D-4B94-ABF0-619235F62AD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611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8F1E8-48EF-4BAD-B348-66F750FE2CB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68268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EF40D-FBEC-479F-B2DF-9E8126836C6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79443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EC19B-810D-4B95-8066-342832CB51F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7478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62DB0-A8BD-4A32-9983-4742B5095AC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42538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437CE-7E27-45DF-878D-9C78A509F23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74937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-228600"/>
            <a:ext cx="25908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-228600"/>
            <a:ext cx="75692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A1495B-0CAA-4365-AA63-F3B89C6A6EA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8180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-228600"/>
            <a:ext cx="10363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AC90E-AA3C-4920-B8DA-428DB0B508D6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996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spcBef>
                <a:spcPts val="0"/>
              </a:spcBef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19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45390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-228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1430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/>
              <a:t>Click to edit Master text styles</a:t>
            </a:r>
          </a:p>
          <a:p>
            <a:pPr lvl="1"/>
            <a:r>
              <a:rPr lang="en-CA" altLang="en-US"/>
              <a:t>Second level</a:t>
            </a:r>
          </a:p>
          <a:p>
            <a:pPr lvl="2"/>
            <a:r>
              <a:rPr lang="en-CA" altLang="en-US"/>
              <a:t>Third level</a:t>
            </a:r>
          </a:p>
          <a:p>
            <a:pPr lvl="3"/>
            <a:r>
              <a:rPr lang="en-CA" altLang="en-US"/>
              <a:t>Fourth level</a:t>
            </a:r>
          </a:p>
          <a:p>
            <a:pPr lvl="4"/>
            <a:r>
              <a:rPr lang="en-CA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/>
            </a:lvl1pPr>
          </a:lstStyle>
          <a:p>
            <a:pPr>
              <a:defRPr/>
            </a:pPr>
            <a:fld id="{C9230B5E-1884-4A6B-A36D-6C70874D9179}" type="slidenum">
              <a:rPr lang="en-CA"/>
              <a:pPr>
                <a:defRPr/>
              </a:pPr>
              <a:t>‹#›</a:t>
            </a:fld>
            <a:endParaRPr lang="en-CA"/>
          </a:p>
        </p:txBody>
      </p:sp>
      <p:sp>
        <p:nvSpPr>
          <p:cNvPr id="1031" name="Text Box 8"/>
          <p:cNvSpPr txBox="1">
            <a:spLocks noChangeArrowheads="1"/>
          </p:cNvSpPr>
          <p:nvPr userDrawn="1"/>
        </p:nvSpPr>
        <p:spPr bwMode="auto">
          <a:xfrm>
            <a:off x="3556000" y="4267201"/>
            <a:ext cx="2438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endParaRPr lang="en-US" altLang="en-US" sz="3000"/>
          </a:p>
          <a:p>
            <a:pPr eaLnBrk="1" hangingPunct="1">
              <a:spcBef>
                <a:spcPct val="0"/>
              </a:spcBef>
              <a:defRPr/>
            </a:pPr>
            <a:endParaRPr lang="en-US" altLang="en-US" sz="3000"/>
          </a:p>
        </p:txBody>
      </p:sp>
      <p:sp>
        <p:nvSpPr>
          <p:cNvPr id="1032" name="Rectangle 9"/>
          <p:cNvSpPr>
            <a:spLocks noChangeArrowheads="1"/>
          </p:cNvSpPr>
          <p:nvPr userDrawn="1"/>
        </p:nvSpPr>
        <p:spPr bwMode="auto">
          <a:xfrm>
            <a:off x="11582400" y="6553200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  <a:defRPr/>
            </a:pPr>
            <a:fld id="{35963DAF-3B45-41EC-A2C2-21552AF65361}" type="slidenum">
              <a:rPr lang="en-CA" altLang="en-US" sz="1400" smtClean="0"/>
              <a:pPr algn="r" eaLnBrk="1" hangingPunct="1">
                <a:spcBef>
                  <a:spcPct val="0"/>
                </a:spcBef>
                <a:defRPr/>
              </a:pPr>
              <a:t>‹#›</a:t>
            </a:fld>
            <a:endParaRPr lang="en-CA" altLang="en-US" sz="1400"/>
          </a:p>
        </p:txBody>
      </p:sp>
    </p:spTree>
    <p:extLst>
      <p:ext uri="{BB962C8B-B14F-4D97-AF65-F5344CB8AC3E}">
        <p14:creationId xmlns:p14="http://schemas.microsoft.com/office/powerpoint/2010/main" val="200716288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yorku.ca/~jeff/courses/3101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yorku.ca/~jeff/courses/3101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venhalim/cpbook-code/tree/master/ch4/ms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ecs.yorku.ca/~jeff/courses/3101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 dirty="0"/>
              <a:t>ICPC Bootcamp Day 4</a:t>
            </a:r>
            <a:endParaRPr dirty="0"/>
          </a:p>
        </p:txBody>
      </p:sp>
      <p:sp>
        <p:nvSpPr>
          <p:cNvPr id="104" name="Google Shape;104;p1"/>
          <p:cNvSpPr txBox="1"/>
          <p:nvPr/>
        </p:nvSpPr>
        <p:spPr>
          <a:xfrm>
            <a:off x="2348952" y="3429000"/>
            <a:ext cx="7494095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4.2 Graph Traversal (Introduction)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4.2.2 Depth First Search (DFS)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4.2.3 Breadth First Search (BFS)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DFS vs. BFS Comparison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4.2.5 Flood Fill (Implicit 2D Grid Graph) 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4.3.1 MST (Minimum Spanning Tree) Overview and Motivation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4.3.2 Kruskal's Algorithm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Minimum Spanning Tree: Kruskal's vs. Prim's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4.4.1 SSSP (Single-Source Shortest Path) Overview and Motivation</a:t>
            </a:r>
          </a:p>
          <a:p>
            <a:pPr marL="285750" indent="-285750"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4.4.3 On Weighted Graph: Dijkstra's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D53BB5C-88C0-653A-CEC5-4EA3438D0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BB5A77AD-C0F0-F473-85B4-8219BB3F2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4.2 Graph Traversal (Introduction)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CC1EFCC8-D971-9B1D-97A2-7205AEC802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38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Goal: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Systematically visit the vertices (nodes) and edges of a graph to discover its properties or find specific information.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Representation: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Graphs are typically represented in code using an Adjacency List (an array of lists), where adj[u] contains all neighbors of vertex u.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There are many types of graphs, read online or from the textbook!</a:t>
            </a:r>
          </a:p>
        </p:txBody>
      </p:sp>
      <p:pic>
        <p:nvPicPr>
          <p:cNvPr id="2" name="Google Shape;261;g3845568222e_0_68">
            <a:extLst>
              <a:ext uri="{FF2B5EF4-FFF2-40B4-BE49-F238E27FC236}">
                <a16:creationId xmlns:a16="http://schemas.microsoft.com/office/drawing/2014/main" id="{95E2F144-2AAA-49A2-907E-99DF56F88A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4825" y="3826626"/>
            <a:ext cx="4331100" cy="1934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657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9F854BE6-71FB-E14D-5D5B-82B7B1B4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CD6C53A7-28C8-3D46-DDD2-2D9793488E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4.2.2 Depth First Search (DFS)</a:t>
            </a:r>
            <a:endParaRPr dirty="0"/>
          </a:p>
        </p:txBody>
      </p:sp>
      <p:sp>
        <p:nvSpPr>
          <p:cNvPr id="2" name="Google Shape;185;g3836faffe8e_0_11">
            <a:extLst>
              <a:ext uri="{FF2B5EF4-FFF2-40B4-BE49-F238E27FC236}">
                <a16:creationId xmlns:a16="http://schemas.microsoft.com/office/drawing/2014/main" id="{00592B54-494D-1D3B-CEE8-B60E197A5A30}"/>
              </a:ext>
            </a:extLst>
          </p:cNvPr>
          <p:cNvSpPr txBox="1">
            <a:spLocks/>
          </p:cNvSpPr>
          <p:nvPr/>
        </p:nvSpPr>
        <p:spPr>
          <a:xfrm>
            <a:off x="480300" y="1024905"/>
            <a:ext cx="11231400" cy="5604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Concept: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Plunge as deep as possible into the graph along one path before backtracking.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Mechanism: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Uses a visited nodes Stack (usually implemented implicitly via the function call stack/recursion).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Time Complexity: 𝑂(𝑉+𝐸) where 𝑉 is vertices and 𝐸 is edges.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Core Uses in CP: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Reachability (Can I get from node A to node B?)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Finds the first path available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Takes less memory than BFS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Finding Connected Components.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Cross edge: connects two vertices where neither is an ancestor or descendant</a:t>
            </a:r>
          </a:p>
          <a:p>
            <a:pPr lvl="2" indent="-355600">
              <a:spcBef>
                <a:spcPts val="0"/>
              </a:spcBef>
              <a:buSzPts val="2000"/>
            </a:pPr>
            <a:r>
              <a:rPr lang="en-US" sz="1800" dirty="0"/>
              <a:t>Back edge: connects a vertex to its ancestor in the DFS tree, creating a cycle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Topological Sorting (for Directed Acyclic Graphs).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There is an iterative way and a recursive way to implement DFS, we will focus on the recursive way as it is shorter and easier to implement rapidly </a:t>
            </a:r>
          </a:p>
        </p:txBody>
      </p:sp>
    </p:spTree>
    <p:extLst>
      <p:ext uri="{BB962C8B-B14F-4D97-AF65-F5344CB8AC3E}">
        <p14:creationId xmlns:p14="http://schemas.microsoft.com/office/powerpoint/2010/main" val="405303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D2A4BFD-2F27-2D6B-A76E-BA72FE17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55BB5D3B-22DD-5198-3727-A474D48D52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lvl="0">
              <a:buSzPct val="100000"/>
            </a:pPr>
            <a:r>
              <a:rPr lang="en-US" dirty="0"/>
              <a:t>4.2.2 Depth First Search (DFS)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E2C3D663-7F0F-F5F8-A03E-3716EFC1C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Pseudocode from slides created by Professor Jeff Edmonds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>
                <a:hlinkClick r:id="rId3"/>
              </a:rPr>
              <a:t>https://www.eecs.yorku.ca/~jeff/courses/3101/</a:t>
            </a:r>
            <a:r>
              <a:rPr lang="en-CA" sz="1800" dirty="0"/>
              <a:t> </a:t>
            </a:r>
            <a:endParaRPr sz="1800" dirty="0"/>
          </a:p>
        </p:txBody>
      </p:sp>
      <p:pic>
        <p:nvPicPr>
          <p:cNvPr id="2" name="Picture 3" descr="capture1">
            <a:extLst>
              <a:ext uri="{FF2B5EF4-FFF2-40B4-BE49-F238E27FC236}">
                <a16:creationId xmlns:a16="http://schemas.microsoft.com/office/drawing/2014/main" id="{E7A48ECE-D021-340B-773E-B5BC4F5D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244" y="2035367"/>
            <a:ext cx="6991511" cy="4051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597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419B318-5B0E-C5D0-2F17-6A5C29662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D9A73746-D371-A006-D484-BD1AABE560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4.2.3 Breadth First Search (BFS)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F03142F9-81E9-6D0D-B824-7850AFC13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721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Concept: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Explore the graph in layers. Visit all immediate neighbors of the starting node first, then all neighbors of those neighbors, and so on.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Mechanism: Uses a Queue (First-In, First-Out).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Time Complexity: 𝑂(𝑉+𝐸).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BFS inherently finds the Shortest Path on Unweighted Graphs. The first time you reach a node, you are guaranteed it was via the shortest possible number of edges.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following slides are from Jeff Edmonds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>
                <a:hlinkClick r:id="rId3"/>
              </a:rPr>
              <a:t>https://www.eecs.yorku.ca/~jeff/courses/3101/</a:t>
            </a:r>
            <a:r>
              <a:rPr lang="en-CA" sz="1800" dirty="0"/>
              <a:t> </a:t>
            </a:r>
          </a:p>
          <a:p>
            <a:pPr lvl="1" indent="-355600">
              <a:spcBef>
                <a:spcPts val="0"/>
              </a:spcBef>
              <a:buSzPts val="2000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4055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4579" name="Oval 3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6" name="Oval 10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7" name="Oval 11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8" name="Oval 12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89" name="Oval 13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90" name="Oval 14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91" name="Oval 15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92" name="Oval 16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4596" name="Text Box 20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4607" name="Line 31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08" name="Line 33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09" name="Line 34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0" name="Line 35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1" name="Line 36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2" name="Line 37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3" name="Line 38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4" name="Line 39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5" name="Line 40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6" name="Line 41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7" name="Line 42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8" name="Line 43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19" name="Line 44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0" name="Line 45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1" name="Line 46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2" name="Line 47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3" name="Line 48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4" name="Line 49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5" name="Line 50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6" name="Line 51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7" name="Line 52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8" name="Line 53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29" name="Line 54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0" name="Line 55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1" name="Line 56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2" name="Line 57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3" name="Line 58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4" name="Line 59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5" name="Line 60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6" name="Line 61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7" name="Line 62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4638" name="Text Box 63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5603" name="Oval 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2" name="Oval 12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3" name="Oval 1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4" name="Oval 14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5" name="Oval 15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16" name="Text Box 16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5617" name="Text Box 17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5618" name="Text Box 18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5620" name="Text Box 20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5626" name="Text Box 26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5628" name="Text Box 28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5630" name="Line 30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1" name="Line 31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2" name="Line 32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3" name="Line 33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4" name="Line 34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5" name="Line 35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6" name="Line 36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7" name="Line 37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8" name="Line 38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39" name="Line 39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0" name="Line 40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1" name="Line 41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2" name="Line 42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3" name="Line 43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4" name="Line 44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5" name="Line 45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6" name="Line 46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7" name="Line 47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8" name="Line 48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49" name="Line 49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0" name="Line 50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1" name="Line 51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2" name="Line 52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3" name="Line 53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4" name="Line 54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5" name="Line 55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6" name="Line 56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7" name="Line 57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8" name="Line 58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59" name="Line 59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60" name="Line 60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61" name="Text Box 61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25662" name="Oval 6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5663" name="Text Box 64"/>
          <p:cNvSpPr txBox="1">
            <a:spLocks noChangeArrowheads="1"/>
          </p:cNvSpPr>
          <p:nvPr/>
        </p:nvSpPr>
        <p:spPr bwMode="auto">
          <a:xfrm>
            <a:off x="9010650" y="2057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5664" name="Freeform 65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65" name="Text Box 66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5666" name="Line 67"/>
          <p:cNvSpPr>
            <a:spLocks noChangeShapeType="1"/>
          </p:cNvSpPr>
          <p:nvPr/>
        </p:nvSpPr>
        <p:spPr bwMode="auto">
          <a:xfrm>
            <a:off x="8763000" y="25908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67" name="Text Box 69"/>
          <p:cNvSpPr txBox="1">
            <a:spLocks noChangeArrowheads="1"/>
          </p:cNvSpPr>
          <p:nvPr/>
        </p:nvSpPr>
        <p:spPr bwMode="auto">
          <a:xfrm>
            <a:off x="9448801" y="20574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6627" name="Line 59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28" name="Line 60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29" name="Text Box 61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26630" name="Line 67"/>
          <p:cNvSpPr>
            <a:spLocks noChangeShapeType="1"/>
          </p:cNvSpPr>
          <p:nvPr/>
        </p:nvSpPr>
        <p:spPr bwMode="auto">
          <a:xfrm>
            <a:off x="8763000" y="25908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31" name="Text Box 68"/>
          <p:cNvSpPr txBox="1">
            <a:spLocks noChangeArrowheads="1"/>
          </p:cNvSpPr>
          <p:nvPr/>
        </p:nvSpPr>
        <p:spPr bwMode="auto">
          <a:xfrm>
            <a:off x="9448801" y="20574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6632" name="Text Box 69"/>
          <p:cNvSpPr txBox="1">
            <a:spLocks noChangeArrowheads="1"/>
          </p:cNvSpPr>
          <p:nvPr/>
        </p:nvSpPr>
        <p:spPr bwMode="auto">
          <a:xfrm>
            <a:off x="9018588" y="2422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6633" name="Text Box 70"/>
          <p:cNvSpPr txBox="1">
            <a:spLocks noChangeArrowheads="1"/>
          </p:cNvSpPr>
          <p:nvPr/>
        </p:nvSpPr>
        <p:spPr bwMode="auto">
          <a:xfrm>
            <a:off x="9026525" y="37179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6634" name="Text Box 71"/>
          <p:cNvSpPr txBox="1">
            <a:spLocks noChangeArrowheads="1"/>
          </p:cNvSpPr>
          <p:nvPr/>
        </p:nvSpPr>
        <p:spPr bwMode="auto">
          <a:xfrm>
            <a:off x="9010650" y="320675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6635" name="Text Box 72"/>
          <p:cNvSpPr txBox="1">
            <a:spLocks noChangeArrowheads="1"/>
          </p:cNvSpPr>
          <p:nvPr/>
        </p:nvSpPr>
        <p:spPr bwMode="auto">
          <a:xfrm>
            <a:off x="9020175" y="283527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593994" name="Line 74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37" name="Text Box 75"/>
          <p:cNvSpPr txBox="1">
            <a:spLocks noChangeArrowheads="1"/>
          </p:cNvSpPr>
          <p:nvPr/>
        </p:nvSpPr>
        <p:spPr bwMode="auto">
          <a:xfrm>
            <a:off x="9448801" y="24987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6638" name="Oval 7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39" name="Oval 78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0" name="Oval 79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1" name="Oval 80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2" name="Oval 81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3" name="Oval 82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4" name="Oval 83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5" name="Oval 84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6" name="Oval 85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47" name="Text Box 86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6648" name="Text Box 87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6649" name="Text Box 88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6650" name="Text Box 89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6651" name="Text Box 90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6652" name="Text Box 91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6653" name="Text Box 92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6654" name="Text Box 93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6655" name="Text Box 94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6656" name="Text Box 95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6657" name="Text Box 96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6658" name="Text Box 97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6659" name="Text Box 98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6660" name="Text Box 99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6661" name="Line 100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2" name="Line 101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3" name="Line 102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4" name="Line 103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5" name="Line 104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6" name="Line 105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7" name="Line 106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8" name="Line 107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69" name="Line 108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0" name="Line 109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1" name="Line 110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2" name="Line 111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3" name="Line 112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4" name="Line 113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5" name="Line 114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6" name="Line 115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7" name="Line 116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8" name="Line 117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79" name="Line 118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0" name="Line 119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1" name="Line 120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2" name="Line 121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3" name="Line 122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4" name="Line 123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5" name="Line 124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6" name="Line 125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7" name="Line 126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8" name="Line 127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89" name="Line 128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90" name="Oval 129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91" name="Oval 131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92" name="Oval 132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93" name="Oval 13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94" name="Oval 13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6695" name="Freeform 135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4056" name="Freeform 136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6697" name="Text Box 137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6698" name="Text Box 138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4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4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94" grpId="0" animBg="1"/>
      <p:bldP spid="59405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7651" name="Oval 3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660" name="Text Box 12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7669" name="Text Box 21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7674" name="Line 26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75" name="Line 27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76" name="Line 28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77" name="Line 29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78" name="Line 30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79" name="Line 31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1" name="Line 33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2" name="Line 34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3" name="Line 35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4" name="Line 36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5" name="Line 37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6" name="Line 38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7" name="Line 39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8" name="Line 40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89" name="Line 41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0" name="Line 42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1" name="Line 43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2" name="Line 44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3" name="Line 45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4" name="Line 46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5" name="Line 47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6" name="Line 48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7" name="Line 49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8" name="Line 50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699" name="Line 51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0" name="Line 52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1" name="Line 53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2" name="Line 54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3" name="Line 55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4" name="Line 56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05" name="Text Box 57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27706" name="Oval 58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707" name="Text Box 60"/>
          <p:cNvSpPr txBox="1">
            <a:spLocks noChangeArrowheads="1"/>
          </p:cNvSpPr>
          <p:nvPr/>
        </p:nvSpPr>
        <p:spPr bwMode="auto">
          <a:xfrm>
            <a:off x="9018588" y="19653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7708" name="Text Box 61"/>
          <p:cNvSpPr txBox="1">
            <a:spLocks noChangeArrowheads="1"/>
          </p:cNvSpPr>
          <p:nvPr/>
        </p:nvSpPr>
        <p:spPr bwMode="auto">
          <a:xfrm>
            <a:off x="9026525" y="32607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7709" name="Text Box 62"/>
          <p:cNvSpPr txBox="1">
            <a:spLocks noChangeArrowheads="1"/>
          </p:cNvSpPr>
          <p:nvPr/>
        </p:nvSpPr>
        <p:spPr bwMode="auto">
          <a:xfrm>
            <a:off x="9010650" y="274955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7710" name="Text Box 63"/>
          <p:cNvSpPr txBox="1">
            <a:spLocks noChangeArrowheads="1"/>
          </p:cNvSpPr>
          <p:nvPr/>
        </p:nvSpPr>
        <p:spPr bwMode="auto">
          <a:xfrm>
            <a:off x="9020175" y="237807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7711" name="Oval 64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712" name="Oval 65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713" name="Oval 66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714" name="Oval 67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7715" name="Freeform 68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16" name="Freeform 69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17" name="Text Box 70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7718" name="Text Box 71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7719" name="Line 72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20" name="Line 73"/>
          <p:cNvSpPr>
            <a:spLocks noChangeShapeType="1"/>
          </p:cNvSpPr>
          <p:nvPr/>
        </p:nvSpPr>
        <p:spPr bwMode="auto">
          <a:xfrm>
            <a:off x="8763000" y="3810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7721" name="Text Box 74"/>
          <p:cNvSpPr txBox="1">
            <a:spLocks noChangeArrowheads="1"/>
          </p:cNvSpPr>
          <p:nvPr/>
        </p:nvSpPr>
        <p:spPr bwMode="auto">
          <a:xfrm>
            <a:off x="9448801" y="20415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8697" name="Line 25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698" name="Line 26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699" name="Line 27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0" name="Line 28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1" name="Line 29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2" name="Line 30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3" name="Line 31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4" name="Line 32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5" name="Line 33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6" name="Line 34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7" name="Line 35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8" name="Line 36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09" name="Line 37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0" name="Line 38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1" name="Line 39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2" name="Line 40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3" name="Line 41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4" name="Line 42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5" name="Line 43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6" name="Line 44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7" name="Line 45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8" name="Line 46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19" name="Line 47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0" name="Line 48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1" name="Line 49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2" name="Line 50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3" name="Line 51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4" name="Line 52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5" name="Line 53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6" name="Line 54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7" name="Line 55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28" name="Text Box 56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28729" name="Oval 57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0" name="Text Box 59"/>
          <p:cNvSpPr txBox="1">
            <a:spLocks noChangeArrowheads="1"/>
          </p:cNvSpPr>
          <p:nvPr/>
        </p:nvSpPr>
        <p:spPr bwMode="auto">
          <a:xfrm>
            <a:off x="9026525" y="32607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8731" name="Text Box 60"/>
          <p:cNvSpPr txBox="1">
            <a:spLocks noChangeArrowheads="1"/>
          </p:cNvSpPr>
          <p:nvPr/>
        </p:nvSpPr>
        <p:spPr bwMode="auto">
          <a:xfrm>
            <a:off x="9010650" y="274955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8732" name="Text Box 61"/>
          <p:cNvSpPr txBox="1">
            <a:spLocks noChangeArrowheads="1"/>
          </p:cNvSpPr>
          <p:nvPr/>
        </p:nvSpPr>
        <p:spPr bwMode="auto">
          <a:xfrm>
            <a:off x="9020175" y="237807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8733" name="Oval 62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4" name="Oval 63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5" name="Oval 64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6" name="Oval 65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7" name="Oval 66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8738" name="Text Box 67"/>
          <p:cNvSpPr txBox="1">
            <a:spLocks noChangeArrowheads="1"/>
          </p:cNvSpPr>
          <p:nvPr/>
        </p:nvSpPr>
        <p:spPr bwMode="auto">
          <a:xfrm>
            <a:off x="9031288" y="3644901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8739" name="Text Box 68"/>
          <p:cNvSpPr txBox="1">
            <a:spLocks noChangeArrowheads="1"/>
          </p:cNvSpPr>
          <p:nvPr/>
        </p:nvSpPr>
        <p:spPr bwMode="auto">
          <a:xfrm>
            <a:off x="9036051" y="40989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8740" name="Freeform 69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41" name="Freeform 70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42" name="Text Box 71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8743" name="Text Box 72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8744" name="Text Box 73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28745" name="Line 75"/>
          <p:cNvSpPr>
            <a:spLocks noChangeShapeType="1"/>
          </p:cNvSpPr>
          <p:nvPr/>
        </p:nvSpPr>
        <p:spPr bwMode="auto">
          <a:xfrm>
            <a:off x="8763000" y="378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46" name="Line 76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8747" name="Text Box 79"/>
          <p:cNvSpPr txBox="1">
            <a:spLocks noChangeArrowheads="1"/>
          </p:cNvSpPr>
          <p:nvPr/>
        </p:nvSpPr>
        <p:spPr bwMode="auto">
          <a:xfrm>
            <a:off x="9448801" y="20415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8748" name="Text Box 80"/>
          <p:cNvSpPr txBox="1">
            <a:spLocks noChangeArrowheads="1"/>
          </p:cNvSpPr>
          <p:nvPr/>
        </p:nvSpPr>
        <p:spPr bwMode="auto">
          <a:xfrm>
            <a:off x="9448801" y="3657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29699" name="Oval 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9708" name="Text Box 12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29713" name="Text Box 17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29715" name="Text Box 19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9716" name="Text Box 20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29719" name="Line 23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2" name="Line 26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4" name="Line 28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5" name="Line 29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6" name="Line 30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7" name="Line 31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8" name="Line 32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29" name="Line 33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0" name="Line 34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1" name="Line 35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2" name="Line 36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3" name="Line 37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4" name="Line 38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5" name="Line 39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6" name="Line 40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7" name="Line 41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8" name="Line 42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39" name="Line 43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0" name="Line 44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2" name="Line 46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3" name="Line 47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4" name="Line 48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5" name="Line 49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6" name="Line 50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7" name="Line 51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8" name="Line 52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49" name="Line 53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50" name="Text Box 54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29751" name="Oval 55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2" name="Text Box 57"/>
          <p:cNvSpPr txBox="1">
            <a:spLocks noChangeArrowheads="1"/>
          </p:cNvSpPr>
          <p:nvPr/>
        </p:nvSpPr>
        <p:spPr bwMode="auto">
          <a:xfrm>
            <a:off x="9026525" y="32607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29753" name="Text Box 58"/>
          <p:cNvSpPr txBox="1">
            <a:spLocks noChangeArrowheads="1"/>
          </p:cNvSpPr>
          <p:nvPr/>
        </p:nvSpPr>
        <p:spPr bwMode="auto">
          <a:xfrm>
            <a:off x="9010650" y="274955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29754" name="Oval 59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5" name="Oval 60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6" name="Oval 61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7" name="Oval 62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8" name="Oval 63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59" name="Text Box 64"/>
          <p:cNvSpPr txBox="1">
            <a:spLocks noChangeArrowheads="1"/>
          </p:cNvSpPr>
          <p:nvPr/>
        </p:nvSpPr>
        <p:spPr bwMode="auto">
          <a:xfrm>
            <a:off x="9031288" y="3644901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29760" name="Text Box 65"/>
          <p:cNvSpPr txBox="1">
            <a:spLocks noChangeArrowheads="1"/>
          </p:cNvSpPr>
          <p:nvPr/>
        </p:nvSpPr>
        <p:spPr bwMode="auto">
          <a:xfrm>
            <a:off x="9036051" y="40989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29761" name="Oval 66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62" name="Oval 67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29763" name="Text Box 68"/>
          <p:cNvSpPr txBox="1">
            <a:spLocks noChangeArrowheads="1"/>
          </p:cNvSpPr>
          <p:nvPr/>
        </p:nvSpPr>
        <p:spPr bwMode="auto">
          <a:xfrm>
            <a:off x="8980489" y="4419601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29764" name="Text Box 69"/>
          <p:cNvSpPr txBox="1">
            <a:spLocks noChangeArrowheads="1"/>
          </p:cNvSpPr>
          <p:nvPr/>
        </p:nvSpPr>
        <p:spPr bwMode="auto">
          <a:xfrm>
            <a:off x="9017001" y="47847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29765" name="Freeform 70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66" name="Freeform 71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67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29768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9769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29770" name="Line 76"/>
          <p:cNvSpPr>
            <a:spLocks noChangeShapeType="1"/>
          </p:cNvSpPr>
          <p:nvPr/>
        </p:nvSpPr>
        <p:spPr bwMode="auto">
          <a:xfrm>
            <a:off x="8763000" y="378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71" name="Line 77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9772" name="Text Box 79"/>
          <p:cNvSpPr txBox="1">
            <a:spLocks noChangeArrowheads="1"/>
          </p:cNvSpPr>
          <p:nvPr/>
        </p:nvSpPr>
        <p:spPr bwMode="auto">
          <a:xfrm>
            <a:off x="9448801" y="20415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29773" name="Text Box 80"/>
          <p:cNvSpPr txBox="1">
            <a:spLocks noChangeArrowheads="1"/>
          </p:cNvSpPr>
          <p:nvPr/>
        </p:nvSpPr>
        <p:spPr bwMode="auto">
          <a:xfrm>
            <a:off x="9448801" y="3657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0742" name="Line 22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3" name="Line 23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4" name="Line 24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5" name="Line 25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6" name="Line 26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7" name="Line 27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8" name="Line 28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49" name="Line 29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0" name="Line 30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1" name="Line 31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2" name="Line 32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3" name="Line 33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4" name="Line 34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5" name="Line 35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6" name="Line 36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7" name="Line 37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59" name="Line 39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0" name="Line 40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1" name="Line 41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2" name="Line 42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3" name="Line 43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4" name="Line 44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5" name="Line 45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6" name="Line 46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7" name="Line 47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8" name="Line 48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69" name="Line 49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70" name="Line 50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71" name="Text Box 53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0772" name="Oval 54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3" name="Oval 57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4" name="Oval 58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5" name="Oval 59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6" name="Oval 60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7" name="Oval 61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8" name="Oval 64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79" name="Oval 65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80" name="Oval 68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0781" name="Freeform 70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82" name="Freeform 71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83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0784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0785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0786" name="Line 77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87" name="Line 78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88" name="Text Box 79"/>
          <p:cNvSpPr txBox="1">
            <a:spLocks noChangeArrowheads="1"/>
          </p:cNvSpPr>
          <p:nvPr/>
        </p:nvSpPr>
        <p:spPr bwMode="auto">
          <a:xfrm>
            <a:off x="9026525" y="32607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0789" name="Text Box 80"/>
          <p:cNvSpPr txBox="1">
            <a:spLocks noChangeArrowheads="1"/>
          </p:cNvSpPr>
          <p:nvPr/>
        </p:nvSpPr>
        <p:spPr bwMode="auto">
          <a:xfrm>
            <a:off x="9010651" y="5089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0790" name="Text Box 81"/>
          <p:cNvSpPr txBox="1">
            <a:spLocks noChangeArrowheads="1"/>
          </p:cNvSpPr>
          <p:nvPr/>
        </p:nvSpPr>
        <p:spPr bwMode="auto">
          <a:xfrm>
            <a:off x="9031288" y="3644901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0791" name="Text Box 82"/>
          <p:cNvSpPr txBox="1">
            <a:spLocks noChangeArrowheads="1"/>
          </p:cNvSpPr>
          <p:nvPr/>
        </p:nvSpPr>
        <p:spPr bwMode="auto">
          <a:xfrm>
            <a:off x="9036051" y="40989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0792" name="Text Box 83"/>
          <p:cNvSpPr txBox="1">
            <a:spLocks noChangeArrowheads="1"/>
          </p:cNvSpPr>
          <p:nvPr/>
        </p:nvSpPr>
        <p:spPr bwMode="auto">
          <a:xfrm>
            <a:off x="8980489" y="4419601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0793" name="Text Box 84"/>
          <p:cNvSpPr txBox="1">
            <a:spLocks noChangeArrowheads="1"/>
          </p:cNvSpPr>
          <p:nvPr/>
        </p:nvSpPr>
        <p:spPr bwMode="auto">
          <a:xfrm>
            <a:off x="9017001" y="47847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0794" name="Line 86"/>
          <p:cNvSpPr>
            <a:spLocks noChangeShapeType="1"/>
          </p:cNvSpPr>
          <p:nvPr/>
        </p:nvSpPr>
        <p:spPr bwMode="auto">
          <a:xfrm>
            <a:off x="8763000" y="378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95" name="Line 87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0796" name="Text Box 89"/>
          <p:cNvSpPr txBox="1">
            <a:spLocks noChangeArrowheads="1"/>
          </p:cNvSpPr>
          <p:nvPr/>
        </p:nvSpPr>
        <p:spPr bwMode="auto">
          <a:xfrm>
            <a:off x="9448801" y="20415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0797" name="Text Box 90"/>
          <p:cNvSpPr txBox="1">
            <a:spLocks noChangeArrowheads="1"/>
          </p:cNvSpPr>
          <p:nvPr/>
        </p:nvSpPr>
        <p:spPr bwMode="auto">
          <a:xfrm>
            <a:off x="9448801" y="3657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1753" name="Text Box 9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1766" name="Line 22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67" name="Line 23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68" name="Line 24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0" name="Line 26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1" name="Line 27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2" name="Line 28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3" name="Line 29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4" name="Line 30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5" name="Line 31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6" name="Line 32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7" name="Line 33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8" name="Line 34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79" name="Line 35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0" name="Line 36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1" name="Line 37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2" name="Line 38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3" name="Line 39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4" name="Line 40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5" name="Line 41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6" name="Line 42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7" name="Line 43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8" name="Line 44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89" name="Line 45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0" name="Line 46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1" name="Line 47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2" name="Line 48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3" name="Line 49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4" name="Line 50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795" name="Text Box 51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1796" name="Oval 5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97" name="Oval 54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98" name="Oval 55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799" name="Oval 56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0" name="Oval 57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1" name="Oval 58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2" name="Oval 59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3" name="Oval 60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4" name="Oval 61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1805" name="Freeform 62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06" name="Freeform 63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07" name="Text Box 64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1808" name="Text Box 65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1809" name="Text Box 66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1810" name="Line 67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11" name="Line 68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12" name="Text Box 70"/>
          <p:cNvSpPr txBox="1">
            <a:spLocks noChangeArrowheads="1"/>
          </p:cNvSpPr>
          <p:nvPr/>
        </p:nvSpPr>
        <p:spPr bwMode="auto">
          <a:xfrm>
            <a:off x="9010651" y="5089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1813" name="Text Box 71"/>
          <p:cNvSpPr txBox="1">
            <a:spLocks noChangeArrowheads="1"/>
          </p:cNvSpPr>
          <p:nvPr/>
        </p:nvSpPr>
        <p:spPr bwMode="auto">
          <a:xfrm>
            <a:off x="9031288" y="3644901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1814" name="Text Box 72"/>
          <p:cNvSpPr txBox="1">
            <a:spLocks noChangeArrowheads="1"/>
          </p:cNvSpPr>
          <p:nvPr/>
        </p:nvSpPr>
        <p:spPr bwMode="auto">
          <a:xfrm>
            <a:off x="9036051" y="40989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1815" name="Text Box 73"/>
          <p:cNvSpPr txBox="1">
            <a:spLocks noChangeArrowheads="1"/>
          </p:cNvSpPr>
          <p:nvPr/>
        </p:nvSpPr>
        <p:spPr bwMode="auto">
          <a:xfrm>
            <a:off x="8980489" y="4419601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1816" name="Text Box 74"/>
          <p:cNvSpPr txBox="1">
            <a:spLocks noChangeArrowheads="1"/>
          </p:cNvSpPr>
          <p:nvPr/>
        </p:nvSpPr>
        <p:spPr bwMode="auto">
          <a:xfrm>
            <a:off x="9017001" y="47847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1817" name="Line 75"/>
          <p:cNvSpPr>
            <a:spLocks noChangeShapeType="1"/>
          </p:cNvSpPr>
          <p:nvPr/>
        </p:nvSpPr>
        <p:spPr bwMode="auto">
          <a:xfrm>
            <a:off x="8763000" y="378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18" name="Line 76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1819" name="Text Box 77"/>
          <p:cNvSpPr txBox="1">
            <a:spLocks noChangeArrowheads="1"/>
          </p:cNvSpPr>
          <p:nvPr/>
        </p:nvSpPr>
        <p:spPr bwMode="auto">
          <a:xfrm>
            <a:off x="9448801" y="20415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1820" name="Text Box 78"/>
          <p:cNvSpPr txBox="1">
            <a:spLocks noChangeArrowheads="1"/>
          </p:cNvSpPr>
          <p:nvPr/>
        </p:nvSpPr>
        <p:spPr bwMode="auto">
          <a:xfrm>
            <a:off x="9448801" y="3657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590927" name="Line 79"/>
          <p:cNvSpPr>
            <a:spLocks noChangeShapeType="1"/>
          </p:cNvSpPr>
          <p:nvPr/>
        </p:nvSpPr>
        <p:spPr bwMode="auto">
          <a:xfrm>
            <a:off x="8826500" y="56388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0928" name="Freeform 80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0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0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0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0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927" grpId="0" animBg="1"/>
      <p:bldP spid="5909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2777" name="Text Box 9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2778" name="Text Box 10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2781" name="Text Box 13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2782" name="Text Box 14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2783" name="Text Box 15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2788" name="Text Box 20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2789" name="Text Box 21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2790" name="Line 22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1" name="Line 23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2" name="Line 24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3" name="Line 25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4" name="Line 26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5" name="Line 27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6" name="Line 28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7" name="Line 29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8" name="Line 30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799" name="Line 31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0" name="Line 32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1" name="Line 33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2" name="Line 34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6" name="Line 38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7" name="Line 39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8" name="Line 40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09" name="Line 41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0" name="Line 42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1" name="Line 43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2" name="Line 44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3" name="Line 45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4" name="Line 46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5" name="Line 47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6" name="Line 48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7" name="Line 49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8" name="Line 50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19" name="Line 51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20" name="Line 52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21" name="Text Box 53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2822" name="Oval 54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3" name="Oval 56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4" name="Oval 57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5" name="Oval 58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6" name="Oval 59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7" name="Oval 60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28" name="Text Box 61"/>
          <p:cNvSpPr txBox="1">
            <a:spLocks noChangeArrowheads="1"/>
          </p:cNvSpPr>
          <p:nvPr/>
        </p:nvSpPr>
        <p:spPr bwMode="auto">
          <a:xfrm>
            <a:off x="9031288" y="213677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2829" name="Text Box 62"/>
          <p:cNvSpPr txBox="1">
            <a:spLocks noChangeArrowheads="1"/>
          </p:cNvSpPr>
          <p:nvPr/>
        </p:nvSpPr>
        <p:spPr bwMode="auto">
          <a:xfrm>
            <a:off x="9036051" y="2590801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2830" name="Oval 63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31" name="Oval 64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32" name="Text Box 65"/>
          <p:cNvSpPr txBox="1">
            <a:spLocks noChangeArrowheads="1"/>
          </p:cNvSpPr>
          <p:nvPr/>
        </p:nvSpPr>
        <p:spPr bwMode="auto">
          <a:xfrm>
            <a:off x="8980489" y="291147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2833" name="Text Box 66"/>
          <p:cNvSpPr txBox="1">
            <a:spLocks noChangeArrowheads="1"/>
          </p:cNvSpPr>
          <p:nvPr/>
        </p:nvSpPr>
        <p:spPr bwMode="auto">
          <a:xfrm>
            <a:off x="9017001" y="32766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2834" name="Oval 67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2835" name="Text Box 68"/>
          <p:cNvSpPr txBox="1">
            <a:spLocks noChangeArrowheads="1"/>
          </p:cNvSpPr>
          <p:nvPr/>
        </p:nvSpPr>
        <p:spPr bwMode="auto">
          <a:xfrm>
            <a:off x="9082088" y="36576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2836" name="Freeform 69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37" name="Freeform 70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38" name="Freeform 71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39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2840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2841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2842" name="Line 76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43" name="Line 77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2844" name="Text Box 78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3810" name="Text Box 18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3811" name="Text Box 19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3812" name="Line 20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4" name="Line 22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6" name="Line 24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8" name="Line 26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0" name="Line 28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1" name="Line 29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2" name="Line 30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3" name="Line 31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4" name="Line 32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5" name="Line 33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6" name="Line 34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7" name="Line 35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8" name="Line 36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29" name="Line 37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0" name="Line 38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1" name="Line 39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2" name="Line 40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3" name="Line 41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4" name="Line 42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5" name="Line 43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6" name="Line 44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7" name="Line 45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8" name="Line 46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39" name="Line 47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40" name="Line 48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41" name="Line 49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42" name="Line 50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43" name="Text Box 51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3844" name="Oval 5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45" name="Oval 54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46" name="Oval 55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47" name="Oval 56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48" name="Oval 57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49" name="Oval 58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0" name="Text Box 59"/>
          <p:cNvSpPr txBox="1">
            <a:spLocks noChangeArrowheads="1"/>
          </p:cNvSpPr>
          <p:nvPr/>
        </p:nvSpPr>
        <p:spPr bwMode="auto">
          <a:xfrm>
            <a:off x="9036051" y="2590801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3851" name="Oval 60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2" name="Oval 61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3" name="Text Box 62"/>
          <p:cNvSpPr txBox="1">
            <a:spLocks noChangeArrowheads="1"/>
          </p:cNvSpPr>
          <p:nvPr/>
        </p:nvSpPr>
        <p:spPr bwMode="auto">
          <a:xfrm>
            <a:off x="8980489" y="291147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3854" name="Text Box 63"/>
          <p:cNvSpPr txBox="1">
            <a:spLocks noChangeArrowheads="1"/>
          </p:cNvSpPr>
          <p:nvPr/>
        </p:nvSpPr>
        <p:spPr bwMode="auto">
          <a:xfrm>
            <a:off x="9017001" y="32766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3855" name="Oval 64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6" name="Text Box 65"/>
          <p:cNvSpPr txBox="1">
            <a:spLocks noChangeArrowheads="1"/>
          </p:cNvSpPr>
          <p:nvPr/>
        </p:nvSpPr>
        <p:spPr bwMode="auto">
          <a:xfrm>
            <a:off x="9082088" y="36576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3857" name="Oval 66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8" name="Oval 67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3859" name="Text Box 68"/>
          <p:cNvSpPr txBox="1">
            <a:spLocks noChangeArrowheads="1"/>
          </p:cNvSpPr>
          <p:nvPr/>
        </p:nvSpPr>
        <p:spPr bwMode="auto">
          <a:xfrm>
            <a:off x="9010650" y="414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3860" name="Text Box 69"/>
          <p:cNvSpPr txBox="1">
            <a:spLocks noChangeArrowheads="1"/>
          </p:cNvSpPr>
          <p:nvPr/>
        </p:nvSpPr>
        <p:spPr bwMode="auto">
          <a:xfrm>
            <a:off x="9056688" y="47085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3861" name="Freeform 70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62" name="Freeform 71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63" name="Freeform 72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64" name="Text Box 73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3865" name="Text Box 74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3866" name="Text Box 75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3867" name="Text Box 76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3868" name="Line 77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69" name="Line 78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3870" name="Text Box 79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3871" name="Text Box 80"/>
          <p:cNvSpPr txBox="1">
            <a:spLocks noChangeArrowheads="1"/>
          </p:cNvSpPr>
          <p:nvPr/>
        </p:nvSpPr>
        <p:spPr bwMode="auto">
          <a:xfrm>
            <a:off x="9448801" y="41751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4824" name="Text Box 8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4825" name="Text Box 9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4826" name="Text Box 10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4828" name="Text Box 12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4829" name="Text Box 13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4832" name="Text Box 16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4833" name="Text Box 17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4834" name="Text Box 18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39" name="Line 23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0" name="Line 24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1" name="Line 25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5" name="Line 29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6" name="Line 30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7" name="Line 31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8" name="Line 32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49" name="Line 33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0" name="Line 34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1" name="Line 35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2" name="Line 36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3" name="Line 37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4" name="Line 38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5" name="Line 39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6" name="Line 40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7" name="Line 41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8" name="Line 42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59" name="Line 43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0" name="Line 44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1" name="Line 45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2" name="Line 46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3" name="Line 47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4" name="Line 48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5" name="Line 49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6" name="Line 50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67" name="Text Box 51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4868" name="Oval 5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69" name="Oval 54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0" name="Oval 55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1" name="Oval 56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2" name="Oval 57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3" name="Oval 58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4" name="Oval 59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5" name="Oval 60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6" name="Text Box 61"/>
          <p:cNvSpPr txBox="1">
            <a:spLocks noChangeArrowheads="1"/>
          </p:cNvSpPr>
          <p:nvPr/>
        </p:nvSpPr>
        <p:spPr bwMode="auto">
          <a:xfrm>
            <a:off x="8980489" y="291147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4877" name="Text Box 62"/>
          <p:cNvSpPr txBox="1">
            <a:spLocks noChangeArrowheads="1"/>
          </p:cNvSpPr>
          <p:nvPr/>
        </p:nvSpPr>
        <p:spPr bwMode="auto">
          <a:xfrm>
            <a:off x="9017001" y="32766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4878" name="Oval 63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79" name="Text Box 64"/>
          <p:cNvSpPr txBox="1">
            <a:spLocks noChangeArrowheads="1"/>
          </p:cNvSpPr>
          <p:nvPr/>
        </p:nvSpPr>
        <p:spPr bwMode="auto">
          <a:xfrm>
            <a:off x="9082088" y="36576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4880" name="Oval 65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81" name="Oval 66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4882" name="Text Box 67"/>
          <p:cNvSpPr txBox="1">
            <a:spLocks noChangeArrowheads="1"/>
          </p:cNvSpPr>
          <p:nvPr/>
        </p:nvSpPr>
        <p:spPr bwMode="auto">
          <a:xfrm>
            <a:off x="9010650" y="414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4883" name="Text Box 68"/>
          <p:cNvSpPr txBox="1">
            <a:spLocks noChangeArrowheads="1"/>
          </p:cNvSpPr>
          <p:nvPr/>
        </p:nvSpPr>
        <p:spPr bwMode="auto">
          <a:xfrm>
            <a:off x="9056688" y="47085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4884" name="Freeform 69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85" name="Freeform 70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86" name="Freeform 71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87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4888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4889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4890" name="Text Box 75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4891" name="Line 76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92" name="Line 77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4893" name="Text Box 78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4894" name="Text Box 79"/>
          <p:cNvSpPr txBox="1">
            <a:spLocks noChangeArrowheads="1"/>
          </p:cNvSpPr>
          <p:nvPr/>
        </p:nvSpPr>
        <p:spPr bwMode="auto">
          <a:xfrm>
            <a:off x="9448801" y="41751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5850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5851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5859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2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3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4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5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6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7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8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69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0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1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2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3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4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5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6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7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8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79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0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1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2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3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4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5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6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7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8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89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890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5891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2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3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4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5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6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7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8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899" name="Text Box 60"/>
          <p:cNvSpPr txBox="1">
            <a:spLocks noChangeArrowheads="1"/>
          </p:cNvSpPr>
          <p:nvPr/>
        </p:nvSpPr>
        <p:spPr bwMode="auto">
          <a:xfrm>
            <a:off x="9017001" y="32766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5900" name="Oval 61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901" name="Text Box 62"/>
          <p:cNvSpPr txBox="1">
            <a:spLocks noChangeArrowheads="1"/>
          </p:cNvSpPr>
          <p:nvPr/>
        </p:nvSpPr>
        <p:spPr bwMode="auto">
          <a:xfrm>
            <a:off x="9082088" y="36576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5902" name="Oval 63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903" name="Oval 64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904" name="Text Box 65"/>
          <p:cNvSpPr txBox="1">
            <a:spLocks noChangeArrowheads="1"/>
          </p:cNvSpPr>
          <p:nvPr/>
        </p:nvSpPr>
        <p:spPr bwMode="auto">
          <a:xfrm>
            <a:off x="9010650" y="414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5905" name="Text Box 66"/>
          <p:cNvSpPr txBox="1">
            <a:spLocks noChangeArrowheads="1"/>
          </p:cNvSpPr>
          <p:nvPr/>
        </p:nvSpPr>
        <p:spPr bwMode="auto">
          <a:xfrm>
            <a:off x="9056688" y="47085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5906" name="Oval 67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5907" name="Text Box 68"/>
          <p:cNvSpPr txBox="1">
            <a:spLocks noChangeArrowheads="1"/>
          </p:cNvSpPr>
          <p:nvPr/>
        </p:nvSpPr>
        <p:spPr bwMode="auto">
          <a:xfrm>
            <a:off x="9069388" y="51308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5908" name="Freeform 69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909" name="Freeform 70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910" name="Freeform 71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911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5912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5913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5914" name="Text Box 75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5915" name="Line 76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916" name="Line 77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5917" name="Text Box 78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5918" name="Text Box 79"/>
          <p:cNvSpPr txBox="1">
            <a:spLocks noChangeArrowheads="1"/>
          </p:cNvSpPr>
          <p:nvPr/>
        </p:nvSpPr>
        <p:spPr bwMode="auto">
          <a:xfrm>
            <a:off x="9448801" y="41751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5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6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8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0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2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3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4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5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6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7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8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899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0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1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2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3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4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5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6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7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8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09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10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11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12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13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14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6915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16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17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18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19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0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1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2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3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4" name="Text Box 61"/>
          <p:cNvSpPr txBox="1">
            <a:spLocks noChangeArrowheads="1"/>
          </p:cNvSpPr>
          <p:nvPr/>
        </p:nvSpPr>
        <p:spPr bwMode="auto">
          <a:xfrm>
            <a:off x="9082088" y="36576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6925" name="Oval 62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6" name="Oval 6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27" name="Text Box 64"/>
          <p:cNvSpPr txBox="1">
            <a:spLocks noChangeArrowheads="1"/>
          </p:cNvSpPr>
          <p:nvPr/>
        </p:nvSpPr>
        <p:spPr bwMode="auto">
          <a:xfrm>
            <a:off x="9010650" y="414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6928" name="Text Box 65"/>
          <p:cNvSpPr txBox="1">
            <a:spLocks noChangeArrowheads="1"/>
          </p:cNvSpPr>
          <p:nvPr/>
        </p:nvSpPr>
        <p:spPr bwMode="auto">
          <a:xfrm>
            <a:off x="9056688" y="47085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6929" name="Oval 66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6930" name="Text Box 67"/>
          <p:cNvSpPr txBox="1">
            <a:spLocks noChangeArrowheads="1"/>
          </p:cNvSpPr>
          <p:nvPr/>
        </p:nvSpPr>
        <p:spPr bwMode="auto">
          <a:xfrm>
            <a:off x="9069388" y="51308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6931" name="Freeform 68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32" name="Freeform 69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33" name="Freeform 70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34" name="Text Box 71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6935" name="Text Box 72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6936" name="Text Box 73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6937" name="Text Box 74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6938" name="Line 75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39" name="Line 76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6940" name="Text Box 77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6941" name="Text Box 78"/>
          <p:cNvSpPr txBox="1">
            <a:spLocks noChangeArrowheads="1"/>
          </p:cNvSpPr>
          <p:nvPr/>
        </p:nvSpPr>
        <p:spPr bwMode="auto">
          <a:xfrm>
            <a:off x="9448801" y="41751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7896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7897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7903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7904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7905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7906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08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09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0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1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2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3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4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5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6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7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8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19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0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1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2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3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4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5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6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7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8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29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0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1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2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3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4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5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6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7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38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7939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0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1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2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3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4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5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6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7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8" name="Oval 62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49" name="Oval 63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50" name="Text Box 64"/>
          <p:cNvSpPr txBox="1">
            <a:spLocks noChangeArrowheads="1"/>
          </p:cNvSpPr>
          <p:nvPr/>
        </p:nvSpPr>
        <p:spPr bwMode="auto">
          <a:xfrm>
            <a:off x="9010650" y="414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7951" name="Text Box 65"/>
          <p:cNvSpPr txBox="1">
            <a:spLocks noChangeArrowheads="1"/>
          </p:cNvSpPr>
          <p:nvPr/>
        </p:nvSpPr>
        <p:spPr bwMode="auto">
          <a:xfrm>
            <a:off x="9056688" y="47085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7952" name="Oval 66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7953" name="Text Box 67"/>
          <p:cNvSpPr txBox="1">
            <a:spLocks noChangeArrowheads="1"/>
          </p:cNvSpPr>
          <p:nvPr/>
        </p:nvSpPr>
        <p:spPr bwMode="auto">
          <a:xfrm>
            <a:off x="9069388" y="51308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7954" name="Freeform 68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55" name="Freeform 69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56" name="Freeform 70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57" name="Text Box 71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7958" name="Text Box 72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7959" name="Text Box 73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7960" name="Text Box 74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7961" name="Line 75"/>
          <p:cNvSpPr>
            <a:spLocks noChangeShapeType="1"/>
          </p:cNvSpPr>
          <p:nvPr/>
        </p:nvSpPr>
        <p:spPr bwMode="auto">
          <a:xfrm>
            <a:off x="8763000" y="2286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62" name="Line 76"/>
          <p:cNvSpPr>
            <a:spLocks noChangeShapeType="1"/>
          </p:cNvSpPr>
          <p:nvPr/>
        </p:nvSpPr>
        <p:spPr bwMode="auto">
          <a:xfrm>
            <a:off x="8763000" y="42672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7963" name="Text Box 77"/>
          <p:cNvSpPr txBox="1">
            <a:spLocks noChangeArrowheads="1"/>
          </p:cNvSpPr>
          <p:nvPr/>
        </p:nvSpPr>
        <p:spPr bwMode="auto">
          <a:xfrm>
            <a:off x="9448801" y="21336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7964" name="Text Box 78"/>
          <p:cNvSpPr txBox="1">
            <a:spLocks noChangeArrowheads="1"/>
          </p:cNvSpPr>
          <p:nvPr/>
        </p:nvSpPr>
        <p:spPr bwMode="auto">
          <a:xfrm>
            <a:off x="9448801" y="41751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591951" name="Line 79"/>
          <p:cNvSpPr>
            <a:spLocks noChangeShapeType="1"/>
          </p:cNvSpPr>
          <p:nvPr/>
        </p:nvSpPr>
        <p:spPr bwMode="auto">
          <a:xfrm>
            <a:off x="8826500" y="56388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91952" name="Freeform 80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1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1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1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1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951" grpId="0" animBg="1"/>
      <p:bldP spid="59195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17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8920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8921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8922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8923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8924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8925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8926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8927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8928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8930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8931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2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3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4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5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6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7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8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39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0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1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2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3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4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5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6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7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8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49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0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1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2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3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4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5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6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7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8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59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60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61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62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8963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4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5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6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7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8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69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0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1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2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3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4" name="Text Box 63"/>
          <p:cNvSpPr txBox="1">
            <a:spLocks noChangeArrowheads="1"/>
          </p:cNvSpPr>
          <p:nvPr/>
        </p:nvSpPr>
        <p:spPr bwMode="auto">
          <a:xfrm>
            <a:off x="9010650" y="19653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8975" name="Oval 65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8976" name="Freeform 67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77" name="Freeform 68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78" name="Freeform 69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79" name="Freeform 70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80" name="Text Box 72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38981" name="Text Box 73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38982" name="Text Box 74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38983" name="Text Box 75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38984" name="Line 76"/>
          <p:cNvSpPr>
            <a:spLocks noChangeShapeType="1"/>
          </p:cNvSpPr>
          <p:nvPr/>
        </p:nvSpPr>
        <p:spPr bwMode="auto">
          <a:xfrm>
            <a:off x="8763000" y="20574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85" name="Line 77"/>
          <p:cNvSpPr>
            <a:spLocks noChangeShapeType="1"/>
          </p:cNvSpPr>
          <p:nvPr/>
        </p:nvSpPr>
        <p:spPr bwMode="auto">
          <a:xfrm>
            <a:off x="8763000" y="3276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8986" name="Text Box 78"/>
          <p:cNvSpPr txBox="1">
            <a:spLocks noChangeArrowheads="1"/>
          </p:cNvSpPr>
          <p:nvPr/>
        </p:nvSpPr>
        <p:spPr bwMode="auto">
          <a:xfrm>
            <a:off x="9056688" y="23622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8987" name="Text Box 79"/>
          <p:cNvSpPr txBox="1">
            <a:spLocks noChangeArrowheads="1"/>
          </p:cNvSpPr>
          <p:nvPr/>
        </p:nvSpPr>
        <p:spPr bwMode="auto">
          <a:xfrm>
            <a:off x="9069388" y="278447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8988" name="Text Box 81"/>
          <p:cNvSpPr txBox="1">
            <a:spLocks noChangeArrowheads="1"/>
          </p:cNvSpPr>
          <p:nvPr/>
        </p:nvSpPr>
        <p:spPr bwMode="auto">
          <a:xfrm>
            <a:off x="9448801" y="19558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39939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39953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39955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56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58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59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0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1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2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3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4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5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6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7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8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69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0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1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2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3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5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79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0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1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2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4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5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9986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39987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88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89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0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1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2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3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4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5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6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7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39998" name="Text Box 63"/>
          <p:cNvSpPr txBox="1">
            <a:spLocks noChangeArrowheads="1"/>
          </p:cNvSpPr>
          <p:nvPr/>
        </p:nvSpPr>
        <p:spPr bwMode="auto">
          <a:xfrm>
            <a:off x="9056688" y="23622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39999" name="Oval 64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0000" name="Text Box 65"/>
          <p:cNvSpPr txBox="1">
            <a:spLocks noChangeArrowheads="1"/>
          </p:cNvSpPr>
          <p:nvPr/>
        </p:nvSpPr>
        <p:spPr bwMode="auto">
          <a:xfrm>
            <a:off x="9069388" y="278447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0001" name="Text Box 66"/>
          <p:cNvSpPr txBox="1">
            <a:spLocks noChangeArrowheads="1"/>
          </p:cNvSpPr>
          <p:nvPr/>
        </p:nvSpPr>
        <p:spPr bwMode="auto">
          <a:xfrm>
            <a:off x="9036051" y="315277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0002" name="Freeform 67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03" name="Freeform 68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04" name="Freeform 69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05" name="Freeform 70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06" name="Text Box 71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40007" name="Text Box 72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40008" name="Text Box 73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40009" name="Text Box 74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0010" name="Text Box 76"/>
          <p:cNvSpPr txBox="1">
            <a:spLocks noChangeArrowheads="1"/>
          </p:cNvSpPr>
          <p:nvPr/>
        </p:nvSpPr>
        <p:spPr bwMode="auto">
          <a:xfrm>
            <a:off x="4402138" y="62325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40011" name="Line 77"/>
          <p:cNvSpPr>
            <a:spLocks noChangeShapeType="1"/>
          </p:cNvSpPr>
          <p:nvPr/>
        </p:nvSpPr>
        <p:spPr bwMode="auto">
          <a:xfrm>
            <a:off x="8763000" y="20574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12" name="Line 78"/>
          <p:cNvSpPr>
            <a:spLocks noChangeShapeType="1"/>
          </p:cNvSpPr>
          <p:nvPr/>
        </p:nvSpPr>
        <p:spPr bwMode="auto">
          <a:xfrm>
            <a:off x="8763000" y="3276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013" name="Text Box 79"/>
          <p:cNvSpPr txBox="1">
            <a:spLocks noChangeArrowheads="1"/>
          </p:cNvSpPr>
          <p:nvPr/>
        </p:nvSpPr>
        <p:spPr bwMode="auto">
          <a:xfrm>
            <a:off x="9448801" y="19558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0014" name="Text Box 80"/>
          <p:cNvSpPr txBox="1">
            <a:spLocks noChangeArrowheads="1"/>
          </p:cNvSpPr>
          <p:nvPr/>
        </p:nvSpPr>
        <p:spPr bwMode="auto">
          <a:xfrm>
            <a:off x="9461501" y="31242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40963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40975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40976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1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2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3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4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5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7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8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89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0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1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2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3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4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5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6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7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8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4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5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6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7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8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09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10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41011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2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3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4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5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6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7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8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19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20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21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22" name="Oval 63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023" name="Text Box 64"/>
          <p:cNvSpPr txBox="1">
            <a:spLocks noChangeArrowheads="1"/>
          </p:cNvSpPr>
          <p:nvPr/>
        </p:nvSpPr>
        <p:spPr bwMode="auto">
          <a:xfrm>
            <a:off x="9069388" y="278447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1024" name="Text Box 65"/>
          <p:cNvSpPr txBox="1">
            <a:spLocks noChangeArrowheads="1"/>
          </p:cNvSpPr>
          <p:nvPr/>
        </p:nvSpPr>
        <p:spPr bwMode="auto">
          <a:xfrm>
            <a:off x="9036051" y="315277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1025" name="Freeform 66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26" name="Freeform 67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27" name="Freeform 68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28" name="Freeform 69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29" name="Text Box 70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41030" name="Text Box 71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41031" name="Text Box 72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41032" name="Text Box 73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1033" name="Text Box 75"/>
          <p:cNvSpPr txBox="1">
            <a:spLocks noChangeArrowheads="1"/>
          </p:cNvSpPr>
          <p:nvPr/>
        </p:nvSpPr>
        <p:spPr bwMode="auto">
          <a:xfrm>
            <a:off x="4402138" y="62325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41034" name="Line 76"/>
          <p:cNvSpPr>
            <a:spLocks noChangeShapeType="1"/>
          </p:cNvSpPr>
          <p:nvPr/>
        </p:nvSpPr>
        <p:spPr bwMode="auto">
          <a:xfrm>
            <a:off x="8763000" y="20574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35" name="Line 77"/>
          <p:cNvSpPr>
            <a:spLocks noChangeShapeType="1"/>
          </p:cNvSpPr>
          <p:nvPr/>
        </p:nvSpPr>
        <p:spPr bwMode="auto">
          <a:xfrm>
            <a:off x="8763000" y="3276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1036" name="Text Box 78"/>
          <p:cNvSpPr txBox="1">
            <a:spLocks noChangeArrowheads="1"/>
          </p:cNvSpPr>
          <p:nvPr/>
        </p:nvSpPr>
        <p:spPr bwMode="auto">
          <a:xfrm>
            <a:off x="9448801" y="19558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1037" name="Text Box 79"/>
          <p:cNvSpPr txBox="1">
            <a:spLocks noChangeArrowheads="1"/>
          </p:cNvSpPr>
          <p:nvPr/>
        </p:nvSpPr>
        <p:spPr bwMode="auto">
          <a:xfrm>
            <a:off x="9461501" y="31242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41991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1994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41995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41996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1997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41998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41999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42000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42001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42003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4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5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6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7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8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09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0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1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2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3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4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5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6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7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8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19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0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1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2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3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4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5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6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7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8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29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30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31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32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33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42035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36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37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38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39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0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1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2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3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4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5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6" name="Oval 63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2047" name="Text Box 64"/>
          <p:cNvSpPr txBox="1">
            <a:spLocks noChangeArrowheads="1"/>
          </p:cNvSpPr>
          <p:nvPr/>
        </p:nvSpPr>
        <p:spPr bwMode="auto">
          <a:xfrm>
            <a:off x="9036051" y="315277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2048" name="Freeform 65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49" name="Freeform 66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50" name="Freeform 67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51" name="Freeform 68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1461" name="Freeform 69"/>
          <p:cNvSpPr>
            <a:spLocks/>
          </p:cNvSpPr>
          <p:nvPr/>
        </p:nvSpPr>
        <p:spPr bwMode="auto">
          <a:xfrm>
            <a:off x="3556000" y="6375400"/>
            <a:ext cx="1384300" cy="368300"/>
          </a:xfrm>
          <a:custGeom>
            <a:avLst/>
            <a:gdLst>
              <a:gd name="T0" fmla="*/ 0 w 872"/>
              <a:gd name="T1" fmla="*/ 0 h 232"/>
              <a:gd name="T2" fmla="*/ 2147483647 w 872"/>
              <a:gd name="T3" fmla="*/ 2147483647 h 232"/>
              <a:gd name="T4" fmla="*/ 0 60000 65536"/>
              <a:gd name="T5" fmla="*/ 0 60000 65536"/>
              <a:gd name="T6" fmla="*/ 0 w 872"/>
              <a:gd name="T7" fmla="*/ 0 h 232"/>
              <a:gd name="T8" fmla="*/ 872 w 872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72" h="232">
                <a:moveTo>
                  <a:pt x="0" y="0"/>
                </a:moveTo>
                <a:cubicBezTo>
                  <a:pt x="147" y="39"/>
                  <a:pt x="690" y="184"/>
                  <a:pt x="872" y="232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53" name="Text Box 70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42054" name="Text Box 71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42055" name="Text Box 72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42056" name="Text Box 73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2057" name="Text Box 74"/>
          <p:cNvSpPr txBox="1">
            <a:spLocks noChangeArrowheads="1"/>
          </p:cNvSpPr>
          <p:nvPr/>
        </p:nvSpPr>
        <p:spPr bwMode="auto">
          <a:xfrm>
            <a:off x="4402138" y="62325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571467" name="Line 75"/>
          <p:cNvSpPr>
            <a:spLocks noChangeShapeType="1"/>
          </p:cNvSpPr>
          <p:nvPr/>
        </p:nvSpPr>
        <p:spPr bwMode="auto">
          <a:xfrm>
            <a:off x="8763000" y="3657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59" name="Line 76"/>
          <p:cNvSpPr>
            <a:spLocks noChangeShapeType="1"/>
          </p:cNvSpPr>
          <p:nvPr/>
        </p:nvSpPr>
        <p:spPr bwMode="auto">
          <a:xfrm>
            <a:off x="8763000" y="3276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2060" name="Text Box 77"/>
          <p:cNvSpPr txBox="1">
            <a:spLocks noChangeArrowheads="1"/>
          </p:cNvSpPr>
          <p:nvPr/>
        </p:nvSpPr>
        <p:spPr bwMode="auto">
          <a:xfrm>
            <a:off x="9448801" y="19558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2061" name="Text Box 78"/>
          <p:cNvSpPr txBox="1">
            <a:spLocks noChangeArrowheads="1"/>
          </p:cNvSpPr>
          <p:nvPr/>
        </p:nvSpPr>
        <p:spPr bwMode="auto">
          <a:xfrm>
            <a:off x="9461501" y="31242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1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1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61" grpId="0" animBg="1"/>
      <p:bldP spid="5714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43011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43024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43025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43026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43027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5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6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7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8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39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0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1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2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3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4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5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6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8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1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2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3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4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5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6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7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58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43059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0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1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2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3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4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5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6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7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8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69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70" name="Oval 63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3071" name="Text Box 64"/>
          <p:cNvSpPr txBox="1">
            <a:spLocks noChangeArrowheads="1"/>
          </p:cNvSpPr>
          <p:nvPr/>
        </p:nvSpPr>
        <p:spPr bwMode="auto">
          <a:xfrm>
            <a:off x="9036051" y="200977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3072" name="Freeform 65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73" name="Freeform 66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74" name="Freeform 67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75" name="Freeform 68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76" name="Freeform 69"/>
          <p:cNvSpPr>
            <a:spLocks/>
          </p:cNvSpPr>
          <p:nvPr/>
        </p:nvSpPr>
        <p:spPr bwMode="auto">
          <a:xfrm>
            <a:off x="3556000" y="6375400"/>
            <a:ext cx="1384300" cy="368300"/>
          </a:xfrm>
          <a:custGeom>
            <a:avLst/>
            <a:gdLst>
              <a:gd name="T0" fmla="*/ 0 w 872"/>
              <a:gd name="T1" fmla="*/ 0 h 232"/>
              <a:gd name="T2" fmla="*/ 2147483647 w 872"/>
              <a:gd name="T3" fmla="*/ 2147483647 h 232"/>
              <a:gd name="T4" fmla="*/ 0 60000 65536"/>
              <a:gd name="T5" fmla="*/ 0 60000 65536"/>
              <a:gd name="T6" fmla="*/ 0 w 872"/>
              <a:gd name="T7" fmla="*/ 0 h 232"/>
              <a:gd name="T8" fmla="*/ 872 w 872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72" h="232">
                <a:moveTo>
                  <a:pt x="0" y="0"/>
                </a:moveTo>
                <a:cubicBezTo>
                  <a:pt x="147" y="39"/>
                  <a:pt x="690" y="184"/>
                  <a:pt x="872" y="232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77" name="Text Box 70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43078" name="Text Box 71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43079" name="Text Box 72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43080" name="Text Box 73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3081" name="Text Box 74"/>
          <p:cNvSpPr txBox="1">
            <a:spLocks noChangeArrowheads="1"/>
          </p:cNvSpPr>
          <p:nvPr/>
        </p:nvSpPr>
        <p:spPr bwMode="auto">
          <a:xfrm>
            <a:off x="4402138" y="62325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43082" name="Line 75"/>
          <p:cNvSpPr>
            <a:spLocks noChangeShapeType="1"/>
          </p:cNvSpPr>
          <p:nvPr/>
        </p:nvSpPr>
        <p:spPr bwMode="auto">
          <a:xfrm>
            <a:off x="8763000" y="251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83" name="Line 76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3084" name="Text Box 78"/>
          <p:cNvSpPr txBox="1">
            <a:spLocks noChangeArrowheads="1"/>
          </p:cNvSpPr>
          <p:nvPr/>
        </p:nvSpPr>
        <p:spPr bwMode="auto">
          <a:xfrm>
            <a:off x="9461501" y="19812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28600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BFS</a:t>
            </a:r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4038600" y="6172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6324600" y="3429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2770188" y="1828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1931988" y="3336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2362200" y="50895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3733801" y="60960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k</a:t>
            </a: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3879851" y="35655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44043" name="Text Box 11"/>
          <p:cNvSpPr txBox="1">
            <a:spLocks noChangeArrowheads="1"/>
          </p:cNvSpPr>
          <p:nvPr/>
        </p:nvSpPr>
        <p:spPr bwMode="auto">
          <a:xfrm>
            <a:off x="4953001" y="45561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44044" name="Text Box 12"/>
          <p:cNvSpPr txBox="1">
            <a:spLocks noChangeArrowheads="1"/>
          </p:cNvSpPr>
          <p:nvPr/>
        </p:nvSpPr>
        <p:spPr bwMode="auto">
          <a:xfrm>
            <a:off x="6172201" y="6308726"/>
            <a:ext cx="2905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l</a:t>
            </a:r>
          </a:p>
        </p:txBody>
      </p:sp>
      <p:sp>
        <p:nvSpPr>
          <p:cNvPr id="44045" name="Text Box 13"/>
          <p:cNvSpPr txBox="1">
            <a:spLocks noChangeArrowheads="1"/>
          </p:cNvSpPr>
          <p:nvPr/>
        </p:nvSpPr>
        <p:spPr bwMode="auto">
          <a:xfrm>
            <a:off x="7519989" y="5470526"/>
            <a:ext cx="4587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m</a:t>
            </a:r>
          </a:p>
        </p:txBody>
      </p:sp>
      <p:sp>
        <p:nvSpPr>
          <p:cNvPr id="44046" name="Text Box 14"/>
          <p:cNvSpPr txBox="1">
            <a:spLocks noChangeArrowheads="1"/>
          </p:cNvSpPr>
          <p:nvPr/>
        </p:nvSpPr>
        <p:spPr bwMode="auto">
          <a:xfrm>
            <a:off x="7951788" y="40513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44047" name="Text Box 15"/>
          <p:cNvSpPr txBox="1">
            <a:spLocks noChangeArrowheads="1"/>
          </p:cNvSpPr>
          <p:nvPr/>
        </p:nvSpPr>
        <p:spPr bwMode="auto">
          <a:xfrm>
            <a:off x="7772401" y="2476501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44048" name="Text Box 1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44049" name="Text Box 17"/>
          <p:cNvSpPr txBox="1">
            <a:spLocks noChangeArrowheads="1"/>
          </p:cNvSpPr>
          <p:nvPr/>
        </p:nvSpPr>
        <p:spPr bwMode="auto">
          <a:xfrm>
            <a:off x="6483350" y="304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44050" name="Text Box 18"/>
          <p:cNvSpPr txBox="1">
            <a:spLocks noChangeArrowheads="1"/>
          </p:cNvSpPr>
          <p:nvPr/>
        </p:nvSpPr>
        <p:spPr bwMode="auto">
          <a:xfrm>
            <a:off x="4959350" y="25908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44051" name="Line 19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2" name="Line 20"/>
          <p:cNvSpPr>
            <a:spLocks noChangeShapeType="1"/>
          </p:cNvSpPr>
          <p:nvPr/>
        </p:nvSpPr>
        <p:spPr bwMode="auto">
          <a:xfrm flipH="1">
            <a:off x="4951413" y="1443038"/>
            <a:ext cx="2286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181600" y="1447800"/>
            <a:ext cx="1143000" cy="1981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4" name="Line 2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5" name="Line 23"/>
          <p:cNvSpPr>
            <a:spLocks noChangeShapeType="1"/>
          </p:cNvSpPr>
          <p:nvPr/>
        </p:nvSpPr>
        <p:spPr bwMode="auto">
          <a:xfrm flipH="1">
            <a:off x="6400800" y="1905000"/>
            <a:ext cx="609600" cy="1524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6" name="Line 24"/>
          <p:cNvSpPr>
            <a:spLocks noChangeShapeType="1"/>
          </p:cNvSpPr>
          <p:nvPr/>
        </p:nvSpPr>
        <p:spPr bwMode="auto">
          <a:xfrm flipV="1">
            <a:off x="4876800" y="3581400"/>
            <a:ext cx="1447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7" name="Line 25"/>
          <p:cNvSpPr>
            <a:spLocks noChangeShapeType="1"/>
          </p:cNvSpPr>
          <p:nvPr/>
        </p:nvSpPr>
        <p:spPr bwMode="auto">
          <a:xfrm flipV="1">
            <a:off x="4953000" y="2819400"/>
            <a:ext cx="2743200" cy="304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8" name="Line 26"/>
          <p:cNvSpPr>
            <a:spLocks noChangeShapeType="1"/>
          </p:cNvSpPr>
          <p:nvPr/>
        </p:nvSpPr>
        <p:spPr bwMode="auto">
          <a:xfrm>
            <a:off x="7086600" y="1905000"/>
            <a:ext cx="685800" cy="83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59" name="Line 27"/>
          <p:cNvSpPr>
            <a:spLocks noChangeShapeType="1"/>
          </p:cNvSpPr>
          <p:nvPr/>
        </p:nvSpPr>
        <p:spPr bwMode="auto">
          <a:xfrm>
            <a:off x="6400800" y="3581400"/>
            <a:ext cx="14478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0" name="Line 28"/>
          <p:cNvSpPr>
            <a:spLocks noChangeShapeType="1"/>
          </p:cNvSpPr>
          <p:nvPr/>
        </p:nvSpPr>
        <p:spPr bwMode="auto">
          <a:xfrm>
            <a:off x="7772400" y="2819400"/>
            <a:ext cx="1524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1" name="Line 29"/>
          <p:cNvSpPr>
            <a:spLocks noChangeShapeType="1"/>
          </p:cNvSpPr>
          <p:nvPr/>
        </p:nvSpPr>
        <p:spPr bwMode="auto">
          <a:xfrm>
            <a:off x="4953000" y="3200400"/>
            <a:ext cx="2438400" cy="2438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2" name="Line 30"/>
          <p:cNvSpPr>
            <a:spLocks noChangeShapeType="1"/>
          </p:cNvSpPr>
          <p:nvPr/>
        </p:nvSpPr>
        <p:spPr bwMode="auto">
          <a:xfrm flipH="1">
            <a:off x="3810000" y="3124200"/>
            <a:ext cx="114300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3" name="Line 31"/>
          <p:cNvSpPr>
            <a:spLocks noChangeShapeType="1"/>
          </p:cNvSpPr>
          <p:nvPr/>
        </p:nvSpPr>
        <p:spPr bwMode="auto">
          <a:xfrm>
            <a:off x="3124200" y="2286000"/>
            <a:ext cx="609600" cy="1524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4" name="Line 32"/>
          <p:cNvSpPr>
            <a:spLocks noChangeShapeType="1"/>
          </p:cNvSpPr>
          <p:nvPr/>
        </p:nvSpPr>
        <p:spPr bwMode="auto">
          <a:xfrm flipH="1">
            <a:off x="2362200" y="2286000"/>
            <a:ext cx="7620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5" name="Line 33"/>
          <p:cNvSpPr>
            <a:spLocks noChangeShapeType="1"/>
          </p:cNvSpPr>
          <p:nvPr/>
        </p:nvSpPr>
        <p:spPr bwMode="auto">
          <a:xfrm>
            <a:off x="2286000" y="3657600"/>
            <a:ext cx="2438400" cy="1143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6" name="Line 34"/>
          <p:cNvSpPr>
            <a:spLocks noChangeShapeType="1"/>
          </p:cNvSpPr>
          <p:nvPr/>
        </p:nvSpPr>
        <p:spPr bwMode="auto">
          <a:xfrm flipH="1">
            <a:off x="4191000" y="4876800"/>
            <a:ext cx="6858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7" name="Line 35"/>
          <p:cNvSpPr>
            <a:spLocks noChangeShapeType="1"/>
          </p:cNvSpPr>
          <p:nvPr/>
        </p:nvSpPr>
        <p:spPr bwMode="auto">
          <a:xfrm>
            <a:off x="4876800" y="4876800"/>
            <a:ext cx="12192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8" name="Line 36"/>
          <p:cNvSpPr>
            <a:spLocks noChangeShapeType="1"/>
          </p:cNvSpPr>
          <p:nvPr/>
        </p:nvSpPr>
        <p:spPr bwMode="auto">
          <a:xfrm flipH="1">
            <a:off x="2895600" y="4876800"/>
            <a:ext cx="198120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69" name="Line 37"/>
          <p:cNvSpPr>
            <a:spLocks noChangeShapeType="1"/>
          </p:cNvSpPr>
          <p:nvPr/>
        </p:nvSpPr>
        <p:spPr bwMode="auto">
          <a:xfrm flipH="1">
            <a:off x="6248400" y="5715000"/>
            <a:ext cx="1219200" cy="685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0" name="Line 38"/>
          <p:cNvSpPr>
            <a:spLocks noChangeShapeType="1"/>
          </p:cNvSpPr>
          <p:nvPr/>
        </p:nvSpPr>
        <p:spPr bwMode="auto">
          <a:xfrm flipV="1">
            <a:off x="7543800" y="4495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1" name="Line 39"/>
          <p:cNvSpPr>
            <a:spLocks noChangeShapeType="1"/>
          </p:cNvSpPr>
          <p:nvPr/>
        </p:nvSpPr>
        <p:spPr bwMode="auto">
          <a:xfrm flipH="1" flipV="1">
            <a:off x="6400800" y="3657600"/>
            <a:ext cx="15240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2" name="Line 40"/>
          <p:cNvSpPr>
            <a:spLocks noChangeShapeType="1"/>
          </p:cNvSpPr>
          <p:nvPr/>
        </p:nvSpPr>
        <p:spPr bwMode="auto">
          <a:xfrm flipH="1" flipV="1">
            <a:off x="3810000" y="3962400"/>
            <a:ext cx="1066800" cy="914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3" name="Line 41"/>
          <p:cNvSpPr>
            <a:spLocks noChangeShapeType="1"/>
          </p:cNvSpPr>
          <p:nvPr/>
        </p:nvSpPr>
        <p:spPr bwMode="auto">
          <a:xfrm flipH="1">
            <a:off x="7467600" y="44196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4" name="Line 42"/>
          <p:cNvSpPr>
            <a:spLocks noChangeShapeType="1"/>
          </p:cNvSpPr>
          <p:nvPr/>
        </p:nvSpPr>
        <p:spPr bwMode="auto">
          <a:xfrm flipV="1">
            <a:off x="6172200" y="3733800"/>
            <a:ext cx="152400" cy="2667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5" name="Line 43"/>
          <p:cNvSpPr>
            <a:spLocks noChangeShapeType="1"/>
          </p:cNvSpPr>
          <p:nvPr/>
        </p:nvSpPr>
        <p:spPr bwMode="auto">
          <a:xfrm flipH="1" flipV="1">
            <a:off x="4267200" y="6324600"/>
            <a:ext cx="19050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6" name="Line 44"/>
          <p:cNvSpPr>
            <a:spLocks noChangeShapeType="1"/>
          </p:cNvSpPr>
          <p:nvPr/>
        </p:nvSpPr>
        <p:spPr bwMode="auto">
          <a:xfrm flipV="1">
            <a:off x="3733800" y="1600200"/>
            <a:ext cx="1295400" cy="2286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7" name="Line 45"/>
          <p:cNvSpPr>
            <a:spLocks noChangeShapeType="1"/>
          </p:cNvSpPr>
          <p:nvPr/>
        </p:nvSpPr>
        <p:spPr bwMode="auto">
          <a:xfrm>
            <a:off x="2743200" y="5334000"/>
            <a:ext cx="1295400" cy="838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8" name="Line 46"/>
          <p:cNvSpPr>
            <a:spLocks noChangeShapeType="1"/>
          </p:cNvSpPr>
          <p:nvPr/>
        </p:nvSpPr>
        <p:spPr bwMode="auto">
          <a:xfrm>
            <a:off x="2286000" y="3657600"/>
            <a:ext cx="381000" cy="1600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79" name="Line 47"/>
          <p:cNvSpPr>
            <a:spLocks noChangeShapeType="1"/>
          </p:cNvSpPr>
          <p:nvPr/>
        </p:nvSpPr>
        <p:spPr bwMode="auto">
          <a:xfrm>
            <a:off x="2286000" y="3657600"/>
            <a:ext cx="1371600" cy="228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80" name="Line 48"/>
          <p:cNvSpPr>
            <a:spLocks noChangeShapeType="1"/>
          </p:cNvSpPr>
          <p:nvPr/>
        </p:nvSpPr>
        <p:spPr bwMode="auto">
          <a:xfrm>
            <a:off x="89916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81" name="Line 49"/>
          <p:cNvSpPr>
            <a:spLocks noChangeShapeType="1"/>
          </p:cNvSpPr>
          <p:nvPr/>
        </p:nvSpPr>
        <p:spPr bwMode="auto">
          <a:xfrm>
            <a:off x="9385300" y="1905000"/>
            <a:ext cx="0" cy="3505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82" name="Text Box 50"/>
          <p:cNvSpPr txBox="1">
            <a:spLocks noChangeArrowheads="1"/>
          </p:cNvSpPr>
          <p:nvPr/>
        </p:nvSpPr>
        <p:spPr bwMode="auto">
          <a:xfrm>
            <a:off x="8153401" y="304801"/>
            <a:ext cx="2143125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Found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Not Handled</a:t>
            </a:r>
            <a:b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</a:br>
            <a:r>
              <a:rPr lang="en-US" altLang="en-US" sz="3000" kern="1200">
                <a:solidFill>
                  <a:srgbClr val="FF9900"/>
                </a:solidFill>
                <a:ea typeface="+mn-ea"/>
                <a:cs typeface="+mn-cs"/>
              </a:rPr>
              <a:t>Queue</a:t>
            </a:r>
          </a:p>
        </p:txBody>
      </p:sp>
      <p:sp>
        <p:nvSpPr>
          <p:cNvPr id="44083" name="Oval 5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4" name="Oval 53"/>
          <p:cNvSpPr>
            <a:spLocks noChangeArrowheads="1"/>
          </p:cNvSpPr>
          <p:nvPr/>
        </p:nvSpPr>
        <p:spPr bwMode="auto">
          <a:xfrm>
            <a:off x="3048000" y="2209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5" name="Oval 54"/>
          <p:cNvSpPr>
            <a:spLocks noChangeArrowheads="1"/>
          </p:cNvSpPr>
          <p:nvPr/>
        </p:nvSpPr>
        <p:spPr bwMode="auto">
          <a:xfrm>
            <a:off x="4876800" y="3048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6" name="Oval 55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7" name="Oval 56"/>
          <p:cNvSpPr>
            <a:spLocks noChangeArrowheads="1"/>
          </p:cNvSpPr>
          <p:nvPr/>
        </p:nvSpPr>
        <p:spPr bwMode="auto">
          <a:xfrm>
            <a:off x="2209800" y="3581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8" name="Oval 57"/>
          <p:cNvSpPr>
            <a:spLocks noChangeArrowheads="1"/>
          </p:cNvSpPr>
          <p:nvPr/>
        </p:nvSpPr>
        <p:spPr bwMode="auto">
          <a:xfrm>
            <a:off x="3657600" y="38100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89" name="Oval 58"/>
          <p:cNvSpPr>
            <a:spLocks noChangeArrowheads="1"/>
          </p:cNvSpPr>
          <p:nvPr/>
        </p:nvSpPr>
        <p:spPr bwMode="auto">
          <a:xfrm>
            <a:off x="7696200" y="27432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0" name="Oval 59"/>
          <p:cNvSpPr>
            <a:spLocks noChangeArrowheads="1"/>
          </p:cNvSpPr>
          <p:nvPr/>
        </p:nvSpPr>
        <p:spPr bwMode="auto">
          <a:xfrm>
            <a:off x="7391400" y="5638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1" name="Oval 60"/>
          <p:cNvSpPr>
            <a:spLocks noChangeArrowheads="1"/>
          </p:cNvSpPr>
          <p:nvPr/>
        </p:nvSpPr>
        <p:spPr bwMode="auto">
          <a:xfrm>
            <a:off x="7848600" y="43434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2" name="Oval 61"/>
          <p:cNvSpPr>
            <a:spLocks noChangeArrowheads="1"/>
          </p:cNvSpPr>
          <p:nvPr/>
        </p:nvSpPr>
        <p:spPr bwMode="auto">
          <a:xfrm>
            <a:off x="2667000" y="52578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3" name="Oval 62"/>
          <p:cNvSpPr>
            <a:spLocks noChangeArrowheads="1"/>
          </p:cNvSpPr>
          <p:nvPr/>
        </p:nvSpPr>
        <p:spPr bwMode="auto">
          <a:xfrm>
            <a:off x="4800600" y="4800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4" name="Oval 63"/>
          <p:cNvSpPr>
            <a:spLocks noChangeArrowheads="1"/>
          </p:cNvSpPr>
          <p:nvPr/>
        </p:nvSpPr>
        <p:spPr bwMode="auto">
          <a:xfrm>
            <a:off x="6096000" y="6324600"/>
            <a:ext cx="152400" cy="15240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44095" name="Freeform 64"/>
          <p:cNvSpPr>
            <a:spLocks/>
          </p:cNvSpPr>
          <p:nvPr/>
        </p:nvSpPr>
        <p:spPr bwMode="auto">
          <a:xfrm>
            <a:off x="3733800" y="1219200"/>
            <a:ext cx="2895600" cy="876300"/>
          </a:xfrm>
          <a:custGeom>
            <a:avLst/>
            <a:gdLst>
              <a:gd name="T0" fmla="*/ 0 w 1824"/>
              <a:gd name="T1" fmla="*/ 2147483647 h 552"/>
              <a:gd name="T2" fmla="*/ 2147483647 w 1824"/>
              <a:gd name="T3" fmla="*/ 2147483647 h 552"/>
              <a:gd name="T4" fmla="*/ 2147483647 w 1824"/>
              <a:gd name="T5" fmla="*/ 0 h 552"/>
              <a:gd name="T6" fmla="*/ 0 60000 65536"/>
              <a:gd name="T7" fmla="*/ 0 60000 65536"/>
              <a:gd name="T8" fmla="*/ 0 60000 65536"/>
              <a:gd name="T9" fmla="*/ 0 w 1824"/>
              <a:gd name="T10" fmla="*/ 0 h 552"/>
              <a:gd name="T11" fmla="*/ 1824 w 182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24" h="552">
                <a:moveTo>
                  <a:pt x="0" y="144"/>
                </a:moveTo>
                <a:cubicBezTo>
                  <a:pt x="328" y="348"/>
                  <a:pt x="656" y="552"/>
                  <a:pt x="960" y="528"/>
                </a:cubicBezTo>
                <a:cubicBezTo>
                  <a:pt x="1264" y="504"/>
                  <a:pt x="1544" y="252"/>
                  <a:pt x="1824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96" name="Freeform 65"/>
          <p:cNvSpPr>
            <a:spLocks/>
          </p:cNvSpPr>
          <p:nvPr/>
        </p:nvSpPr>
        <p:spPr bwMode="auto">
          <a:xfrm>
            <a:off x="2286000" y="1943100"/>
            <a:ext cx="5448300" cy="2179638"/>
          </a:xfrm>
          <a:custGeom>
            <a:avLst/>
            <a:gdLst>
              <a:gd name="T0" fmla="*/ 0 w 3432"/>
              <a:gd name="T1" fmla="*/ 2147483647 h 1373"/>
              <a:gd name="T2" fmla="*/ 2147483647 w 3432"/>
              <a:gd name="T3" fmla="*/ 2147483647 h 1373"/>
              <a:gd name="T4" fmla="*/ 2147483647 w 3432"/>
              <a:gd name="T5" fmla="*/ 0 h 1373"/>
              <a:gd name="T6" fmla="*/ 0 60000 65536"/>
              <a:gd name="T7" fmla="*/ 0 60000 65536"/>
              <a:gd name="T8" fmla="*/ 0 60000 65536"/>
              <a:gd name="T9" fmla="*/ 0 w 3432"/>
              <a:gd name="T10" fmla="*/ 0 h 1373"/>
              <a:gd name="T11" fmla="*/ 3432 w 3432"/>
              <a:gd name="T12" fmla="*/ 1373 h 13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2" h="1373">
                <a:moveTo>
                  <a:pt x="0" y="272"/>
                </a:moveTo>
                <a:cubicBezTo>
                  <a:pt x="448" y="448"/>
                  <a:pt x="2116" y="1373"/>
                  <a:pt x="2688" y="1328"/>
                </a:cubicBezTo>
                <a:cubicBezTo>
                  <a:pt x="3260" y="1283"/>
                  <a:pt x="3308" y="221"/>
                  <a:pt x="3432" y="0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97" name="Freeform 66"/>
          <p:cNvSpPr>
            <a:spLocks/>
          </p:cNvSpPr>
          <p:nvPr/>
        </p:nvSpPr>
        <p:spPr bwMode="auto">
          <a:xfrm>
            <a:off x="1765300" y="4127500"/>
            <a:ext cx="5842000" cy="2387600"/>
          </a:xfrm>
          <a:custGeom>
            <a:avLst/>
            <a:gdLst>
              <a:gd name="T0" fmla="*/ 0 w 3680"/>
              <a:gd name="T1" fmla="*/ 0 h 1504"/>
              <a:gd name="T2" fmla="*/ 2147483647 w 3680"/>
              <a:gd name="T3" fmla="*/ 2147483647 h 1504"/>
              <a:gd name="T4" fmla="*/ 2147483647 w 3680"/>
              <a:gd name="T5" fmla="*/ 2147483647 h 1504"/>
              <a:gd name="T6" fmla="*/ 0 60000 65536"/>
              <a:gd name="T7" fmla="*/ 0 60000 65536"/>
              <a:gd name="T8" fmla="*/ 0 60000 65536"/>
              <a:gd name="T9" fmla="*/ 0 w 3680"/>
              <a:gd name="T10" fmla="*/ 0 h 1504"/>
              <a:gd name="T11" fmla="*/ 3680 w 3680"/>
              <a:gd name="T12" fmla="*/ 1504 h 1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80" h="1504">
                <a:moveTo>
                  <a:pt x="0" y="0"/>
                </a:moveTo>
                <a:cubicBezTo>
                  <a:pt x="440" y="59"/>
                  <a:pt x="2027" y="101"/>
                  <a:pt x="2640" y="352"/>
                </a:cubicBezTo>
                <a:cubicBezTo>
                  <a:pt x="3253" y="603"/>
                  <a:pt x="3463" y="1264"/>
                  <a:pt x="3680" y="1504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98" name="Freeform 67"/>
          <p:cNvSpPr>
            <a:spLocks/>
          </p:cNvSpPr>
          <p:nvPr/>
        </p:nvSpPr>
        <p:spPr bwMode="auto">
          <a:xfrm>
            <a:off x="2755900" y="5684838"/>
            <a:ext cx="2641600" cy="1046162"/>
          </a:xfrm>
          <a:custGeom>
            <a:avLst/>
            <a:gdLst>
              <a:gd name="T0" fmla="*/ 0 w 1664"/>
              <a:gd name="T1" fmla="*/ 2147483647 h 659"/>
              <a:gd name="T2" fmla="*/ 2147483647 w 1664"/>
              <a:gd name="T3" fmla="*/ 2147483647 h 659"/>
              <a:gd name="T4" fmla="*/ 2147483647 w 1664"/>
              <a:gd name="T5" fmla="*/ 2147483647 h 659"/>
              <a:gd name="T6" fmla="*/ 0 60000 65536"/>
              <a:gd name="T7" fmla="*/ 0 60000 65536"/>
              <a:gd name="T8" fmla="*/ 0 60000 65536"/>
              <a:gd name="T9" fmla="*/ 0 w 1664"/>
              <a:gd name="T10" fmla="*/ 0 h 659"/>
              <a:gd name="T11" fmla="*/ 1664 w 1664"/>
              <a:gd name="T12" fmla="*/ 659 h 6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4" h="659">
                <a:moveTo>
                  <a:pt x="0" y="203"/>
                </a:moveTo>
                <a:cubicBezTo>
                  <a:pt x="175" y="182"/>
                  <a:pt x="779" y="0"/>
                  <a:pt x="1056" y="76"/>
                </a:cubicBezTo>
                <a:cubicBezTo>
                  <a:pt x="1333" y="152"/>
                  <a:pt x="1537" y="538"/>
                  <a:pt x="1664" y="659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099" name="Freeform 68"/>
          <p:cNvSpPr>
            <a:spLocks/>
          </p:cNvSpPr>
          <p:nvPr/>
        </p:nvSpPr>
        <p:spPr bwMode="auto">
          <a:xfrm>
            <a:off x="3556000" y="6375400"/>
            <a:ext cx="1384300" cy="368300"/>
          </a:xfrm>
          <a:custGeom>
            <a:avLst/>
            <a:gdLst>
              <a:gd name="T0" fmla="*/ 0 w 872"/>
              <a:gd name="T1" fmla="*/ 0 h 232"/>
              <a:gd name="T2" fmla="*/ 2147483647 w 872"/>
              <a:gd name="T3" fmla="*/ 2147483647 h 232"/>
              <a:gd name="T4" fmla="*/ 0 60000 65536"/>
              <a:gd name="T5" fmla="*/ 0 60000 65536"/>
              <a:gd name="T6" fmla="*/ 0 w 872"/>
              <a:gd name="T7" fmla="*/ 0 h 232"/>
              <a:gd name="T8" fmla="*/ 872 w 872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72" h="232">
                <a:moveTo>
                  <a:pt x="0" y="0"/>
                </a:moveTo>
                <a:cubicBezTo>
                  <a:pt x="147" y="39"/>
                  <a:pt x="690" y="184"/>
                  <a:pt x="872" y="232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72485" name="Freeform 69"/>
          <p:cNvSpPr>
            <a:spLocks/>
          </p:cNvSpPr>
          <p:nvPr/>
        </p:nvSpPr>
        <p:spPr bwMode="auto">
          <a:xfrm>
            <a:off x="3733800" y="6616700"/>
            <a:ext cx="838200" cy="203200"/>
          </a:xfrm>
          <a:custGeom>
            <a:avLst/>
            <a:gdLst>
              <a:gd name="T0" fmla="*/ 0 w 528"/>
              <a:gd name="T1" fmla="*/ 0 h 128"/>
              <a:gd name="T2" fmla="*/ 2147483647 w 528"/>
              <a:gd name="T3" fmla="*/ 2147483647 h 128"/>
              <a:gd name="T4" fmla="*/ 0 60000 65536"/>
              <a:gd name="T5" fmla="*/ 0 60000 65536"/>
              <a:gd name="T6" fmla="*/ 0 w 528"/>
              <a:gd name="T7" fmla="*/ 0 h 128"/>
              <a:gd name="T8" fmla="*/ 528 w 528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8" h="128">
                <a:moveTo>
                  <a:pt x="0" y="0"/>
                </a:moveTo>
                <a:cubicBezTo>
                  <a:pt x="88" y="21"/>
                  <a:pt x="418" y="101"/>
                  <a:pt x="528" y="128"/>
                </a:cubicBezTo>
              </a:path>
            </a:pathLst>
          </a:custGeom>
          <a:noFill/>
          <a:ln w="38100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101" name="Text Box 70"/>
          <p:cNvSpPr txBox="1">
            <a:spLocks noChangeArrowheads="1"/>
          </p:cNvSpPr>
          <p:nvPr/>
        </p:nvSpPr>
        <p:spPr bwMode="auto">
          <a:xfrm>
            <a:off x="5546726" y="804864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=0</a:t>
            </a:r>
          </a:p>
        </p:txBody>
      </p:sp>
      <p:sp>
        <p:nvSpPr>
          <p:cNvPr id="44102" name="Text Box 71"/>
          <p:cNvSpPr txBox="1">
            <a:spLocks noChangeArrowheads="1"/>
          </p:cNvSpPr>
          <p:nvPr/>
        </p:nvSpPr>
        <p:spPr bwMode="auto">
          <a:xfrm>
            <a:off x="7010401" y="11430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=1</a:t>
            </a:r>
          </a:p>
        </p:txBody>
      </p:sp>
      <p:sp>
        <p:nvSpPr>
          <p:cNvPr id="44103" name="Text Box 72"/>
          <p:cNvSpPr txBox="1">
            <a:spLocks noChangeArrowheads="1"/>
          </p:cNvSpPr>
          <p:nvPr/>
        </p:nvSpPr>
        <p:spPr bwMode="auto">
          <a:xfrm>
            <a:off x="8212138" y="42513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=2</a:t>
            </a:r>
          </a:p>
        </p:txBody>
      </p:sp>
      <p:sp>
        <p:nvSpPr>
          <p:cNvPr id="44104" name="Text Box 73"/>
          <p:cNvSpPr txBox="1">
            <a:spLocks noChangeArrowheads="1"/>
          </p:cNvSpPr>
          <p:nvPr/>
        </p:nvSpPr>
        <p:spPr bwMode="auto">
          <a:xfrm>
            <a:off x="6553201" y="60039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=3</a:t>
            </a:r>
          </a:p>
        </p:txBody>
      </p:sp>
      <p:sp>
        <p:nvSpPr>
          <p:cNvPr id="44105" name="Text Box 74"/>
          <p:cNvSpPr txBox="1">
            <a:spLocks noChangeArrowheads="1"/>
          </p:cNvSpPr>
          <p:nvPr/>
        </p:nvSpPr>
        <p:spPr bwMode="auto">
          <a:xfrm>
            <a:off x="4402138" y="6232526"/>
            <a:ext cx="7794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44106" name="Line 76"/>
          <p:cNvSpPr>
            <a:spLocks noChangeShapeType="1"/>
          </p:cNvSpPr>
          <p:nvPr/>
        </p:nvSpPr>
        <p:spPr bwMode="auto">
          <a:xfrm>
            <a:off x="8763000" y="2514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107" name="Line 77"/>
          <p:cNvSpPr>
            <a:spLocks noChangeShapeType="1"/>
          </p:cNvSpPr>
          <p:nvPr/>
        </p:nvSpPr>
        <p:spPr bwMode="auto">
          <a:xfrm>
            <a:off x="8763000" y="2133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4108" name="Text Box 78"/>
          <p:cNvSpPr txBox="1">
            <a:spLocks noChangeArrowheads="1"/>
          </p:cNvSpPr>
          <p:nvPr/>
        </p:nvSpPr>
        <p:spPr bwMode="auto">
          <a:xfrm>
            <a:off x="9461501" y="1981201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=4</a:t>
            </a:r>
          </a:p>
        </p:txBody>
      </p:sp>
      <p:sp>
        <p:nvSpPr>
          <p:cNvPr id="44109" name="Text Box 79"/>
          <p:cNvSpPr txBox="1">
            <a:spLocks noChangeArrowheads="1"/>
          </p:cNvSpPr>
          <p:nvPr/>
        </p:nvSpPr>
        <p:spPr bwMode="auto">
          <a:xfrm>
            <a:off x="9461501" y="2498726"/>
            <a:ext cx="7794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3000" kern="1200">
                <a:solidFill>
                  <a:srgbClr val="33CC33"/>
                </a:solidFill>
                <a:ea typeface="+mn-ea"/>
                <a:cs typeface="+mn-cs"/>
              </a:rPr>
              <a:t>=5</a:t>
            </a:r>
          </a:p>
        </p:txBody>
      </p:sp>
      <p:sp>
        <p:nvSpPr>
          <p:cNvPr id="572496" name="Line 80"/>
          <p:cNvSpPr>
            <a:spLocks noChangeShapeType="1"/>
          </p:cNvSpPr>
          <p:nvPr/>
        </p:nvSpPr>
        <p:spPr bwMode="auto">
          <a:xfrm>
            <a:off x="8763000" y="30480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2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2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2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2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85" grpId="0" animBg="1"/>
      <p:bldP spid="57249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 descr="captur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4" y="46039"/>
            <a:ext cx="7737475" cy="676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F78AF83-E36F-F2CD-0D07-DBE44520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F9DE1942-8FB3-7B0D-EDE4-3E6352D97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DFS vs. BFS Comparison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385A4BF4-925A-D07A-5516-032C7FB7A0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0300" y="4171546"/>
            <a:ext cx="11231400" cy="245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The Rule of Thumb for Contests: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a problem asks for the shortest distance or minimum moves on an unweighted graph, you must use BFS.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you just need to know if two nodes are connected, count connected components, or detect cycles, DFS is typically faster and cleaner to type out.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CC415A0-BE8A-5017-46CE-2ABF7A098B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6122650"/>
                  </p:ext>
                </p:extLst>
              </p:nvPr>
            </p:nvGraphicFramePr>
            <p:xfrm>
              <a:off x="3402747" y="965998"/>
              <a:ext cx="5386506" cy="31300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95502">
                      <a:extLst>
                        <a:ext uri="{9D8B030D-6E8A-4147-A177-3AD203B41FA5}">
                          <a16:colId xmlns:a16="http://schemas.microsoft.com/office/drawing/2014/main" val="1323363555"/>
                        </a:ext>
                      </a:extLst>
                    </a:gridCol>
                    <a:gridCol w="1795502">
                      <a:extLst>
                        <a:ext uri="{9D8B030D-6E8A-4147-A177-3AD203B41FA5}">
                          <a16:colId xmlns:a16="http://schemas.microsoft.com/office/drawing/2014/main" val="407508140"/>
                        </a:ext>
                      </a:extLst>
                    </a:gridCol>
                    <a:gridCol w="1795502">
                      <a:extLst>
                        <a:ext uri="{9D8B030D-6E8A-4147-A177-3AD203B41FA5}">
                          <a16:colId xmlns:a16="http://schemas.microsoft.com/office/drawing/2014/main" val="3637473858"/>
                        </a:ext>
                      </a:extLst>
                    </a:gridCol>
                  </a:tblGrid>
                  <a:tr h="235048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Feature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Depth First Search (DFS)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Breadth First Search (BFS)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460381411"/>
                      </a:ext>
                    </a:extLst>
                  </a:tr>
                  <a:tr h="379692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Data Structure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Stack (usually implicit via Recursion)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Queue (FIFO)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704419783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Exploration Strategy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 dirty="0">
                              <a:effectLst/>
                            </a:rPr>
                            <a:t>Dives deep into one path until a dead end, then backtracks.</a:t>
                          </a:r>
                          <a:endParaRPr lang="en-CA" sz="9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Explores layer-by-layer, expanding evenly in all directions.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785403840"/>
                      </a:ext>
                    </a:extLst>
                  </a:tr>
                  <a:tr h="36964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Time Complexity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1100"/>
                                  <m:t>𝑂</m:t>
                                </m:r>
                                <m:d>
                                  <m:dPr>
                                    <m:ctrlPr>
                                      <a:rPr lang="en-CA" sz="1100"/>
                                    </m:ctrlPr>
                                  </m:dPr>
                                  <m:e>
                                    <m:r>
                                      <a:rPr lang="en-CA" sz="1100"/>
                                      <m:t>𝑉</m:t>
                                    </m:r>
                                    <m:r>
                                      <a:rPr lang="en-CA" sz="1100"/>
                                      <m:t>+</m:t>
                                    </m:r>
                                    <m:r>
                                      <a:rPr lang="en-CA" sz="1100"/>
                                      <m:t>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1100"/>
                                  <m:t>𝑂</m:t>
                                </m:r>
                                <m:d>
                                  <m:dPr>
                                    <m:ctrlPr>
                                      <a:rPr lang="en-CA" sz="1100"/>
                                    </m:ctrlPr>
                                  </m:dPr>
                                  <m:e>
                                    <m:r>
                                      <a:rPr lang="en-CA" sz="1100"/>
                                      <m:t>𝑉</m:t>
                                    </m:r>
                                    <m:r>
                                      <a:rPr lang="en-CA" sz="1100"/>
                                      <m:t>+</m:t>
                                    </m:r>
                                    <m:r>
                                      <a:rPr lang="en-CA" sz="1100"/>
                                      <m:t>𝐸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933650524"/>
                      </a:ext>
                    </a:extLst>
                  </a:tr>
                  <a:tr h="54457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Memory (Space)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1100"/>
                                <m:t>𝑂</m:t>
                              </m:r>
                              <m:d>
                                <m:dPr>
                                  <m:ctrlPr>
                                    <a:rPr lang="en-CA" sz="1100"/>
                                  </m:ctrlPr>
                                </m:dPr>
                                <m:e>
                                  <m:r>
                                    <a:rPr lang="en-CA" sz="1100"/>
                                    <m:t>𝑉</m:t>
                                  </m:r>
                                </m:e>
                              </m:d>
                            </m:oMath>
                          </a14:m>
                          <a:r>
                            <a:rPr lang="en-CA" sz="900">
                              <a:effectLst/>
                            </a:rPr>
                            <a:t> for the call stack. (Can cause Stack Overflow on extremely deep graphs).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A" sz="1100"/>
                                <m:t>𝑂</m:t>
                              </m:r>
                              <m:d>
                                <m:dPr>
                                  <m:ctrlPr>
                                    <a:rPr lang="en-CA" sz="1100"/>
                                  </m:ctrlPr>
                                </m:dPr>
                                <m:e>
                                  <m:r>
                                    <a:rPr lang="en-CA" sz="1100"/>
                                    <m:t>𝑉</m:t>
                                  </m:r>
                                </m:e>
                              </m:d>
                            </m:oMath>
                          </a14:m>
                          <a:r>
                            <a:rPr lang="en-CA" sz="900">
                              <a:effectLst/>
                            </a:rPr>
                            <a:t> for the queue. (Can use heavy memory on extremely wide graphs/grids).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1111155343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Shortest Path?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No. It just finds a path, not necessarily the best one.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Yes. Guaranteed to find the absolute shortest path on unweighted graphs.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968464600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Best CP Use Cases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Topological sorting, Cycle detection, Graph connectivity, Backtracking.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 dirty="0">
                              <a:effectLst/>
                            </a:rPr>
                            <a:t>Unweighted shortest paths (mazes, implicit grids), Multi-source shortest path.</a:t>
                          </a:r>
                          <a:endParaRPr lang="en-CA" sz="9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58030475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CC415A0-BE8A-5017-46CE-2ABF7A098B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6122650"/>
                  </p:ext>
                </p:extLst>
              </p:nvPr>
            </p:nvGraphicFramePr>
            <p:xfrm>
              <a:off x="3402747" y="965998"/>
              <a:ext cx="5386506" cy="313007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95502">
                      <a:extLst>
                        <a:ext uri="{9D8B030D-6E8A-4147-A177-3AD203B41FA5}">
                          <a16:colId xmlns:a16="http://schemas.microsoft.com/office/drawing/2014/main" val="1323363555"/>
                        </a:ext>
                      </a:extLst>
                    </a:gridCol>
                    <a:gridCol w="1795502">
                      <a:extLst>
                        <a:ext uri="{9D8B030D-6E8A-4147-A177-3AD203B41FA5}">
                          <a16:colId xmlns:a16="http://schemas.microsoft.com/office/drawing/2014/main" val="407508140"/>
                        </a:ext>
                      </a:extLst>
                    </a:gridCol>
                    <a:gridCol w="1795502">
                      <a:extLst>
                        <a:ext uri="{9D8B030D-6E8A-4147-A177-3AD203B41FA5}">
                          <a16:colId xmlns:a16="http://schemas.microsoft.com/office/drawing/2014/main" val="3637473858"/>
                        </a:ext>
                      </a:extLst>
                    </a:gridCol>
                  </a:tblGrid>
                  <a:tr h="235048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Feature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Depth First Search (DFS)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Breadth First Search (BFS)</a:t>
                          </a:r>
                          <a:endParaRPr lang="en-CA" sz="9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460381411"/>
                      </a:ext>
                    </a:extLst>
                  </a:tr>
                  <a:tr h="379692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Data Structure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Stack (usually implicit via Recursion)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Queue (FIFO)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704419783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Exploration Strategy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 dirty="0">
                              <a:effectLst/>
                            </a:rPr>
                            <a:t>Dives deep into one path until a dead end, then backtracks.</a:t>
                          </a:r>
                          <a:endParaRPr lang="en-CA" sz="9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Explores layer-by-layer, expanding evenly in all directions.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785403840"/>
                      </a:ext>
                    </a:extLst>
                  </a:tr>
                  <a:tr h="397742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Time Complexity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936" marR="97936" marT="45201" marB="45201" anchor="ctr">
                        <a:blipFill>
                          <a:blip r:embed="rId3"/>
                          <a:stretch>
                            <a:fillRect l="-100000" t="-293548" r="-100704" b="-4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936" marR="97936" marT="45201" marB="45201" anchor="ctr">
                        <a:blipFill>
                          <a:blip r:embed="rId3"/>
                          <a:stretch>
                            <a:fillRect l="-200000" t="-293548" r="-704" b="-4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3650524"/>
                      </a:ext>
                    </a:extLst>
                  </a:tr>
                  <a:tr h="54457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Memory (Space)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936" marR="97936" marT="45201" marB="45201" anchor="ctr">
                        <a:blipFill>
                          <a:blip r:embed="rId3"/>
                          <a:stretch>
                            <a:fillRect l="-100000" t="-283721" r="-100704" b="-19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936" marR="97936" marT="45201" marB="45201" anchor="ctr">
                        <a:blipFill>
                          <a:blip r:embed="rId3"/>
                          <a:stretch>
                            <a:fillRect l="-200000" t="-283721" r="-704" b="-1953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1155343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Shortest Path?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No. It just finds a path, not necessarily the best one.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Yes. Guaranteed to find the absolute shortest path on unweighted graphs.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968464600"/>
                      </a:ext>
                    </a:extLst>
                  </a:tr>
                  <a:tr h="524337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Best CP Use Cases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>
                              <a:effectLst/>
                            </a:rPr>
                            <a:t>Topological sorting, Cycle detection, Graph connectivity, Backtracking.</a:t>
                          </a:r>
                          <a:endParaRPr lang="en-CA" sz="9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900" dirty="0">
                              <a:effectLst/>
                            </a:rPr>
                            <a:t>Unweighted shortest paths (mazes, implicit grids), Multi-source shortest path.</a:t>
                          </a:r>
                          <a:endParaRPr lang="en-CA" sz="9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97936" marR="97936" marT="45201" marB="45201" anchor="ctr"/>
                    </a:tc>
                    <a:extLst>
                      <a:ext uri="{0D108BD9-81ED-4DB2-BD59-A6C34878D82A}">
                        <a16:rowId xmlns:a16="http://schemas.microsoft.com/office/drawing/2014/main" val="358030475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023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745F2F9-D3F8-59C3-E12F-89B86CD9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11A3B052-5E5A-3A80-B836-A13B10F79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4.2.5 Flood Fill</a:t>
            </a:r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9BAD61FD-B16F-78E0-F176-184C1B8FC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53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Concept: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Performing DFS or BFS on a 2D grid (like a maze or map) where the grid itself is the graph.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Trick: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Do not waste time/memory building a massive Adjacency List! The neighbors of cell left, right, top, bottom are mathematically predictable.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Direction Vectors: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 arrays and coordinates to cleanly loop through valid moves.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Always check boundary conditions (r &lt; 0, r &gt;= R, c &lt; 0, c &gt;= C) before moving to avoid indexing errors</a:t>
            </a:r>
            <a:br>
              <a:rPr lang="en-US" sz="2000" dirty="0"/>
            </a:b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21031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36faffe8e_0_1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Case Study – Lost Map</a:t>
            </a:r>
            <a:endParaRPr dirty="0"/>
          </a:p>
        </p:txBody>
      </p:sp>
      <p:sp>
        <p:nvSpPr>
          <p:cNvPr id="185" name="Google Shape;185;g3836faffe8e_0_1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US" sz="2000" dirty="0"/>
              <a:t>Let’s read the problem on Kattis: </a:t>
            </a:r>
            <a:r>
              <a:rPr lang="en-US" sz="2000" u="sng" dirty="0">
                <a:solidFill>
                  <a:schemeClr val="hlink"/>
                </a:solidFill>
              </a:rPr>
              <a:t>https://</a:t>
            </a:r>
            <a:r>
              <a:rPr lang="en-US" sz="2000" u="sng" dirty="0" err="1">
                <a:solidFill>
                  <a:schemeClr val="hlink"/>
                </a:solidFill>
              </a:rPr>
              <a:t>open.kattis.com</a:t>
            </a:r>
            <a:r>
              <a:rPr lang="en-US" sz="2000" u="sng" dirty="0">
                <a:solidFill>
                  <a:schemeClr val="hlink"/>
                </a:solidFill>
              </a:rPr>
              <a:t>/problems/</a:t>
            </a:r>
            <a:r>
              <a:rPr lang="en-US" sz="2000" u="sng" dirty="0" err="1">
                <a:solidFill>
                  <a:schemeClr val="hlink"/>
                </a:solidFill>
              </a:rPr>
              <a:t>lostmap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What have we understood?</a:t>
            </a:r>
            <a:endParaRPr sz="2000" dirty="0"/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We are given N villages and a matrix containing the distance between every pair of villages.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We need to output the roads that should be used to reconstruct the map.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The roads must connect every village together while minimizing the total distance.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This is an undirected weighted graph; the distance between village </a:t>
            </a:r>
            <a:r>
              <a:rPr lang="en-US" sz="2000" dirty="0" err="1"/>
              <a:t>i</a:t>
            </a:r>
            <a:r>
              <a:rPr lang="en-US" sz="2000" dirty="0"/>
              <a:t> and j is the edge weight.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2000" dirty="0"/>
              <a:t>Because every pair of villages has a given distance, the input represents a complete graph.</a:t>
            </a: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We have 1GB of memory and 8 seconds (800 Million Operations)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Somehow we need to create a tree that minimally connects each vertex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A Minimum Spanning Tree! 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36faffe8e_0_34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Minimum Spanning Tree (MST) - Overview</a:t>
            </a:r>
            <a:endParaRPr/>
          </a:p>
        </p:txBody>
      </p:sp>
      <p:sp>
        <p:nvSpPr>
          <p:cNvPr id="193" name="Google Shape;193;g3836faffe8e_0_34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23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Given a connected, undirected, and weighted graph G = (V, E)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Select a subset of edges E’ ⊆ E such that the graph G’ = (V, E’) is still connected and the total weight of the selected edges E’ is minimal.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I.E. Connect all vertices with the minimum cost of edge!</a:t>
            </a:r>
            <a:endParaRPr sz="2000" dirty="0"/>
          </a:p>
        </p:txBody>
      </p:sp>
      <p:pic>
        <p:nvPicPr>
          <p:cNvPr id="195" name="Google Shape;195;g3836faffe8e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575" y="3457350"/>
            <a:ext cx="6453423" cy="3400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36faffe8e_0_51"/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 dirty="0"/>
              <a:t>Minimum Spanning Tree (MST) - Kruskal’s Algorithm</a:t>
            </a:r>
            <a:endParaRPr dirty="0"/>
          </a:p>
        </p:txBody>
      </p:sp>
      <p:sp>
        <p:nvSpPr>
          <p:cNvPr id="202" name="Google Shape;202;g3836faffe8e_0_51"/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45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First sorts E edges based on non-decreasing weight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Done by sorting edges in an Edge List data structure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Kruskal then greedily tries to add each edge into the MST if such addition does not form a cycle (checked by using Union-Find Disjoint Set)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Greedily means that it tries to make the best choice given the current situation (in this case, the smallest edge)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O(E log V) runtime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See textbook for breakdown on how this was calculated</a:t>
            </a:r>
            <a:endParaRPr sz="2000" dirty="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dirty="0"/>
              <a:t>Textbook implementation:</a:t>
            </a:r>
            <a:endParaRPr sz="2000" dirty="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 dirty="0">
                <a:solidFill>
                  <a:schemeClr val="hlink"/>
                </a:solidFill>
                <a:hlinkClick r:id="rId3"/>
              </a:rPr>
              <a:t>https://github.com/stevenhalim/cpbook-code/tree/master/ch4/mst</a:t>
            </a:r>
            <a:r>
              <a:rPr lang="en-US" sz="2000" dirty="0"/>
              <a:t> 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6F9C5D4-08F4-77E3-2136-FDF08B20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E85215E6-2F7E-B463-3E94-492F656F9E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Minimum Spanning Tree: Kruskal's vs. Prim's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DC13CAA2-88B3-4090-28B0-FB9B07F003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112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55600">
              <a:spcBef>
                <a:spcPts val="0"/>
              </a:spcBef>
              <a:buSzPts val="2000"/>
            </a:pPr>
            <a:r>
              <a:rPr lang="en-CA" sz="2000" dirty="0"/>
              <a:t>Both are Greedy algorithms that successfully find the Minimum Spanning Tree (MST) of a weighted, undirected graph</a:t>
            </a:r>
          </a:p>
          <a:p>
            <a:pPr lvl="0" indent="-355600">
              <a:spcBef>
                <a:spcPts val="0"/>
              </a:spcBef>
              <a:buSzPts val="2000"/>
            </a:pPr>
            <a:r>
              <a:rPr lang="en-CA" sz="2000" dirty="0"/>
              <a:t>I suggest to look at the textbook for Prim’s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D21AE77-FE32-F35E-2252-BE86170B5B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569054"/>
                  </p:ext>
                </p:extLst>
              </p:nvPr>
            </p:nvGraphicFramePr>
            <p:xfrm>
              <a:off x="3104212" y="2388667"/>
              <a:ext cx="5983575" cy="337250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4525">
                      <a:extLst>
                        <a:ext uri="{9D8B030D-6E8A-4147-A177-3AD203B41FA5}">
                          <a16:colId xmlns:a16="http://schemas.microsoft.com/office/drawing/2014/main" val="1640598820"/>
                        </a:ext>
                      </a:extLst>
                    </a:gridCol>
                    <a:gridCol w="1994525">
                      <a:extLst>
                        <a:ext uri="{9D8B030D-6E8A-4147-A177-3AD203B41FA5}">
                          <a16:colId xmlns:a16="http://schemas.microsoft.com/office/drawing/2014/main" val="2245142983"/>
                        </a:ext>
                      </a:extLst>
                    </a:gridCol>
                    <a:gridCol w="1994525">
                      <a:extLst>
                        <a:ext uri="{9D8B030D-6E8A-4147-A177-3AD203B41FA5}">
                          <a16:colId xmlns:a16="http://schemas.microsoft.com/office/drawing/2014/main" val="3761742912"/>
                        </a:ext>
                      </a:extLst>
                    </a:gridCol>
                  </a:tblGrid>
                  <a:tr h="261101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Feature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Kruskal's Algorithm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Prim's Algorithm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918362891"/>
                      </a:ext>
                    </a:extLst>
                  </a:tr>
                  <a:tr h="421779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Focus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Builds the tree by looking at Edges.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Builds the tree by looking at Vertices.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664658924"/>
                      </a:ext>
                    </a:extLst>
                  </a:tr>
                  <a:tr h="421779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Data Structure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Disjoint Set Union (DSU) / Union-Find.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Priority Queue (Min-Heap).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650991542"/>
                      </a:ext>
                    </a:extLst>
                  </a:tr>
                  <a:tr h="743135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Process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Sorts all edges globally by weight. Picks the smallest edge if it doesn't create a cycle.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Starts at an arbitrary node. Always picks the smallest edge connecting the growing tree to a new, unvisited node.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3774092105"/>
                      </a:ext>
                    </a:extLst>
                  </a:tr>
                  <a:tr h="410621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Time Complexity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1200"/>
                                  <m:t>𝑂</m:t>
                                </m:r>
                                <m:d>
                                  <m:dPr>
                                    <m:ctrlPr>
                                      <a:rPr lang="en-CA" sz="1200"/>
                                    </m:ctrlPr>
                                  </m:dPr>
                                  <m:e>
                                    <m:r>
                                      <a:rPr lang="en-CA" sz="1200"/>
                                      <m:t>𝐸</m:t>
                                    </m:r>
                                    <m:func>
                                      <m:funcPr>
                                        <m:ctrlPr>
                                          <a:rPr lang="en-CA" sz="1200"/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CA" sz="1200"/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CA" sz="1200"/>
                                          <m:t>𝐸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CA" sz="1200"/>
                                  <m:t>𝑂</m:t>
                                </m:r>
                                <m:d>
                                  <m:dPr>
                                    <m:ctrlPr>
                                      <a:rPr lang="en-CA" sz="1200"/>
                                    </m:ctrlPr>
                                  </m:dPr>
                                  <m:e>
                                    <m:r>
                                      <a:rPr lang="en-CA" sz="1200"/>
                                      <m:t>𝐸</m:t>
                                    </m:r>
                                    <m:func>
                                      <m:funcPr>
                                        <m:ctrlPr>
                                          <a:rPr lang="en-CA" sz="1200"/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CA" sz="1200"/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CA" sz="1200"/>
                                          <m:t>𝑉</m:t>
                                        </m:r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260147459"/>
                      </a:ext>
                    </a:extLst>
                  </a:tr>
                  <a:tr h="421779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Best Graph Type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Sparse Graphs (fewer edges).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Dense Graphs (many edges).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179511656"/>
                      </a:ext>
                    </a:extLst>
                  </a:tr>
                  <a:tr h="421779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Input Format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Ideal when the input is an unsorted list of edges.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 dirty="0">
                              <a:effectLst/>
                            </a:rPr>
                            <a:t>Ideal when the input is an adjacency list or matrix.</a:t>
                          </a:r>
                          <a:endParaRPr lang="en-CA" sz="11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28215604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D21AE77-FE32-F35E-2252-BE86170B5B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1569054"/>
                  </p:ext>
                </p:extLst>
              </p:nvPr>
            </p:nvGraphicFramePr>
            <p:xfrm>
              <a:off x="3104212" y="2388667"/>
              <a:ext cx="5983575" cy="337250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994525">
                      <a:extLst>
                        <a:ext uri="{9D8B030D-6E8A-4147-A177-3AD203B41FA5}">
                          <a16:colId xmlns:a16="http://schemas.microsoft.com/office/drawing/2014/main" val="1640598820"/>
                        </a:ext>
                      </a:extLst>
                    </a:gridCol>
                    <a:gridCol w="1994525">
                      <a:extLst>
                        <a:ext uri="{9D8B030D-6E8A-4147-A177-3AD203B41FA5}">
                          <a16:colId xmlns:a16="http://schemas.microsoft.com/office/drawing/2014/main" val="2245142983"/>
                        </a:ext>
                      </a:extLst>
                    </a:gridCol>
                    <a:gridCol w="1994525">
                      <a:extLst>
                        <a:ext uri="{9D8B030D-6E8A-4147-A177-3AD203B41FA5}">
                          <a16:colId xmlns:a16="http://schemas.microsoft.com/office/drawing/2014/main" val="3761742912"/>
                        </a:ext>
                      </a:extLst>
                    </a:gridCol>
                  </a:tblGrid>
                  <a:tr h="26806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Feature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Kruskal's Algorithm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Prim's Algorithm</a:t>
                          </a:r>
                          <a:endParaRPr lang="en-CA" sz="1100" b="1" i="0">
                            <a:solidFill>
                              <a:srgbClr val="000000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918362891"/>
                      </a:ext>
                    </a:extLst>
                  </a:tr>
                  <a:tr h="43570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Focus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Builds the tree by looking at Edges.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Builds the tree by looking at Vertices.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664658924"/>
                      </a:ext>
                    </a:extLst>
                  </a:tr>
                  <a:tr h="43570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Data Structure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Disjoint Set Union (DSU) / Union-Find.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Priority Queue (Min-Heap).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650991542"/>
                      </a:ext>
                    </a:extLst>
                  </a:tr>
                  <a:tr h="93862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Process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Sorts all edges globally by weight. Picks the smallest edge if it doesn't create a cycle.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Starts at an arbitrary node. Always picks the smallest edge connecting the growing tree to a new, unvisited node.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3774092105"/>
                      </a:ext>
                    </a:extLst>
                  </a:tr>
                  <a:tr h="42300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Time Complexity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8792" marR="108792" marT="50212" marB="50212" anchor="ctr">
                        <a:blipFill>
                          <a:blip r:embed="rId3"/>
                          <a:stretch>
                            <a:fillRect l="-100000" t="-500000" r="-100000" b="-2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8792" marR="108792" marT="50212" marB="50212" anchor="ctr">
                        <a:blipFill>
                          <a:blip r:embed="rId3"/>
                          <a:stretch>
                            <a:fillRect l="-201274" t="-500000" r="-637" b="-2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147459"/>
                      </a:ext>
                    </a:extLst>
                  </a:tr>
                  <a:tr h="43570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Best Graph Type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Sparse Graphs (fewer edges).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Dense Graphs (many edges).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179511656"/>
                      </a:ext>
                    </a:extLst>
                  </a:tr>
                  <a:tr h="435704"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Input Format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>
                              <a:effectLst/>
                            </a:rPr>
                            <a:t>Ideal when the input is an unsorted list of edges.</a:t>
                          </a:r>
                          <a:endParaRPr lang="en-CA" sz="1100" b="0" i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spcBef>
                              <a:spcPts val="750"/>
                            </a:spcBef>
                            <a:spcAft>
                              <a:spcPts val="1125"/>
                            </a:spcAft>
                            <a:buNone/>
                          </a:pPr>
                          <a:r>
                            <a:rPr lang="en-CA" sz="1100" dirty="0">
                              <a:effectLst/>
                            </a:rPr>
                            <a:t>Ideal when the input is an adjacency list or matrix.</a:t>
                          </a:r>
                          <a:endParaRPr lang="en-CA" sz="1100" b="0" i="0" dirty="0">
                            <a:solidFill>
                              <a:srgbClr val="333333"/>
                            </a:solidFill>
                            <a:effectLst/>
                            <a:latin typeface="Helvetica Neue" panose="02000503000000020004" pitchFamily="2" charset="0"/>
                          </a:endParaRPr>
                        </a:p>
                      </a:txBody>
                      <a:tcPr marL="108792" marR="108792" marT="50212" marB="50212" anchor="ctr"/>
                    </a:tc>
                    <a:extLst>
                      <a:ext uri="{0D108BD9-81ED-4DB2-BD59-A6C34878D82A}">
                        <a16:rowId xmlns:a16="http://schemas.microsoft.com/office/drawing/2014/main" val="28215604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1036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9D4E84E-BB53-D2E1-14BA-6E74968F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50167D24-D30B-93C8-D243-F587A9009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4.4.1 Single-Source Shortest Paths (Overview)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E3C5AB20-DE4F-1AF3-4D74-9513E59B3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50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Problem: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Given a specific starting node (the source), find the shortest path to all other nodes in the graph.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Unweighted Graphs: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 BFS! (Every edge has a weight of 1).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Weighted Graphs: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BFS fails because a path with 5 small edges might be "shorter" (lower total cost) than a path with 1 massive edge. We need smarter algorithms.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Concept of "Relaxation":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The core of all SSSP algorithms.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you find a new path to node v going through node u, check if: </a:t>
            </a:r>
            <a:r>
              <a:rPr lang="en-US" sz="1800" dirty="0" err="1"/>
              <a:t>dist</a:t>
            </a:r>
            <a:r>
              <a:rPr lang="en-US" sz="1800" dirty="0"/>
              <a:t>[u] + weight(u, v) &lt; </a:t>
            </a:r>
            <a:r>
              <a:rPr lang="en-US" sz="1800" dirty="0" err="1"/>
              <a:t>dist</a:t>
            </a:r>
            <a:r>
              <a:rPr lang="en-US" sz="1800" dirty="0"/>
              <a:t>[v].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If true, "relax" the edge by updating </a:t>
            </a:r>
            <a:r>
              <a:rPr lang="en-US" sz="1800" dirty="0" err="1"/>
              <a:t>dist</a:t>
            </a:r>
            <a:r>
              <a:rPr lang="en-US" sz="1800" dirty="0"/>
              <a:t>[v] to the new, better value.</a:t>
            </a:r>
          </a:p>
          <a:p>
            <a:pPr indent="-355600">
              <a:spcBef>
                <a:spcPts val="0"/>
              </a:spcBef>
              <a:buSzPts val="2000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50554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66C6C5E-CA1D-DFBB-4C0A-71BAFE49F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473EBF5F-0283-584A-34B5-40B637D3CA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4.4.3 Dijkstra's Algorithm</a:t>
            </a:r>
            <a:endParaRPr dirty="0"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AEAD3F15-3728-277C-B8DD-3E1F09CF9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4"/>
            <a:ext cx="11231400" cy="5201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Strategy: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Another Greedy algorithm! Always process the unvisited node with the currently smallest known distance from the source.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Mechanism: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Uses a Priority Queue (Min-Heap) instead of a standard Queue.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Push tuples of (</a:t>
            </a:r>
            <a:r>
              <a:rPr lang="en-US" sz="1800" dirty="0" err="1"/>
              <a:t>current_distance</a:t>
            </a:r>
            <a:r>
              <a:rPr lang="en-US" sz="1800" dirty="0"/>
              <a:t>, node) into the heap.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Pop the node with the smallest distance, relax all its edges, and push any improved distances back into the heap.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Time Complexity: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𝑂((𝑉+𝐸)  log⁡𝑉 ) using a binary heap.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Fatal Flaw: 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US" sz="1800" dirty="0"/>
              <a:t>Dijkstra's algorithm cannot handle negative weight edges. Once a node is popped from the priority queue, Dijkstra assumes its shortest path is finalized. Negative edges break this assumption. (If negative edges exist, you must use the slower Bellman-Ford algorithm, which is 𝑂(𝑉×𝐸)).</a:t>
            </a:r>
          </a:p>
          <a:p>
            <a:pPr indent="-355600">
              <a:spcBef>
                <a:spcPts val="0"/>
              </a:spcBef>
              <a:buSzPts val="2000"/>
            </a:pPr>
            <a:r>
              <a:rPr lang="en-US" sz="2000" dirty="0"/>
              <a:t>The following slides are from Jeff Edmonds </a:t>
            </a:r>
          </a:p>
          <a:p>
            <a:pPr lvl="1" indent="-355600">
              <a:spcBef>
                <a:spcPts val="0"/>
              </a:spcBef>
              <a:buSzPts val="2000"/>
            </a:pPr>
            <a:r>
              <a:rPr lang="en-CA" sz="1800" dirty="0">
                <a:hlinkClick r:id="rId3"/>
              </a:rPr>
              <a:t>https://www.eecs.yorku.ca/~jeff/courses/3101/</a:t>
            </a:r>
            <a:r>
              <a:rPr lang="en-CA" sz="1800" dirty="0"/>
              <a:t> 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786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Oval 3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55" name="Oval 4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56" name="Oval 6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57" name="Text Box 17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4758" name="Text Box 18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4759" name="Text Box 28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4760" name="Line 31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1" name="Line 33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2" name="Line 34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3" name="Line 35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4" name="Line 36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5" name="Line 39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6" name="Line 44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7" name="Line 45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68" name="Rectangle 6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4769" name="Oval 68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70" name="Text Box 69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4771" name="Oval 70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72" name="Text Box 71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4773" name="Oval 72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74" name="Text Box 73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4775" name="Oval 74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76" name="Text Box 75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4777" name="Oval 76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78" name="Text Box 77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4779" name="Oval 78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80" name="Text Box 79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4781" name="Oval 80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82" name="Text Box 81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4783" name="Line 82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84" name="Line 83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85" name="Line 85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86" name="Line 86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87" name="Oval 87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788" name="Text Box 88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4789" name="Line 89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90" name="Line 90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91" name="Line 91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92" name="Line 92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793" name="Text Box 93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4794" name="Text Box 94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4795" name="Text Box 95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4796" name="Text Box 96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4797" name="Text Box 97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4798" name="Text Box 98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4799" name="Text Box 100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4800" name="Text Box 101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4801" name="Text Box 102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4802" name="Text Box 103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4803" name="Text Box 104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4804" name="Text Box 105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4805" name="Text Box 106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4806" name="Line 107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807" name="Text Box 109"/>
          <p:cNvSpPr txBox="1">
            <a:spLocks noChangeArrowheads="1"/>
          </p:cNvSpPr>
          <p:nvPr/>
        </p:nvSpPr>
        <p:spPr bwMode="auto">
          <a:xfrm>
            <a:off x="2155826" y="19050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08" name="Text Box 110"/>
          <p:cNvSpPr txBox="1">
            <a:spLocks noChangeArrowheads="1"/>
          </p:cNvSpPr>
          <p:nvPr/>
        </p:nvSpPr>
        <p:spPr bwMode="auto">
          <a:xfrm>
            <a:off x="2613026" y="51054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09" name="Text Box 111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0" name="Text Box 112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1" name="Text Box 113"/>
          <p:cNvSpPr txBox="1">
            <a:spLocks noChangeArrowheads="1"/>
          </p:cNvSpPr>
          <p:nvPr/>
        </p:nvSpPr>
        <p:spPr bwMode="auto">
          <a:xfrm>
            <a:off x="6781801" y="53340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2" name="Text Box 114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3" name="Text Box 115"/>
          <p:cNvSpPr txBox="1">
            <a:spLocks noChangeArrowheads="1"/>
          </p:cNvSpPr>
          <p:nvPr/>
        </p:nvSpPr>
        <p:spPr bwMode="auto">
          <a:xfrm>
            <a:off x="7239001" y="16764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4" name="Text Box 116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4815" name="Text Box 117"/>
          <p:cNvSpPr txBox="1">
            <a:spLocks noChangeArrowheads="1"/>
          </p:cNvSpPr>
          <p:nvPr/>
        </p:nvSpPr>
        <p:spPr bwMode="auto">
          <a:xfrm>
            <a:off x="4289426" y="38242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6" name="Text Box 118"/>
          <p:cNvSpPr txBox="1">
            <a:spLocks noChangeArrowheads="1"/>
          </p:cNvSpPr>
          <p:nvPr/>
        </p:nvSpPr>
        <p:spPr bwMode="auto">
          <a:xfrm>
            <a:off x="5203826" y="55006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4817" name="Text Box 119"/>
          <p:cNvSpPr txBox="1">
            <a:spLocks noChangeArrowheads="1"/>
          </p:cNvSpPr>
          <p:nvPr/>
        </p:nvSpPr>
        <p:spPr bwMode="auto">
          <a:xfrm>
            <a:off x="6346826" y="38242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97817" name="Oval 121"/>
          <p:cNvSpPr>
            <a:spLocks noChangeArrowheads="1"/>
          </p:cNvSpPr>
          <p:nvPr/>
        </p:nvSpPr>
        <p:spPr bwMode="auto">
          <a:xfrm>
            <a:off x="4802189" y="7743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4819" name="Text Box 122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4820" name="Text Box 123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4821" name="Text Box 124"/>
          <p:cNvSpPr txBox="1">
            <a:spLocks noChangeArrowheads="1"/>
          </p:cNvSpPr>
          <p:nvPr/>
        </p:nvSpPr>
        <p:spPr bwMode="auto">
          <a:xfrm>
            <a:off x="5029200" y="4876801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4822" name="Line 125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4823" name="Text Box 126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4824" name="Text Box 127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7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7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817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Oval 3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79" name="Oval 4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80" name="Text Box 5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5781" name="Text Box 6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5782" name="Text Box 7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5783" name="Line 8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4" name="Line 10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5" name="Line 11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6" name="Line 12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7" name="Line 13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8" name="Line 14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89" name="Line 15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90" name="Line 16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791" name="Rectangle 17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5792" name="Oval 18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93" name="Text Box 19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5794" name="Oval 20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95" name="Text Box 21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5796" name="Oval 22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97" name="Text Box 23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5798" name="Oval 24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799" name="Text Box 25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5800" name="Oval 26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801" name="Text Box 27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5802" name="Oval 28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803" name="Text Box 29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5804" name="Oval 30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805" name="Text Box 31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5806" name="Line 32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07" name="Line 33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08" name="Line 34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09" name="Line 35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10" name="Oval 36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811" name="Text Box 37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5812" name="Line 38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13" name="Line 39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14" name="Line 40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15" name="Line 41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16" name="Text Box 42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5817" name="Text Box 43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5818" name="Text Box 44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5819" name="Text Box 45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5820" name="Text Box 47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5821" name="Text Box 50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5822" name="Text Box 51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5823" name="Text Box 52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5824" name="Text Box 53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5825" name="Text Box 54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5826" name="Text Box 55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5827" name="Line 56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28" name="Text Box 58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75829" name="Text Box 60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30" name="Text Box 61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31" name="Text Box 62"/>
          <p:cNvSpPr txBox="1">
            <a:spLocks noChangeArrowheads="1"/>
          </p:cNvSpPr>
          <p:nvPr/>
        </p:nvSpPr>
        <p:spPr bwMode="auto">
          <a:xfrm>
            <a:off x="6781801" y="53340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32" name="Text Box 63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33" name="Text Box 64"/>
          <p:cNvSpPr txBox="1">
            <a:spLocks noChangeArrowheads="1"/>
          </p:cNvSpPr>
          <p:nvPr/>
        </p:nvSpPr>
        <p:spPr bwMode="auto">
          <a:xfrm>
            <a:off x="7188201" y="16827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5834" name="Text Box 65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5835" name="Text Box 66"/>
          <p:cNvSpPr txBox="1">
            <a:spLocks noChangeArrowheads="1"/>
          </p:cNvSpPr>
          <p:nvPr/>
        </p:nvSpPr>
        <p:spPr bwMode="auto">
          <a:xfrm>
            <a:off x="42386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40</a:t>
            </a:r>
          </a:p>
        </p:txBody>
      </p:sp>
      <p:sp>
        <p:nvSpPr>
          <p:cNvPr id="75836" name="Text Box 67"/>
          <p:cNvSpPr txBox="1">
            <a:spLocks noChangeArrowheads="1"/>
          </p:cNvSpPr>
          <p:nvPr/>
        </p:nvSpPr>
        <p:spPr bwMode="auto">
          <a:xfrm>
            <a:off x="5203826" y="55006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37" name="Text Box 68"/>
          <p:cNvSpPr txBox="1">
            <a:spLocks noChangeArrowheads="1"/>
          </p:cNvSpPr>
          <p:nvPr/>
        </p:nvSpPr>
        <p:spPr bwMode="auto">
          <a:xfrm>
            <a:off x="62960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30</a:t>
            </a:r>
          </a:p>
        </p:txBody>
      </p:sp>
      <p:sp>
        <p:nvSpPr>
          <p:cNvPr id="799813" name="Oval 69"/>
          <p:cNvSpPr>
            <a:spLocks noChangeArrowheads="1"/>
          </p:cNvSpPr>
          <p:nvPr/>
        </p:nvSpPr>
        <p:spPr bwMode="auto">
          <a:xfrm>
            <a:off x="2211389" y="17649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 dirty="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5839" name="Oval 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5840" name="Text Box 71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5841" name="Text Box 74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5842" name="Text Box 75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5843" name="Text Box 76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5844" name="Text Box 77"/>
          <p:cNvSpPr txBox="1">
            <a:spLocks noChangeArrowheads="1"/>
          </p:cNvSpPr>
          <p:nvPr/>
        </p:nvSpPr>
        <p:spPr bwMode="auto">
          <a:xfrm>
            <a:off x="5029200" y="4876801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5845" name="Line 78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5846" name="Text Box 79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5847" name="Text Box 80"/>
          <p:cNvSpPr txBox="1">
            <a:spLocks noChangeArrowheads="1"/>
          </p:cNvSpPr>
          <p:nvPr/>
        </p:nvSpPr>
        <p:spPr bwMode="auto">
          <a:xfrm>
            <a:off x="2613026" y="51054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5848" name="Text Box 81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121">
            <a:extLst>
              <a:ext uri="{FF2B5EF4-FFF2-40B4-BE49-F238E27FC236}">
                <a16:creationId xmlns:a16="http://schemas.microsoft.com/office/drawing/2014/main" id="{FEEE86A3-7132-46E9-AE2A-8F68F4F33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189" y="7743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813" grpId="0" animBg="1"/>
      <p:bldP spid="7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Oval 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03" name="Oval 3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6807" name="Line 7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08" name="Line 8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3" name="Line 13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4" name="Line 14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15" name="Rectangle 1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6816" name="Oval 16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17" name="Text Box 17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6818" name="Oval 18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19" name="Text Box 19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6820" name="Oval 20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21" name="Text Box 21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6822" name="Oval 22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23" name="Text Box 23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6824" name="Oval 24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25" name="Text Box 25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6826" name="Oval 26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27" name="Text Box 27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6828" name="Oval 2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29" name="Text Box 29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6830" name="Line 30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1" name="Line 31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2" name="Line 32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3" name="Line 33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4" name="Oval 34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35" name="Text Box 35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6836" name="Line 36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7" name="Line 37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8" name="Line 38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39" name="Line 39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40" name="Text Box 40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6841" name="Text Box 41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6842" name="Text Box 42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6843" name="Text Box 43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6844" name="Text Box 45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6845" name="Text Box 46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6846" name="Text Box 48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6847" name="Text Box 49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6848" name="Text Box 50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6849" name="Text Box 51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6850" name="Text Box 52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6851" name="Text Box 53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6852" name="Line 54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53" name="Text Box 56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76854" name="Text Box 57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76855" name="Text Box 58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6856" name="Text Box 59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6857" name="Text Box 60"/>
          <p:cNvSpPr txBox="1">
            <a:spLocks noChangeArrowheads="1"/>
          </p:cNvSpPr>
          <p:nvPr/>
        </p:nvSpPr>
        <p:spPr bwMode="auto">
          <a:xfrm>
            <a:off x="6781801" y="53340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6858" name="Text Box 61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6859" name="Text Box 62"/>
          <p:cNvSpPr txBox="1">
            <a:spLocks noChangeArrowheads="1"/>
          </p:cNvSpPr>
          <p:nvPr/>
        </p:nvSpPr>
        <p:spPr bwMode="auto">
          <a:xfrm>
            <a:off x="7188201" y="16827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6860" name="Text Box 63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6861" name="Text Box 64"/>
          <p:cNvSpPr txBox="1">
            <a:spLocks noChangeArrowheads="1"/>
          </p:cNvSpPr>
          <p:nvPr/>
        </p:nvSpPr>
        <p:spPr bwMode="auto">
          <a:xfrm>
            <a:off x="42386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31</a:t>
            </a:r>
          </a:p>
        </p:txBody>
      </p:sp>
      <p:sp>
        <p:nvSpPr>
          <p:cNvPr id="76862" name="Text Box 65"/>
          <p:cNvSpPr txBox="1">
            <a:spLocks noChangeArrowheads="1"/>
          </p:cNvSpPr>
          <p:nvPr/>
        </p:nvSpPr>
        <p:spPr bwMode="auto">
          <a:xfrm>
            <a:off x="5203826" y="55006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6863" name="Text Box 66"/>
          <p:cNvSpPr txBox="1">
            <a:spLocks noChangeArrowheads="1"/>
          </p:cNvSpPr>
          <p:nvPr/>
        </p:nvSpPr>
        <p:spPr bwMode="auto">
          <a:xfrm>
            <a:off x="62960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30</a:t>
            </a:r>
          </a:p>
        </p:txBody>
      </p:sp>
      <p:sp>
        <p:nvSpPr>
          <p:cNvPr id="800835" name="Oval 67"/>
          <p:cNvSpPr>
            <a:spLocks noChangeArrowheads="1"/>
          </p:cNvSpPr>
          <p:nvPr/>
        </p:nvSpPr>
        <p:spPr bwMode="auto">
          <a:xfrm>
            <a:off x="2592389" y="49653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65" name="Oval 68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6866" name="Text Box 70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6867" name="Text Box 71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6868" name="Text Box 72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6869" name="Text Box 73"/>
          <p:cNvSpPr txBox="1">
            <a:spLocks noChangeArrowheads="1"/>
          </p:cNvSpPr>
          <p:nvPr/>
        </p:nvSpPr>
        <p:spPr bwMode="auto">
          <a:xfrm>
            <a:off x="5029200" y="4876801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6870" name="Line 74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6871" name="Text Box 75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6872" name="Text Box 76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4" name="Oval 69">
            <a:extLst>
              <a:ext uri="{FF2B5EF4-FFF2-40B4-BE49-F238E27FC236}">
                <a16:creationId xmlns:a16="http://schemas.microsoft.com/office/drawing/2014/main" id="{1C687461-6597-4EEC-8D9C-727D91D6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1389" y="17649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 dirty="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0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0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0835" grpId="0" animBg="1"/>
      <p:bldP spid="7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Oval 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27" name="Oval 3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7830" name="Text Box 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7831" name="Line 7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3" name="Line 9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4" name="Line 10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5" name="Line 11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6" name="Line 12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7" name="Line 13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8" name="Line 14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7840" name="Oval 16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7842" name="Oval 18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43" name="Text Box 19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7844" name="Text Box 21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7845" name="Oval 22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46" name="Text Box 23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7847" name="Oval 24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48" name="Text Box 25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7849" name="Oval 26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50" name="Text Box 27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7851" name="Oval 28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52" name="Text Box 29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7853" name="Line 30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54" name="Line 31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55" name="Line 32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56" name="Line 33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57" name="Oval 34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58" name="Text Box 35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7859" name="Line 36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60" name="Line 37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61" name="Line 38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62" name="Line 39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63" name="Text Box 40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7864" name="Text Box 41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7865" name="Text Box 42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7866" name="Text Box 43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7867" name="Text Box 45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7868" name="Text Box 46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7869" name="Text Box 48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7870" name="Text Box 49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7871" name="Text Box 50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7872" name="Text Box 51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7873" name="Text Box 52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7874" name="Text Box 53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7875" name="Line 54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76" name="Text Box 56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77877" name="Text Box 57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77878" name="Text Box 58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7879" name="Text Box 59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7880" name="Text Box 60"/>
          <p:cNvSpPr txBox="1">
            <a:spLocks noChangeArrowheads="1"/>
          </p:cNvSpPr>
          <p:nvPr/>
        </p:nvSpPr>
        <p:spPr bwMode="auto">
          <a:xfrm>
            <a:off x="6781801" y="53340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7881" name="Text Box 61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7882" name="Text Box 62"/>
          <p:cNvSpPr txBox="1">
            <a:spLocks noChangeArrowheads="1"/>
          </p:cNvSpPr>
          <p:nvPr/>
        </p:nvSpPr>
        <p:spPr bwMode="auto">
          <a:xfrm>
            <a:off x="7188201" y="16827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7883" name="Text Box 63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7884" name="Text Box 64"/>
          <p:cNvSpPr txBox="1">
            <a:spLocks noChangeArrowheads="1"/>
          </p:cNvSpPr>
          <p:nvPr/>
        </p:nvSpPr>
        <p:spPr bwMode="auto">
          <a:xfrm>
            <a:off x="42386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31</a:t>
            </a:r>
          </a:p>
        </p:txBody>
      </p:sp>
      <p:sp>
        <p:nvSpPr>
          <p:cNvPr id="77885" name="Text Box 65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77886" name="Text Box 66"/>
          <p:cNvSpPr txBox="1">
            <a:spLocks noChangeArrowheads="1"/>
          </p:cNvSpPr>
          <p:nvPr/>
        </p:nvSpPr>
        <p:spPr bwMode="auto">
          <a:xfrm>
            <a:off x="6296026" y="3830638"/>
            <a:ext cx="917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18</a:t>
            </a:r>
          </a:p>
        </p:txBody>
      </p:sp>
      <p:sp>
        <p:nvSpPr>
          <p:cNvPr id="802883" name="Oval 67"/>
          <p:cNvSpPr>
            <a:spLocks noChangeArrowheads="1"/>
          </p:cNvSpPr>
          <p:nvPr/>
        </p:nvSpPr>
        <p:spPr bwMode="auto">
          <a:xfrm>
            <a:off x="4876801" y="540348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i="1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88" name="Oval 68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89" name="Text Box 70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 dirty="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7890" name="Oval 20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7891" name="Text Box 71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7892" name="Text Box 72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7893" name="Text Box 73"/>
          <p:cNvSpPr txBox="1">
            <a:spLocks noChangeArrowheads="1"/>
          </p:cNvSpPr>
          <p:nvPr/>
        </p:nvSpPr>
        <p:spPr bwMode="auto">
          <a:xfrm>
            <a:off x="5029200" y="4876801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7894" name="Line 74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7895" name="Text Box 75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7896" name="Text Box 76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C37AC219-8A83-49A6-92CA-8F0979569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9" y="49653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2883" grpId="0" animBg="1"/>
      <p:bldP spid="7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Oval 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51" name="Oval 3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8854" name="Text Box 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56" name="Line 8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59" name="Line 11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60" name="Line 12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61" name="Line 13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62" name="Line 14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63" name="Rectangle 1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8864" name="Oval 16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65" name="Text Box 17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8866" name="Oval 18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67" name="Text Box 19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8868" name="Text Box 20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8869" name="Oval 21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8871" name="Oval 23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72" name="Text Box 24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8873" name="Oval 25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8875" name="Oval 27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876" name="Text Box 28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8877" name="Line 29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78" name="Line 30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79" name="Line 31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0" name="Line 32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1" name="Text Box 34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8882" name="Line 35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3" name="Line 36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4" name="Line 37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5" name="Line 38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86" name="Text Box 39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8887" name="Text Box 40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8888" name="Text Box 41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8889" name="Text Box 42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8890" name="Text Box 44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8891" name="Text Box 45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8892" name="Text Box 47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8893" name="Text Box 48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8894" name="Text Box 49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8895" name="Text Box 50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8896" name="Text Box 51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8897" name="Text Box 52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8898" name="Line 53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899" name="Text Box 55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78900" name="Text Box 56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78901" name="Text Box 57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8902" name="Text Box 58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8903" name="Text Box 59"/>
          <p:cNvSpPr txBox="1">
            <a:spLocks noChangeArrowheads="1"/>
          </p:cNvSpPr>
          <p:nvPr/>
        </p:nvSpPr>
        <p:spPr bwMode="auto">
          <a:xfrm>
            <a:off x="6731001" y="53403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8904" name="Text Box 60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8905" name="Text Box 61"/>
          <p:cNvSpPr txBox="1">
            <a:spLocks noChangeArrowheads="1"/>
          </p:cNvSpPr>
          <p:nvPr/>
        </p:nvSpPr>
        <p:spPr bwMode="auto">
          <a:xfrm>
            <a:off x="7188201" y="16827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8906" name="Text Box 62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8907" name="Text Box 63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78908" name="Text Box 64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78909" name="Text Box 65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3906" name="Oval 66"/>
          <p:cNvSpPr>
            <a:spLocks noChangeArrowheads="1"/>
          </p:cNvSpPr>
          <p:nvPr/>
        </p:nvSpPr>
        <p:spPr bwMode="auto">
          <a:xfrm>
            <a:off x="5792789" y="36699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911" name="Oval 67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912" name="Text Box 69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8913" name="Oval 70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914" name="Oval 33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8915" name="Text Box 74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8916" name="Text Box 75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8917" name="Text Box 76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8918" name="Line 77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8919" name="Text Box 78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8920" name="Text Box 79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B23B7DFA-D20B-4D40-B21C-E1727E087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391" y="540348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3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3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906" grpId="0" animBg="1"/>
      <p:bldP spid="7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Oval 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75" name="Oval 3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79877" name="Text Box 5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79878" name="Text Box 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79879" name="Line 7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0" name="Line 8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1" name="Line 9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2" name="Line 10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3" name="Line 11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4" name="Line 12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5" name="Line 13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6" name="Line 14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79888" name="Oval 16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89" name="Text Box 17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79890" name="Text Box 19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79891" name="Text Box 20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79892" name="Oval 21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93" name="Text Box 22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79894" name="Oval 23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95" name="Text Box 24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79896" name="Oval 25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97" name="Text Box 26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79898" name="Oval 27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899" name="Text Box 28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79900" name="Line 29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1" name="Line 30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2" name="Line 31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3" name="Line 32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4" name="Text Box 33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79905" name="Line 34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6" name="Line 35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7" name="Line 36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8" name="Line 37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09" name="Text Box 38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79910" name="Text Box 39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9911" name="Text Box 40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79912" name="Text Box 41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9913" name="Text Box 42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9914" name="Text Box 43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9915" name="Text Box 44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79916" name="Text Box 45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79917" name="Text Box 46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9918" name="Text Box 47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9919" name="Text Box 48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9920" name="Text Box 49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9921" name="Line 50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22" name="Text Box 51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79923" name="Text Box 52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79924" name="Text Box 53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9925" name="Text Box 54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9926" name="Text Box 55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79927" name="Text Box 56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79928" name="Text Box 57"/>
          <p:cNvSpPr txBox="1">
            <a:spLocks noChangeArrowheads="1"/>
          </p:cNvSpPr>
          <p:nvPr/>
        </p:nvSpPr>
        <p:spPr bwMode="auto">
          <a:xfrm>
            <a:off x="7188201" y="16827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79929" name="Text Box 58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79930" name="Text Box 59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79931" name="Text Box 60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79932" name="Text Box 61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4926" name="Oval 62"/>
          <p:cNvSpPr>
            <a:spLocks noChangeArrowheads="1"/>
          </p:cNvSpPr>
          <p:nvPr/>
        </p:nvSpPr>
        <p:spPr bwMode="auto">
          <a:xfrm>
            <a:off x="3811589" y="36699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934" name="Oval 63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935" name="Text Box 65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79936" name="Oval 66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937" name="Oval 67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938" name="Oval 18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79939" name="Text Box 68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79940" name="Text Box 69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79941" name="Text Box 70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79942" name="Line 71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9943" name="Text Box 72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9944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56720865-DB0B-4818-B148-8711A80B4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891" y="365088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4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4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4926" grpId="0" animBg="1"/>
      <p:bldP spid="7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Oval 3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899" name="Text Box 4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0900" name="Text Box 5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0901" name="Text Box 6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0902" name="Line 7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3" name="Line 8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4" name="Line 9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5" name="Line 10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6" name="Line 11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7" name="Line 12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8" name="Line 13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09" name="Line 14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10" name="Rectangle 15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0911" name="Oval 16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12" name="Text Box 17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0913" name="Text Box 18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0914" name="Text Box 19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0915" name="Oval 20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16" name="Text Box 21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0917" name="Oval 22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18" name="Text Box 23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0919" name="Oval 24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20" name="Text Box 25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0921" name="Oval 26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22" name="Text Box 27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0923" name="Line 28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24" name="Line 29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25" name="Line 30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26" name="Line 31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27" name="Text Box 32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0928" name="Line 33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29" name="Line 34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30" name="Line 35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31" name="Line 36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32" name="Text Box 37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0933" name="Text Box 38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0934" name="Text Box 39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0935" name="Text Box 40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0936" name="Text Box 41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0937" name="Text Box 42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0938" name="Text Box 43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0939" name="Text Box 44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0940" name="Text Box 45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0941" name="Text Box 46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0942" name="Text Box 47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0943" name="Text Box 48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0944" name="Line 49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45" name="Text Box 50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0946" name="Text Box 51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0947" name="Text Box 52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0948" name="Text Box 53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0949" name="Text Box 54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0950" name="Text Box 55"/>
          <p:cNvSpPr txBox="1">
            <a:spLocks noChangeArrowheads="1"/>
          </p:cNvSpPr>
          <p:nvPr/>
        </p:nvSpPr>
        <p:spPr bwMode="auto">
          <a:xfrm>
            <a:off x="8251826" y="40386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0951" name="Text Box 56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9</a:t>
            </a:r>
          </a:p>
        </p:txBody>
      </p:sp>
      <p:sp>
        <p:nvSpPr>
          <p:cNvPr id="80952" name="Text Box 57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0953" name="Text Box 58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0954" name="Text Box 59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0955" name="Text Box 60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5949" name="Oval 61"/>
          <p:cNvSpPr>
            <a:spLocks noChangeArrowheads="1"/>
          </p:cNvSpPr>
          <p:nvPr/>
        </p:nvSpPr>
        <p:spPr bwMode="auto">
          <a:xfrm>
            <a:off x="6326189" y="51177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57" name="Oval 62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58" name="Text Box 64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0959" name="Oval 65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60" name="Oval 66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61" name="Oval 67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62" name="Text Box 68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0963" name="Text Box 69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0964" name="Text Box 70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0965" name="Line 71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0966" name="Text Box 72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0967" name="Oval 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0968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20C937A4-1818-4B6F-B8E9-7624623E9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1" y="3659849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5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5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49" grpId="0" animBg="1"/>
      <p:bldP spid="7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Oval 2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23" name="Text Box 3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1926" name="Line 6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31" name="Line 11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33" name="Line 13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34" name="Rectangle 14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1935" name="Oval 15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36" name="Text Box 16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1937" name="Text Box 17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1938" name="Text Box 18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1939" name="Oval 19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40" name="Text Box 20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1941" name="Oval 21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42" name="Text Box 22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1943" name="Text Box 24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1944" name="Oval 25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45" name="Text Box 26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1946" name="Line 27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47" name="Line 28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48" name="Line 29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49" name="Line 30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50" name="Text Box 31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1951" name="Line 32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52" name="Line 33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53" name="Line 34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54" name="Line 35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55" name="Text Box 36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1956" name="Text Box 37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1957" name="Text Box 38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1958" name="Text Box 39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1959" name="Text Box 40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1960" name="Text Box 41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1961" name="Text Box 42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1962" name="Text Box 43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1963" name="Text Box 44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1964" name="Text Box 45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1965" name="Text Box 46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1966" name="Text Box 47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1967" name="Line 48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68" name="Text Box 49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1969" name="Text Box 50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1970" name="Text Box 51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1971" name="Text Box 52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1972" name="Text Box 53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1973" name="Text Box 54"/>
          <p:cNvSpPr txBox="1">
            <a:spLocks noChangeArrowheads="1"/>
          </p:cNvSpPr>
          <p:nvPr/>
        </p:nvSpPr>
        <p:spPr bwMode="auto">
          <a:xfrm>
            <a:off x="8251826" y="40449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15</a:t>
            </a:r>
          </a:p>
        </p:txBody>
      </p:sp>
      <p:sp>
        <p:nvSpPr>
          <p:cNvPr id="81974" name="Text Box 55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8</a:t>
            </a:r>
          </a:p>
        </p:txBody>
      </p:sp>
      <p:sp>
        <p:nvSpPr>
          <p:cNvPr id="81975" name="Text Box 56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1976" name="Text Box 57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1977" name="Text Box 58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1978" name="Text Box 59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6972" name="Oval 60"/>
          <p:cNvSpPr>
            <a:spLocks noChangeArrowheads="1"/>
          </p:cNvSpPr>
          <p:nvPr/>
        </p:nvSpPr>
        <p:spPr bwMode="auto">
          <a:xfrm>
            <a:off x="6783389" y="14601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80" name="Oval 61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81" name="Text Box 63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1982" name="Oval 64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83" name="Oval 65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84" name="Oval 66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85" name="Text Box 67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1986" name="Text Box 68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1987" name="Text Box 69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1988" name="Line 70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1989" name="Text Box 71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1990" name="Oval 72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91" name="Oval 23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992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CA5E9477-F4AC-4496-BEEF-BA645DCA0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5111476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6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6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72" grpId="0" animBg="1"/>
      <p:bldP spid="7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3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2947" name="Text Box 4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2948" name="Text Box 5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2949" name="Line 6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0" name="Line 7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1" name="Line 8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2" name="Line 9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3" name="Line 10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4" name="Line 11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5" name="Line 12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6" name="Line 13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57" name="Rectangle 14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2958" name="Oval 15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2959" name="Text Box 16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2960" name="Text Box 17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2961" name="Text Box 18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2962" name="Oval 19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2963" name="Text Box 20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2964" name="Oval 21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2965" name="Text Box 22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2966" name="Text Box 23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2967" name="Oval 24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2968" name="Text Box 25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2969" name="Line 26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0" name="Line 27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1" name="Line 28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2" name="Line 29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3" name="Text Box 30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2974" name="Line 31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5" name="Line 32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6" name="Line 33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7" name="Line 34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78" name="Text Box 35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2979" name="Text Box 36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2980" name="Text Box 37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2981" name="Text Box 38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2982" name="Text Box 39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2983" name="Text Box 40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2984" name="Text Box 41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2985" name="Text Box 42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2986" name="Text Box 43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2987" name="Text Box 44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2988" name="Text Box 45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2989" name="Text Box 46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2990" name="Line 47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2991" name="Text Box 48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2992" name="Text Box 49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2993" name="Text Box 50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2994" name="Text Box 51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2995" name="Text Box 52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2996" name="Text Box 53"/>
          <p:cNvSpPr txBox="1">
            <a:spLocks noChangeArrowheads="1"/>
          </p:cNvSpPr>
          <p:nvPr/>
        </p:nvSpPr>
        <p:spPr bwMode="auto">
          <a:xfrm>
            <a:off x="8251826" y="40449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82997" name="Text Box 54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8</a:t>
            </a:r>
          </a:p>
        </p:txBody>
      </p:sp>
      <p:sp>
        <p:nvSpPr>
          <p:cNvPr id="82998" name="Text Box 55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2999" name="Text Box 56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3000" name="Text Box 57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3001" name="Text Box 58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7995" name="Oval 59"/>
          <p:cNvSpPr>
            <a:spLocks noChangeArrowheads="1"/>
          </p:cNvSpPr>
          <p:nvPr/>
        </p:nvSpPr>
        <p:spPr bwMode="auto">
          <a:xfrm>
            <a:off x="8002589" y="38985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03" name="Oval 60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04" name="Text Box 62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3005" name="Oval 63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06" name="Oval 64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07" name="Oval 65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08" name="Text Box 66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3009" name="Text Box 67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3010" name="Text Box 68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3011" name="Line 69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012" name="Text Box 70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3013" name="Oval 71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14" name="Oval 72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15" name="Oval 2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016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11AE8C8C-C93B-4AF1-906F-DD2E72266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1" y="146349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7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7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995" grpId="0" animBg="1"/>
      <p:bldP spid="7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3973" name="Line 5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4" name="Line 6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6" name="Line 8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7" name="Line 9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8" name="Line 10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79" name="Line 11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80" name="Line 12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3982" name="Oval 14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983" name="Text Box 15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3984" name="Text Box 16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3986" name="Oval 18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987" name="Text Box 19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3988" name="Oval 20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989" name="Text Box 21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3990" name="Text Box 22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3991" name="Oval 23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3992" name="Text Box 24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3993" name="Line 25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94" name="Line 26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95" name="Line 27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96" name="Line 28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97" name="Text Box 29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3998" name="Line 30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3999" name="Line 31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000" name="Line 32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001" name="Line 33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002" name="Text Box 34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4003" name="Text Box 35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4004" name="Text Box 36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4005" name="Text Box 37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4006" name="Text Box 38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4007" name="Text Box 39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4008" name="Text Box 40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4009" name="Text Box 41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4010" name="Text Box 42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4011" name="Text Box 43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4012" name="Text Box 44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4013" name="Text Box 45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4014" name="Line 46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015" name="Text Box 47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4016" name="Text Box 48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4017" name="Text Box 49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4018" name="Text Box 50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4019" name="Text Box 51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4020" name="Text Box 52"/>
          <p:cNvSpPr txBox="1">
            <a:spLocks noChangeArrowheads="1"/>
          </p:cNvSpPr>
          <p:nvPr/>
        </p:nvSpPr>
        <p:spPr bwMode="auto">
          <a:xfrm>
            <a:off x="8251826" y="40449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84021" name="Text Box 53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8</a:t>
            </a:r>
          </a:p>
        </p:txBody>
      </p:sp>
      <p:sp>
        <p:nvSpPr>
          <p:cNvPr id="84022" name="Text Box 54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4023" name="Text Box 55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4024" name="Text Box 56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4025" name="Text Box 57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09018" name="Oval 58"/>
          <p:cNvSpPr>
            <a:spLocks noChangeArrowheads="1"/>
          </p:cNvSpPr>
          <p:nvPr/>
        </p:nvSpPr>
        <p:spPr bwMode="auto">
          <a:xfrm>
            <a:off x="4116389" y="62607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27" name="Oval 59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28" name="Text Box 61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4029" name="Oval 62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30" name="Oval 63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31" name="Oval 64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32" name="Text Box 65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4033" name="Text Box 66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4034" name="Text Box 67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4035" name="Line 68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036" name="Text Box 69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4037" name="Oval 70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38" name="Oval 71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39" name="Oval 72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4040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B7A04E2A-D056-43B0-9853-6412B0A31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4176" y="3901241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8" grpId="0" animBg="1"/>
      <p:bldP spid="7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998" name="Line 6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4999" name="Line 7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0" name="Line 8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1" name="Line 9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2" name="Line 10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3" name="Line 11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4" name="Line 12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07" name="Text Box 15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5008" name="Text Box 16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5009" name="Text Box 17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5010" name="Text Box 19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5011" name="Oval 20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12" name="Text Box 21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5013" name="Text Box 22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5014" name="Oval 23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15" name="Text Box 24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5016" name="Line 25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17" name="Line 26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18" name="Line 27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19" name="Line 28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20" name="Text Box 29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5021" name="Line 30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22" name="Line 31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23" name="Line 32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24" name="Line 33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25" name="Text Box 34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5026" name="Text Box 35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5027" name="Text Box 36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5028" name="Text Box 37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5029" name="Text Box 38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5030" name="Text Box 39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5031" name="Text Box 40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5032" name="Text Box 41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5033" name="Text Box 42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5034" name="Text Box 43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5035" name="Text Box 44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5036" name="Text Box 45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5037" name="Line 46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38" name="Text Box 47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5039" name="Text Box 48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5040" name="Text Box 49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5041" name="Text Box 50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5042" name="Text Box 51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5043" name="Text Box 52"/>
          <p:cNvSpPr txBox="1">
            <a:spLocks noChangeArrowheads="1"/>
          </p:cNvSpPr>
          <p:nvPr/>
        </p:nvSpPr>
        <p:spPr bwMode="auto">
          <a:xfrm>
            <a:off x="8251826" y="40449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85044" name="Text Box 53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8</a:t>
            </a:r>
          </a:p>
        </p:txBody>
      </p:sp>
      <p:sp>
        <p:nvSpPr>
          <p:cNvPr id="85045" name="Text Box 54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5046" name="Text Box 55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5047" name="Text Box 56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5048" name="Text Box 57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10042" name="Oval 58"/>
          <p:cNvSpPr>
            <a:spLocks noChangeArrowheads="1"/>
          </p:cNvSpPr>
          <p:nvPr/>
        </p:nvSpPr>
        <p:spPr bwMode="auto">
          <a:xfrm>
            <a:off x="5868989" y="6260734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33CC33"/>
              </a:solidFill>
              <a:ea typeface="+mn-ea"/>
              <a:cs typeface="+mn-cs"/>
            </a:endParaRPr>
          </a:p>
        </p:txBody>
      </p:sp>
      <p:sp>
        <p:nvSpPr>
          <p:cNvPr id="85050" name="Oval 59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51" name="Text Box 61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5052" name="Oval 62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53" name="Oval 63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54" name="Oval 64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55" name="Text Box 65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5056" name="Text Box 66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5057" name="Text Box 67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5058" name="Line 68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5059" name="Text Box 69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5060" name="Oval 70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61" name="Oval 71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62" name="Oval 72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63" name="Oval 18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5064" name="Text Box 73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73" name="Oval 67">
            <a:extLst>
              <a:ext uri="{FF2B5EF4-FFF2-40B4-BE49-F238E27FC236}">
                <a16:creationId xmlns:a16="http://schemas.microsoft.com/office/drawing/2014/main" id="{0E102C02-319B-4893-BA4C-23C6EA5E8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1" y="6272406"/>
            <a:ext cx="1139825" cy="735747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2800" kern="1200">
              <a:solidFill>
                <a:srgbClr val="FFFFFF"/>
              </a:solidFill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0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0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042" grpId="0" animBg="1"/>
      <p:bldP spid="7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5029200" y="914401"/>
            <a:ext cx="3317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s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3886201" y="3794126"/>
            <a:ext cx="35401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c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7010400" y="1546226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b</a:t>
            </a:r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 flipH="1">
            <a:off x="3200400" y="1447800"/>
            <a:ext cx="1981200" cy="762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2" name="Line 6"/>
          <p:cNvSpPr>
            <a:spLocks noChangeShapeType="1"/>
          </p:cNvSpPr>
          <p:nvPr/>
        </p:nvSpPr>
        <p:spPr bwMode="auto">
          <a:xfrm flipH="1">
            <a:off x="4267201" y="1443038"/>
            <a:ext cx="912813" cy="25955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>
            <a:off x="5181600" y="1447800"/>
            <a:ext cx="1066800" cy="2590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>
            <a:off x="5181600" y="1447800"/>
            <a:ext cx="1752600" cy="457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 flipH="1">
            <a:off x="6324600" y="1905000"/>
            <a:ext cx="6858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>
            <a:off x="7086600" y="1905000"/>
            <a:ext cx="1066800" cy="2133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>
            <a:off x="3124200" y="2286000"/>
            <a:ext cx="1066800" cy="1752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>
            <a:off x="3124200" y="2286000"/>
            <a:ext cx="304800" cy="3048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29" name="Rectangle 13"/>
          <p:cNvSpPr>
            <a:spLocks noChangeArrowheads="1"/>
          </p:cNvSpPr>
          <p:nvPr/>
        </p:nvSpPr>
        <p:spPr bwMode="auto">
          <a:xfrm>
            <a:off x="2286000" y="-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Aft>
                <a:spcPct val="0"/>
              </a:spcAft>
              <a:buClrTx/>
              <a:buNone/>
            </a:pPr>
            <a:r>
              <a:rPr lang="en-US" altLang="en-US" sz="4400" kern="1200">
                <a:solidFill>
                  <a:srgbClr val="FFFF00"/>
                </a:solidFill>
                <a:ea typeface="+mn-ea"/>
                <a:cs typeface="+mn-cs"/>
              </a:rPr>
              <a:t>Dijkstra's</a:t>
            </a:r>
          </a:p>
        </p:txBody>
      </p:sp>
      <p:sp>
        <p:nvSpPr>
          <p:cNvPr id="86030" name="Oval 14"/>
          <p:cNvSpPr>
            <a:spLocks noChangeArrowheads="1"/>
          </p:cNvSpPr>
          <p:nvPr/>
        </p:nvSpPr>
        <p:spPr bwMode="auto">
          <a:xfrm>
            <a:off x="3059113" y="2159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31" name="Text Box 15"/>
          <p:cNvSpPr txBox="1">
            <a:spLocks noChangeArrowheads="1"/>
          </p:cNvSpPr>
          <p:nvPr/>
        </p:nvSpPr>
        <p:spPr bwMode="auto">
          <a:xfrm>
            <a:off x="2781300" y="17780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a</a:t>
            </a:r>
          </a:p>
        </p:txBody>
      </p:sp>
      <p:sp>
        <p:nvSpPr>
          <p:cNvPr id="86032" name="Text Box 16"/>
          <p:cNvSpPr txBox="1">
            <a:spLocks noChangeArrowheads="1"/>
          </p:cNvSpPr>
          <p:nvPr/>
        </p:nvSpPr>
        <p:spPr bwMode="auto">
          <a:xfrm>
            <a:off x="5791200" y="36576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d</a:t>
            </a:r>
          </a:p>
        </p:txBody>
      </p:sp>
      <p:sp>
        <p:nvSpPr>
          <p:cNvPr id="86033" name="Text Box 17"/>
          <p:cNvSpPr txBox="1">
            <a:spLocks noChangeArrowheads="1"/>
          </p:cNvSpPr>
          <p:nvPr/>
        </p:nvSpPr>
        <p:spPr bwMode="auto">
          <a:xfrm>
            <a:off x="3074988" y="4953001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f</a:t>
            </a:r>
          </a:p>
        </p:txBody>
      </p:sp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4598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i</a:t>
            </a:r>
          </a:p>
        </p:txBody>
      </p:sp>
      <p:sp>
        <p:nvSpPr>
          <p:cNvPr id="86035" name="Oval 19"/>
          <p:cNvSpPr>
            <a:spLocks noChangeArrowheads="1"/>
          </p:cNvSpPr>
          <p:nvPr/>
        </p:nvSpPr>
        <p:spPr bwMode="auto">
          <a:xfrm>
            <a:off x="6019800" y="6537325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36" name="Text Box 20"/>
          <p:cNvSpPr txBox="1">
            <a:spLocks noChangeArrowheads="1"/>
          </p:cNvSpPr>
          <p:nvPr/>
        </p:nvSpPr>
        <p:spPr bwMode="auto">
          <a:xfrm>
            <a:off x="5741988" y="6156326"/>
            <a:ext cx="290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j</a:t>
            </a:r>
          </a:p>
        </p:txBody>
      </p:sp>
      <p:sp>
        <p:nvSpPr>
          <p:cNvPr id="86037" name="Text Box 21"/>
          <p:cNvSpPr txBox="1">
            <a:spLocks noChangeArrowheads="1"/>
          </p:cNvSpPr>
          <p:nvPr/>
        </p:nvSpPr>
        <p:spPr bwMode="auto">
          <a:xfrm>
            <a:off x="6400800" y="49784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h</a:t>
            </a:r>
          </a:p>
        </p:txBody>
      </p:sp>
      <p:sp>
        <p:nvSpPr>
          <p:cNvPr id="86038" name="Oval 22"/>
          <p:cNvSpPr>
            <a:spLocks noChangeArrowheads="1"/>
          </p:cNvSpPr>
          <p:nvPr/>
        </p:nvSpPr>
        <p:spPr bwMode="auto">
          <a:xfrm>
            <a:off x="81534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39" name="Text Box 23"/>
          <p:cNvSpPr txBox="1">
            <a:spLocks noChangeArrowheads="1"/>
          </p:cNvSpPr>
          <p:nvPr/>
        </p:nvSpPr>
        <p:spPr bwMode="auto">
          <a:xfrm>
            <a:off x="8256588" y="3717926"/>
            <a:ext cx="3540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e</a:t>
            </a:r>
          </a:p>
        </p:txBody>
      </p:sp>
      <p:sp>
        <p:nvSpPr>
          <p:cNvPr id="86040" name="Line 24"/>
          <p:cNvSpPr>
            <a:spLocks noChangeShapeType="1"/>
          </p:cNvSpPr>
          <p:nvPr/>
        </p:nvSpPr>
        <p:spPr bwMode="auto">
          <a:xfrm flipV="1">
            <a:off x="6858000" y="2057400"/>
            <a:ext cx="152400" cy="33528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1" name="Line 25"/>
          <p:cNvSpPr>
            <a:spLocks noChangeShapeType="1"/>
          </p:cNvSpPr>
          <p:nvPr/>
        </p:nvSpPr>
        <p:spPr bwMode="auto">
          <a:xfrm flipV="1">
            <a:off x="3429000" y="4191000"/>
            <a:ext cx="2743200" cy="1219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2" name="Line 26"/>
          <p:cNvSpPr>
            <a:spLocks noChangeShapeType="1"/>
          </p:cNvSpPr>
          <p:nvPr/>
        </p:nvSpPr>
        <p:spPr bwMode="auto">
          <a:xfrm>
            <a:off x="6324600" y="4114800"/>
            <a:ext cx="457200" cy="12192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3" name="Line 27"/>
          <p:cNvSpPr>
            <a:spLocks noChangeShapeType="1"/>
          </p:cNvSpPr>
          <p:nvPr/>
        </p:nvSpPr>
        <p:spPr bwMode="auto">
          <a:xfrm flipV="1">
            <a:off x="6858000" y="4114800"/>
            <a:ext cx="137160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4" name="Text Box 28"/>
          <p:cNvSpPr txBox="1">
            <a:spLocks noChangeArrowheads="1"/>
          </p:cNvSpPr>
          <p:nvPr/>
        </p:nvSpPr>
        <p:spPr bwMode="auto">
          <a:xfrm>
            <a:off x="4953000" y="5410201"/>
            <a:ext cx="3746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3000" i="1" kern="1200">
                <a:solidFill>
                  <a:srgbClr val="FFFFFF"/>
                </a:solidFill>
                <a:ea typeface="+mn-ea"/>
                <a:cs typeface="+mn-cs"/>
              </a:rPr>
              <a:t>g</a:t>
            </a:r>
          </a:p>
        </p:txBody>
      </p:sp>
      <p:sp>
        <p:nvSpPr>
          <p:cNvPr id="86045" name="Line 29"/>
          <p:cNvSpPr>
            <a:spLocks noChangeShapeType="1"/>
          </p:cNvSpPr>
          <p:nvPr/>
        </p:nvSpPr>
        <p:spPr bwMode="auto">
          <a:xfrm>
            <a:off x="3429000" y="5410200"/>
            <a:ext cx="1905000" cy="1524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6" name="Line 30"/>
          <p:cNvSpPr>
            <a:spLocks noChangeShapeType="1"/>
          </p:cNvSpPr>
          <p:nvPr/>
        </p:nvSpPr>
        <p:spPr bwMode="auto">
          <a:xfrm flipV="1">
            <a:off x="5410200" y="4191000"/>
            <a:ext cx="8382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7" name="Line 31"/>
          <p:cNvSpPr>
            <a:spLocks noChangeShapeType="1"/>
          </p:cNvSpPr>
          <p:nvPr/>
        </p:nvSpPr>
        <p:spPr bwMode="auto">
          <a:xfrm flipH="1" flipV="1">
            <a:off x="4343400" y="4191000"/>
            <a:ext cx="990600" cy="13716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8" name="Line 32"/>
          <p:cNvSpPr>
            <a:spLocks noChangeShapeType="1"/>
          </p:cNvSpPr>
          <p:nvPr/>
        </p:nvSpPr>
        <p:spPr bwMode="auto">
          <a:xfrm flipV="1">
            <a:off x="5410200" y="5486400"/>
            <a:ext cx="1371600" cy="76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49" name="Text Box 33"/>
          <p:cNvSpPr txBox="1">
            <a:spLocks noChangeArrowheads="1"/>
          </p:cNvSpPr>
          <p:nvPr/>
        </p:nvSpPr>
        <p:spPr bwMode="auto">
          <a:xfrm>
            <a:off x="45656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40</a:t>
            </a:r>
          </a:p>
        </p:txBody>
      </p:sp>
      <p:sp>
        <p:nvSpPr>
          <p:cNvPr id="86050" name="Text Box 34"/>
          <p:cNvSpPr txBox="1">
            <a:spLocks noChangeArrowheads="1"/>
          </p:cNvSpPr>
          <p:nvPr/>
        </p:nvSpPr>
        <p:spPr bwMode="auto">
          <a:xfrm>
            <a:off x="3705225" y="14382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6051" name="Text Box 35"/>
          <p:cNvSpPr txBox="1">
            <a:spLocks noChangeArrowheads="1"/>
          </p:cNvSpPr>
          <p:nvPr/>
        </p:nvSpPr>
        <p:spPr bwMode="auto">
          <a:xfrm>
            <a:off x="5749925" y="12096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10</a:t>
            </a:r>
          </a:p>
        </p:txBody>
      </p:sp>
      <p:sp>
        <p:nvSpPr>
          <p:cNvPr id="86052" name="Text Box 36"/>
          <p:cNvSpPr txBox="1">
            <a:spLocks noChangeArrowheads="1"/>
          </p:cNvSpPr>
          <p:nvPr/>
        </p:nvSpPr>
        <p:spPr bwMode="auto">
          <a:xfrm>
            <a:off x="2867025" y="3571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6053" name="Text Box 37"/>
          <p:cNvSpPr txBox="1">
            <a:spLocks noChangeArrowheads="1"/>
          </p:cNvSpPr>
          <p:nvPr/>
        </p:nvSpPr>
        <p:spPr bwMode="auto">
          <a:xfrm>
            <a:off x="4162425" y="5324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6054" name="Text Box 38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6055" name="Text Box 39"/>
          <p:cNvSpPr txBox="1">
            <a:spLocks noChangeArrowheads="1"/>
          </p:cNvSpPr>
          <p:nvPr/>
        </p:nvSpPr>
        <p:spPr bwMode="auto">
          <a:xfrm>
            <a:off x="5838825" y="5400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6</a:t>
            </a:r>
          </a:p>
        </p:txBody>
      </p:sp>
      <p:sp>
        <p:nvSpPr>
          <p:cNvPr id="86056" name="Text Box 40"/>
          <p:cNvSpPr txBox="1">
            <a:spLocks noChangeArrowheads="1"/>
          </p:cNvSpPr>
          <p:nvPr/>
        </p:nvSpPr>
        <p:spPr bwMode="auto">
          <a:xfrm>
            <a:off x="7439025" y="4562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8</a:t>
            </a:r>
          </a:p>
        </p:txBody>
      </p:sp>
      <p:sp>
        <p:nvSpPr>
          <p:cNvPr id="86057" name="Text Box 41"/>
          <p:cNvSpPr txBox="1">
            <a:spLocks noChangeArrowheads="1"/>
          </p:cNvSpPr>
          <p:nvPr/>
        </p:nvSpPr>
        <p:spPr bwMode="auto">
          <a:xfrm>
            <a:off x="6829425" y="3419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6058" name="Text Box 42"/>
          <p:cNvSpPr txBox="1">
            <a:spLocks noChangeArrowheads="1"/>
          </p:cNvSpPr>
          <p:nvPr/>
        </p:nvSpPr>
        <p:spPr bwMode="auto">
          <a:xfrm>
            <a:off x="7515225" y="26574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6059" name="Text Box 43"/>
          <p:cNvSpPr txBox="1">
            <a:spLocks noChangeArrowheads="1"/>
          </p:cNvSpPr>
          <p:nvPr/>
        </p:nvSpPr>
        <p:spPr bwMode="auto">
          <a:xfrm>
            <a:off x="5521325" y="2428876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6060" name="Text Box 44"/>
          <p:cNvSpPr txBox="1">
            <a:spLocks noChangeArrowheads="1"/>
          </p:cNvSpPr>
          <p:nvPr/>
        </p:nvSpPr>
        <p:spPr bwMode="auto">
          <a:xfrm>
            <a:off x="6296025" y="2809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6061" name="Line 45"/>
          <p:cNvSpPr>
            <a:spLocks noChangeShapeType="1"/>
          </p:cNvSpPr>
          <p:nvPr/>
        </p:nvSpPr>
        <p:spPr bwMode="auto">
          <a:xfrm>
            <a:off x="4953000" y="6629400"/>
            <a:ext cx="10668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62" name="Text Box 46"/>
          <p:cNvSpPr txBox="1">
            <a:spLocks noChangeArrowheads="1"/>
          </p:cNvSpPr>
          <p:nvPr/>
        </p:nvSpPr>
        <p:spPr bwMode="auto">
          <a:xfrm>
            <a:off x="2193926" y="1911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</a:t>
            </a:r>
          </a:p>
        </p:txBody>
      </p:sp>
      <p:sp>
        <p:nvSpPr>
          <p:cNvPr id="86063" name="Text Box 47"/>
          <p:cNvSpPr txBox="1">
            <a:spLocks noChangeArrowheads="1"/>
          </p:cNvSpPr>
          <p:nvPr/>
        </p:nvSpPr>
        <p:spPr bwMode="auto">
          <a:xfrm>
            <a:off x="2651126" y="5111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3</a:t>
            </a:r>
          </a:p>
        </p:txBody>
      </p:sp>
      <p:sp>
        <p:nvSpPr>
          <p:cNvPr id="86064" name="Text Box 48"/>
          <p:cNvSpPr txBox="1">
            <a:spLocks noChangeArrowheads="1"/>
          </p:cNvSpPr>
          <p:nvPr/>
        </p:nvSpPr>
        <p:spPr bwMode="auto">
          <a:xfrm>
            <a:off x="41370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6065" name="Text Box 49"/>
          <p:cNvSpPr txBox="1">
            <a:spLocks noChangeArrowheads="1"/>
          </p:cNvSpPr>
          <p:nvPr/>
        </p:nvSpPr>
        <p:spPr bwMode="auto">
          <a:xfrm>
            <a:off x="6118226" y="6415088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</a:t>
            </a:r>
          </a:p>
        </p:txBody>
      </p:sp>
      <p:sp>
        <p:nvSpPr>
          <p:cNvPr id="86066" name="Text Box 50"/>
          <p:cNvSpPr txBox="1">
            <a:spLocks noChangeArrowheads="1"/>
          </p:cNvSpPr>
          <p:nvPr/>
        </p:nvSpPr>
        <p:spPr bwMode="auto">
          <a:xfrm>
            <a:off x="6731001" y="53403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7</a:t>
            </a:r>
          </a:p>
        </p:txBody>
      </p:sp>
      <p:sp>
        <p:nvSpPr>
          <p:cNvPr id="86067" name="Text Box 51"/>
          <p:cNvSpPr txBox="1">
            <a:spLocks noChangeArrowheads="1"/>
          </p:cNvSpPr>
          <p:nvPr/>
        </p:nvSpPr>
        <p:spPr bwMode="auto">
          <a:xfrm>
            <a:off x="8251826" y="4044951"/>
            <a:ext cx="91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10</a:t>
            </a:r>
          </a:p>
        </p:txBody>
      </p:sp>
      <p:sp>
        <p:nvSpPr>
          <p:cNvPr id="86068" name="Text Box 52"/>
          <p:cNvSpPr txBox="1">
            <a:spLocks noChangeArrowheads="1"/>
          </p:cNvSpPr>
          <p:nvPr/>
        </p:nvSpPr>
        <p:spPr bwMode="auto">
          <a:xfrm>
            <a:off x="7188201" y="1682751"/>
            <a:ext cx="739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8</a:t>
            </a:r>
          </a:p>
        </p:txBody>
      </p:sp>
      <p:sp>
        <p:nvSpPr>
          <p:cNvPr id="86069" name="Text Box 53"/>
          <p:cNvSpPr txBox="1">
            <a:spLocks noChangeArrowheads="1"/>
          </p:cNvSpPr>
          <p:nvPr/>
        </p:nvSpPr>
        <p:spPr bwMode="auto">
          <a:xfrm>
            <a:off x="4991101" y="7064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0</a:t>
            </a:r>
          </a:p>
        </p:txBody>
      </p:sp>
      <p:sp>
        <p:nvSpPr>
          <p:cNvPr id="86070" name="Text Box 54"/>
          <p:cNvSpPr txBox="1">
            <a:spLocks noChangeArrowheads="1"/>
          </p:cNvSpPr>
          <p:nvPr/>
        </p:nvSpPr>
        <p:spPr bwMode="auto">
          <a:xfrm>
            <a:off x="42386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6</a:t>
            </a:r>
          </a:p>
        </p:txBody>
      </p:sp>
      <p:sp>
        <p:nvSpPr>
          <p:cNvPr id="86071" name="Text Box 55"/>
          <p:cNvSpPr txBox="1">
            <a:spLocks noChangeArrowheads="1"/>
          </p:cNvSpPr>
          <p:nvPr/>
        </p:nvSpPr>
        <p:spPr bwMode="auto">
          <a:xfrm>
            <a:off x="5241926" y="55070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4</a:t>
            </a:r>
          </a:p>
        </p:txBody>
      </p:sp>
      <p:sp>
        <p:nvSpPr>
          <p:cNvPr id="86072" name="Text Box 56"/>
          <p:cNvSpPr txBox="1">
            <a:spLocks noChangeArrowheads="1"/>
          </p:cNvSpPr>
          <p:nvPr/>
        </p:nvSpPr>
        <p:spPr bwMode="auto">
          <a:xfrm>
            <a:off x="6296026" y="3830638"/>
            <a:ext cx="73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i="1" kern="1200">
                <a:solidFill>
                  <a:srgbClr val="33CC33"/>
                </a:solidFill>
                <a:ea typeface="+mn-ea"/>
                <a:cs typeface="+mn-cs"/>
              </a:rPr>
              <a:t>d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</a:rPr>
              <a:t>=</a:t>
            </a:r>
            <a:r>
              <a:rPr lang="en-US" altLang="en-US" sz="2800" kern="1200">
                <a:solidFill>
                  <a:srgbClr val="33CC33"/>
                </a:solidFill>
                <a:ea typeface="+mn-ea"/>
                <a:cs typeface="+mn-cs"/>
                <a:sym typeface="Symbol" pitchFamily="18" charset="2"/>
              </a:rPr>
              <a:t>5</a:t>
            </a:r>
          </a:p>
        </p:txBody>
      </p:sp>
      <p:sp>
        <p:nvSpPr>
          <p:cNvPr id="86073" name="Oval 58"/>
          <p:cNvSpPr>
            <a:spLocks noChangeArrowheads="1"/>
          </p:cNvSpPr>
          <p:nvPr/>
        </p:nvSpPr>
        <p:spPr bwMode="auto">
          <a:xfrm>
            <a:off x="5105400" y="1371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74" name="Text Box 60"/>
          <p:cNvSpPr txBox="1">
            <a:spLocks noChangeArrowheads="1"/>
          </p:cNvSpPr>
          <p:nvPr/>
        </p:nvSpPr>
        <p:spPr bwMode="auto">
          <a:xfrm>
            <a:off x="3575050" y="2743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30</a:t>
            </a:r>
          </a:p>
        </p:txBody>
      </p:sp>
      <p:sp>
        <p:nvSpPr>
          <p:cNvPr id="86075" name="Oval 61"/>
          <p:cNvSpPr>
            <a:spLocks noChangeArrowheads="1"/>
          </p:cNvSpPr>
          <p:nvPr/>
        </p:nvSpPr>
        <p:spPr bwMode="auto">
          <a:xfrm>
            <a:off x="3352800" y="53340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76" name="Oval 62"/>
          <p:cNvSpPr>
            <a:spLocks noChangeArrowheads="1"/>
          </p:cNvSpPr>
          <p:nvPr/>
        </p:nvSpPr>
        <p:spPr bwMode="auto">
          <a:xfrm>
            <a:off x="5307013" y="5486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77" name="Oval 63"/>
          <p:cNvSpPr>
            <a:spLocks noChangeArrowheads="1"/>
          </p:cNvSpPr>
          <p:nvPr/>
        </p:nvSpPr>
        <p:spPr bwMode="auto">
          <a:xfrm>
            <a:off x="6221413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78" name="Text Box 64"/>
          <p:cNvSpPr txBox="1">
            <a:spLocks noChangeArrowheads="1"/>
          </p:cNvSpPr>
          <p:nvPr/>
        </p:nvSpPr>
        <p:spPr bwMode="auto">
          <a:xfrm>
            <a:off x="5810250" y="46386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</a:t>
            </a:r>
          </a:p>
        </p:txBody>
      </p:sp>
      <p:sp>
        <p:nvSpPr>
          <p:cNvPr id="86079" name="Text Box 65"/>
          <p:cNvSpPr txBox="1">
            <a:spLocks noChangeArrowheads="1"/>
          </p:cNvSpPr>
          <p:nvPr/>
        </p:nvSpPr>
        <p:spPr bwMode="auto">
          <a:xfrm>
            <a:off x="3810000" y="4648201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15</a:t>
            </a:r>
          </a:p>
        </p:txBody>
      </p:sp>
      <p:sp>
        <p:nvSpPr>
          <p:cNvPr id="86080" name="Text Box 66"/>
          <p:cNvSpPr txBox="1">
            <a:spLocks noChangeArrowheads="1"/>
          </p:cNvSpPr>
          <p:nvPr/>
        </p:nvSpPr>
        <p:spPr bwMode="auto">
          <a:xfrm>
            <a:off x="6419850" y="4333876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2</a:t>
            </a:r>
          </a:p>
        </p:txBody>
      </p:sp>
      <p:sp>
        <p:nvSpPr>
          <p:cNvPr id="86081" name="Line 67"/>
          <p:cNvSpPr>
            <a:spLocks noChangeShapeType="1"/>
          </p:cNvSpPr>
          <p:nvPr/>
        </p:nvSpPr>
        <p:spPr bwMode="auto">
          <a:xfrm flipV="1">
            <a:off x="4267200" y="1981200"/>
            <a:ext cx="2667000" cy="213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Tx/>
            </a:pPr>
            <a:endParaRPr lang="en-US" sz="2800" kern="1200">
              <a:solidFill>
                <a:srgbClr val="FFFFFF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6082" name="Text Box 68"/>
          <p:cNvSpPr txBox="1">
            <a:spLocks noChangeArrowheads="1"/>
          </p:cNvSpPr>
          <p:nvPr/>
        </p:nvSpPr>
        <p:spPr bwMode="auto">
          <a:xfrm>
            <a:off x="5000625" y="3290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  <p:sp>
        <p:nvSpPr>
          <p:cNvPr id="86083" name="Oval 69"/>
          <p:cNvSpPr>
            <a:spLocks noChangeArrowheads="1"/>
          </p:cNvSpPr>
          <p:nvPr/>
        </p:nvSpPr>
        <p:spPr bwMode="auto">
          <a:xfrm>
            <a:off x="4191000" y="40386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84" name="Oval 70"/>
          <p:cNvSpPr>
            <a:spLocks noChangeArrowheads="1"/>
          </p:cNvSpPr>
          <p:nvPr/>
        </p:nvSpPr>
        <p:spPr bwMode="auto">
          <a:xfrm>
            <a:off x="6781800" y="53594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85" name="Oval 71"/>
          <p:cNvSpPr>
            <a:spLocks noChangeArrowheads="1"/>
          </p:cNvSpPr>
          <p:nvPr/>
        </p:nvSpPr>
        <p:spPr bwMode="auto">
          <a:xfrm>
            <a:off x="6934200" y="1828800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6086" name="Oval 72"/>
          <p:cNvSpPr>
            <a:spLocks noChangeArrowheads="1"/>
          </p:cNvSpPr>
          <p:nvPr/>
        </p:nvSpPr>
        <p:spPr bwMode="auto">
          <a:xfrm>
            <a:off x="4876800" y="6537325"/>
            <a:ext cx="152400" cy="152400"/>
          </a:xfrm>
          <a:prstGeom prst="ellipse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endParaRPr lang="en-US" altLang="en-US" sz="3000" kern="1200">
              <a:solidFill>
                <a:srgbClr val="FFFFFF"/>
              </a:solidFill>
              <a:ea typeface="+mn-ea"/>
              <a:cs typeface="+mn-cs"/>
            </a:endParaRPr>
          </a:p>
        </p:txBody>
      </p:sp>
      <p:sp>
        <p:nvSpPr>
          <p:cNvPr id="811081" name="Text Box 73"/>
          <p:cNvSpPr txBox="1">
            <a:spLocks noChangeArrowheads="1"/>
          </p:cNvSpPr>
          <p:nvPr/>
        </p:nvSpPr>
        <p:spPr bwMode="auto">
          <a:xfrm>
            <a:off x="8670926" y="5943601"/>
            <a:ext cx="1211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b="1" kern="1200">
                <a:solidFill>
                  <a:srgbClr val="FF0000"/>
                </a:solidFill>
                <a:ea typeface="+mn-ea"/>
                <a:cs typeface="+mn-cs"/>
              </a:rPr>
              <a:t>DONE</a:t>
            </a:r>
          </a:p>
        </p:txBody>
      </p:sp>
      <p:sp>
        <p:nvSpPr>
          <p:cNvPr id="86088" name="Text Box 74"/>
          <p:cNvSpPr txBox="1">
            <a:spLocks noChangeArrowheads="1"/>
          </p:cNvSpPr>
          <p:nvPr/>
        </p:nvSpPr>
        <p:spPr bwMode="auto">
          <a:xfrm>
            <a:off x="5200650" y="6186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l" eaLnBrk="0" hangingPunct="0">
              <a:spcBef>
                <a:spcPct val="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l" eaLnBrk="0" hangingPunct="0">
              <a:spcBef>
                <a:spcPct val="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eaLnBrk="0" hangingPunct="0">
              <a:spcBef>
                <a:spcPct val="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eaLnBrk="0" hangingPunct="0">
              <a:spcBef>
                <a:spcPct val="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lang="en-US" altLang="en-US" sz="2800" kern="1200">
                <a:solidFill>
                  <a:srgbClr val="FFFFFF"/>
                </a:solidFill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1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1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B6E9AF8-40BC-1568-46EF-AF9A6E929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D6C9A5A7-1F7D-884B-B1BF-11C47CB49D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lvl="0">
              <a:buSzPct val="100000"/>
            </a:pPr>
            <a:r>
              <a:rPr lang="en-US" dirty="0"/>
              <a:t>4.4.3 Dijkstra's Algorithm</a:t>
            </a:r>
            <a:endParaRPr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11AFAB6B-F4FD-465F-5A91-0C1058F06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2" y="1126827"/>
            <a:ext cx="8258175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44120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91603A8-E8B3-8959-9E54-EFFB0AE0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2EB3DE41-0F6E-E41E-D2E2-2D9A74BDF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buSzPct val="100000"/>
            </a:pPr>
            <a:r>
              <a:rPr lang="en-US" dirty="0"/>
              <a:t>4.4.3 Dijkstra's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2AA4E-0FD7-244B-9321-88B679BB7E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64643"/>
          <a:stretch>
            <a:fillRect/>
          </a:stretch>
        </p:blipFill>
        <p:spPr>
          <a:xfrm>
            <a:off x="429558" y="1777025"/>
            <a:ext cx="5520105" cy="31360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337679-CAEC-7129-B89F-DA334AB3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636"/>
          <a:stretch>
            <a:fillRect/>
          </a:stretch>
        </p:blipFill>
        <p:spPr>
          <a:xfrm>
            <a:off x="6228000" y="1107219"/>
            <a:ext cx="5320151" cy="550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750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B5C4C9A-9933-33BA-DFF8-B89F1C73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c4946a550_0_194">
            <a:extLst>
              <a:ext uri="{FF2B5EF4-FFF2-40B4-BE49-F238E27FC236}">
                <a16:creationId xmlns:a16="http://schemas.microsoft.com/office/drawing/2014/main" id="{58065C8B-BA9C-9D83-82A7-F6B466D91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4" name="Google Shape;224;g37c4946a550_0_194">
            <a:extLst>
              <a:ext uri="{FF2B5EF4-FFF2-40B4-BE49-F238E27FC236}">
                <a16:creationId xmlns:a16="http://schemas.microsoft.com/office/drawing/2014/main" id="{486284AB-A6C0-849C-1AA7-EA73DEC7DF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170396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66"/>
      </a:dk2>
      <a:lt2>
        <a:srgbClr val="FFFF00"/>
      </a:lt2>
      <a:accent1>
        <a:srgbClr val="FF9900"/>
      </a:accent1>
      <a:accent2>
        <a:srgbClr val="00FFFF"/>
      </a:accent2>
      <a:accent3>
        <a:srgbClr val="AAAAB8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CA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CA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2099</TotalTime>
  <Words>3446</Words>
  <Application>Microsoft Macintosh PowerPoint</Application>
  <PresentationFormat>Widescreen</PresentationFormat>
  <Paragraphs>1210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Times New Roman</vt:lpstr>
      <vt:lpstr>Gill Sans</vt:lpstr>
      <vt:lpstr>Symbol</vt:lpstr>
      <vt:lpstr>Arial</vt:lpstr>
      <vt:lpstr>Helvetica Neue</vt:lpstr>
      <vt:lpstr>Parcel</vt:lpstr>
      <vt:lpstr>Parcel</vt:lpstr>
      <vt:lpstr>1_Parcel</vt:lpstr>
      <vt:lpstr>Default Design</vt:lpstr>
      <vt:lpstr>ICPC Bootcamp Day 4</vt:lpstr>
      <vt:lpstr>4.2 Graph Traversal (Introduction)</vt:lpstr>
      <vt:lpstr>4.2.2 Depth First Search (DFS)</vt:lpstr>
      <vt:lpstr>4.2.2 Depth First Search (DFS)</vt:lpstr>
      <vt:lpstr>4.2.3 Breadth First Search (BFS)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BFS</vt:lpstr>
      <vt:lpstr>PowerPoint Presentation</vt:lpstr>
      <vt:lpstr>DFS vs. BFS Comparison</vt:lpstr>
      <vt:lpstr>4.2.5 Flood Fill</vt:lpstr>
      <vt:lpstr>Case Study – Lost Map</vt:lpstr>
      <vt:lpstr>Minimum Spanning Tree (MST) - Overview</vt:lpstr>
      <vt:lpstr>Minimum Spanning Tree (MST) - Kruskal’s Algorithm</vt:lpstr>
      <vt:lpstr>Minimum Spanning Tree: Kruskal's vs. Prim's</vt:lpstr>
      <vt:lpstr>4.4.1 Single-Source Shortest Paths (Overview)</vt:lpstr>
      <vt:lpstr>4.4.3 Dijkstra's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4.4.3 Dijkstra's Algorithm</vt:lpstr>
      <vt:lpstr>4.4.3 Dijkstra's Algorithm</vt:lpstr>
      <vt:lpstr>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Ryan Pelchat</dc:creator>
  <cp:lastModifiedBy>Ryan Pelchat</cp:lastModifiedBy>
  <cp:revision>62</cp:revision>
  <dcterms:created xsi:type="dcterms:W3CDTF">2025-09-06T15:13:09Z</dcterms:created>
  <dcterms:modified xsi:type="dcterms:W3CDTF">2026-08-16T19:46:02Z</dcterms:modified>
</cp:coreProperties>
</file>