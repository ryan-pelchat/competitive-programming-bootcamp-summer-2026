
<file path=[Content_Types].xml><?xml version="1.0" encoding="utf-8"?>
<Types xmlns="http://schemas.openxmlformats.org/package/2006/content-types">
  <Default Extension="fntdata" ContentType="application/x-fontdata"/>
  <Default Extension="org&amp;utm_campaign=parser&amp;utm_content=thumbnail"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22"/>
  </p:notesMasterIdLst>
  <p:sldIdLst>
    <p:sldId id="256" r:id="rId3"/>
    <p:sldId id="634" r:id="rId4"/>
    <p:sldId id="635" r:id="rId5"/>
    <p:sldId id="637" r:id="rId6"/>
    <p:sldId id="638" r:id="rId7"/>
    <p:sldId id="650" r:id="rId8"/>
    <p:sldId id="640" r:id="rId9"/>
    <p:sldId id="641" r:id="rId10"/>
    <p:sldId id="642" r:id="rId11"/>
    <p:sldId id="643" r:id="rId12"/>
    <p:sldId id="644" r:id="rId13"/>
    <p:sldId id="649" r:id="rId14"/>
    <p:sldId id="646" r:id="rId15"/>
    <p:sldId id="647" r:id="rId16"/>
    <p:sldId id="648" r:id="rId17"/>
    <p:sldId id="651" r:id="rId18"/>
    <p:sldId id="653" r:id="rId19"/>
    <p:sldId id="652" r:id="rId20"/>
    <p:sldId id="654" r:id="rId21"/>
  </p:sldIdLst>
  <p:sldSz cx="12192000" cy="6858000"/>
  <p:notesSz cx="6858000" cy="9144000"/>
  <p:embeddedFontLst>
    <p:embeddedFont>
      <p:font typeface="Cambria Math" panose="02040503050406030204" pitchFamily="18" charset="0"/>
      <p:regular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14jFXTrCmS0u2hXQXGuC3zsnMB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14"/>
    <p:restoredTop sz="90000"/>
  </p:normalViewPr>
  <p:slideViewPr>
    <p:cSldViewPr snapToGrid="0">
      <p:cViewPr varScale="1">
        <p:scale>
          <a:sx n="122" d="100"/>
          <a:sy n="122" d="100"/>
        </p:scale>
        <p:origin x="864" y="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slide" Target="slides/slide19.xml"/><Relationship Id="rId55" Type="http://customschemas.google.com/relationships/presentationmetadata" Target="meta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59"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8"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57"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00" name="Google Shape;10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FE3E121D-8BC8-081E-DD5F-747E52CBFFAC}"/>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B3447D06-F258-A5E7-137C-2F1FECBF7B9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501428A5-6655-82D7-EBC3-7C358FE5D9D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a:t>
            </a:r>
            <a:r>
              <a:rPr lang="en-US" dirty="0" err="1"/>
              <a:t>wiki.python.org</a:t>
            </a:r>
            <a:r>
              <a:rPr lang="en-US" dirty="0"/>
              <a:t>/</a:t>
            </a:r>
            <a:r>
              <a:rPr lang="en-US" dirty="0" err="1"/>
              <a:t>moin</a:t>
            </a:r>
            <a:r>
              <a:rPr lang="en-US" dirty="0"/>
              <a:t>/</a:t>
            </a:r>
            <a:r>
              <a:rPr lang="en-US" dirty="0" err="1"/>
              <a:t>TimeComplexity</a:t>
            </a:r>
            <a:endParaRPr dirty="0"/>
          </a:p>
        </p:txBody>
      </p:sp>
      <p:sp>
        <p:nvSpPr>
          <p:cNvPr id="221" name="Google Shape;221;g37c4946a550_0_194:notes">
            <a:extLst>
              <a:ext uri="{FF2B5EF4-FFF2-40B4-BE49-F238E27FC236}">
                <a16:creationId xmlns:a16="http://schemas.microsoft.com/office/drawing/2014/main" id="{46823FA8-C9DF-3003-6CD3-7F7763F2DF06}"/>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2334016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C112816C-7732-DD9A-86ED-35EA14BB7ED6}"/>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60CD3E0D-4B17-212A-5695-3DB12419AF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D60D4D7B-EC5B-AEA4-BF23-BBEA63E2F064}"/>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a:t>
            </a:r>
            <a:r>
              <a:rPr lang="en-US" dirty="0" err="1"/>
              <a:t>wiki.python.org</a:t>
            </a:r>
            <a:r>
              <a:rPr lang="en-US" dirty="0"/>
              <a:t>/</a:t>
            </a:r>
            <a:r>
              <a:rPr lang="en-US" dirty="0" err="1"/>
              <a:t>moin</a:t>
            </a:r>
            <a:r>
              <a:rPr lang="en-US" dirty="0"/>
              <a:t>/</a:t>
            </a:r>
            <a:r>
              <a:rPr lang="en-US" dirty="0" err="1"/>
              <a:t>TimeComplexity</a:t>
            </a:r>
            <a:endParaRPr dirty="0"/>
          </a:p>
        </p:txBody>
      </p:sp>
      <p:sp>
        <p:nvSpPr>
          <p:cNvPr id="221" name="Google Shape;221;g37c4946a550_0_194:notes">
            <a:extLst>
              <a:ext uri="{FF2B5EF4-FFF2-40B4-BE49-F238E27FC236}">
                <a16:creationId xmlns:a16="http://schemas.microsoft.com/office/drawing/2014/main" id="{C355CCF6-DA50-AD44-2915-289ED7B1D6EF}"/>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26140278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DD4DE53F-A6BC-DA29-2E6C-B80CD0971EE2}"/>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DD3A513D-B9A4-D312-A0F1-0EA76A8461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BEA5552D-86B8-6E99-148C-B629392CE7B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a:t>
            </a:r>
            <a:r>
              <a:rPr lang="en-US" dirty="0" err="1"/>
              <a:t>wiki.python.org</a:t>
            </a:r>
            <a:r>
              <a:rPr lang="en-US" dirty="0"/>
              <a:t>/</a:t>
            </a:r>
            <a:r>
              <a:rPr lang="en-US" dirty="0" err="1"/>
              <a:t>moin</a:t>
            </a:r>
            <a:r>
              <a:rPr lang="en-US" dirty="0"/>
              <a:t>/</a:t>
            </a:r>
            <a:r>
              <a:rPr lang="en-US" dirty="0" err="1"/>
              <a:t>TimeComplexity</a:t>
            </a:r>
            <a:endParaRPr dirty="0"/>
          </a:p>
        </p:txBody>
      </p:sp>
      <p:sp>
        <p:nvSpPr>
          <p:cNvPr id="221" name="Google Shape;221;g37c4946a550_0_194:notes">
            <a:extLst>
              <a:ext uri="{FF2B5EF4-FFF2-40B4-BE49-F238E27FC236}">
                <a16:creationId xmlns:a16="http://schemas.microsoft.com/office/drawing/2014/main" id="{E134E383-0335-52E0-E0A0-2B73ECDF339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13205774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9F07C396-B904-6263-D737-ACFCBBCDAD1F}"/>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681BA536-36E6-4A03-2310-CD956A2142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C3F50022-A98A-3676-E93E-C1059B84E1D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CA" dirty="0"/>
              <a:t>Top teams in ICPC have extensive pre-written libraries for Geometry</a:t>
            </a:r>
            <a:endParaRPr dirty="0"/>
          </a:p>
        </p:txBody>
      </p:sp>
      <p:sp>
        <p:nvSpPr>
          <p:cNvPr id="221" name="Google Shape;221;g37c4946a550_0_194:notes">
            <a:extLst>
              <a:ext uri="{FF2B5EF4-FFF2-40B4-BE49-F238E27FC236}">
                <a16:creationId xmlns:a16="http://schemas.microsoft.com/office/drawing/2014/main" id="{4CF2170B-498D-138A-B586-130F730965E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2462633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40D2AB45-9CD9-E837-66BE-789651AC7E4B}"/>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494C67F8-54A3-4A3B-D2E4-3C5723988A4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7C59FE37-0724-428B-B37B-8A1B845E5C0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a:t>
            </a:r>
            <a:r>
              <a:rPr lang="en-US" dirty="0" err="1"/>
              <a:t>wiki.python.org</a:t>
            </a:r>
            <a:r>
              <a:rPr lang="en-US" dirty="0"/>
              <a:t>/</a:t>
            </a:r>
            <a:r>
              <a:rPr lang="en-US" dirty="0" err="1"/>
              <a:t>moin</a:t>
            </a:r>
            <a:r>
              <a:rPr lang="en-US" dirty="0"/>
              <a:t>/</a:t>
            </a:r>
            <a:r>
              <a:rPr lang="en-US" dirty="0" err="1"/>
              <a:t>TimeComplexity</a:t>
            </a:r>
            <a:endParaRPr dirty="0"/>
          </a:p>
        </p:txBody>
      </p:sp>
      <p:sp>
        <p:nvSpPr>
          <p:cNvPr id="221" name="Google Shape;221;g37c4946a550_0_194:notes">
            <a:extLst>
              <a:ext uri="{FF2B5EF4-FFF2-40B4-BE49-F238E27FC236}">
                <a16:creationId xmlns:a16="http://schemas.microsoft.com/office/drawing/2014/main" id="{53997E3A-D59F-596C-1ECE-07D28BD13027}"/>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14271208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60A72627-7A76-6ADE-B42F-7FB345C032B2}"/>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60FAA5E7-39F4-17C0-F674-3AFE0F7004A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880BB43E-F01F-65F6-651B-4E4EEDFC2F39}"/>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CA" dirty="0"/>
              <a:t>__</a:t>
            </a:r>
            <a:r>
              <a:rPr lang="en-CA" dirty="0" err="1"/>
              <a:t>lt</a:t>
            </a:r>
            <a:r>
              <a:rPr lang="en-CA" dirty="0"/>
              <a:t>__ is for the comparison operator &lt;</a:t>
            </a:r>
            <a:endParaRPr dirty="0"/>
          </a:p>
        </p:txBody>
      </p:sp>
      <p:sp>
        <p:nvSpPr>
          <p:cNvPr id="221" name="Google Shape;221;g37c4946a550_0_194:notes">
            <a:extLst>
              <a:ext uri="{FF2B5EF4-FFF2-40B4-BE49-F238E27FC236}">
                <a16:creationId xmlns:a16="http://schemas.microsoft.com/office/drawing/2014/main" id="{07304892-7E0F-DD94-556E-F80E8025694A}"/>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364742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69CE0D4C-7F5F-DA35-BBA0-84E02B1B4D4E}"/>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518F3167-68D5-2F0C-A448-AE3E47555B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3944DB77-DF11-B2F9-4AC0-C5E108D2937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CA" sz="1200" b="0" i="0" u="none" strike="noStrike" cap="none" dirty="0">
                <a:solidFill>
                  <a:schemeClr val="dk1"/>
                </a:solidFill>
                <a:effectLst/>
                <a:latin typeface="Arial"/>
                <a:ea typeface="Arial"/>
                <a:cs typeface="Arial"/>
                <a:sym typeface="Arial"/>
              </a:rPr>
              <a:t>Collinear means are the points on the same line</a:t>
            </a:r>
          </a:p>
        </p:txBody>
      </p:sp>
      <p:sp>
        <p:nvSpPr>
          <p:cNvPr id="221" name="Google Shape;221;g37c4946a550_0_194:notes">
            <a:extLst>
              <a:ext uri="{FF2B5EF4-FFF2-40B4-BE49-F238E27FC236}">
                <a16:creationId xmlns:a16="http://schemas.microsoft.com/office/drawing/2014/main" id="{989EE86C-A959-0022-B54E-846406948258}"/>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7082807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8D94E485-7995-1A73-309B-30F3CA27A3D1}"/>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2D500D36-94F6-5F3F-D9FA-93F43E5FD7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FCCAE370-895C-FB3C-39C5-6DFC0FDF6C30}"/>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a:t>
            </a:r>
            <a:r>
              <a:rPr lang="en-US" dirty="0" err="1"/>
              <a:t>wiki.python.org</a:t>
            </a:r>
            <a:r>
              <a:rPr lang="en-US" dirty="0"/>
              <a:t>/</a:t>
            </a:r>
            <a:r>
              <a:rPr lang="en-US" dirty="0" err="1"/>
              <a:t>moin</a:t>
            </a:r>
            <a:r>
              <a:rPr lang="en-US" dirty="0"/>
              <a:t>/</a:t>
            </a:r>
            <a:r>
              <a:rPr lang="en-US" dirty="0" err="1"/>
              <a:t>TimeComplexity</a:t>
            </a:r>
            <a:endParaRPr dirty="0"/>
          </a:p>
        </p:txBody>
      </p:sp>
      <p:sp>
        <p:nvSpPr>
          <p:cNvPr id="221" name="Google Shape;221;g37c4946a550_0_194:notes">
            <a:extLst>
              <a:ext uri="{FF2B5EF4-FFF2-40B4-BE49-F238E27FC236}">
                <a16:creationId xmlns:a16="http://schemas.microsoft.com/office/drawing/2014/main" id="{A6E2161A-7183-A610-23D0-F342A476E1AF}"/>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687333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6990AFAB-CC3F-3145-43E7-E6CE02DC6965}"/>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86F37FBD-3380-ABAE-CA4F-C8678886E27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23547962-D595-D74B-49EB-9E4CDA9A838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a:t>
            </a:r>
            <a:r>
              <a:rPr lang="en-US" dirty="0" err="1"/>
              <a:t>wiki.python.org</a:t>
            </a:r>
            <a:r>
              <a:rPr lang="en-US" dirty="0"/>
              <a:t>/</a:t>
            </a:r>
            <a:r>
              <a:rPr lang="en-US" dirty="0" err="1"/>
              <a:t>moin</a:t>
            </a:r>
            <a:r>
              <a:rPr lang="en-US" dirty="0"/>
              <a:t>/</a:t>
            </a:r>
            <a:r>
              <a:rPr lang="en-US" dirty="0" err="1"/>
              <a:t>TimeComplexity</a:t>
            </a:r>
            <a:endParaRPr dirty="0"/>
          </a:p>
        </p:txBody>
      </p:sp>
      <p:sp>
        <p:nvSpPr>
          <p:cNvPr id="221" name="Google Shape;221;g37c4946a550_0_194:notes">
            <a:extLst>
              <a:ext uri="{FF2B5EF4-FFF2-40B4-BE49-F238E27FC236}">
                <a16:creationId xmlns:a16="http://schemas.microsoft.com/office/drawing/2014/main" id="{69E9AD52-B3EF-13C7-DB69-823A10DC178C}"/>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37136150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111981C5-BCA7-BC8D-83A0-D86EC6F3320E}"/>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F485F838-37E8-2D57-C685-BAB66F42E98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776093DE-8006-004F-9460-BB54E8420C8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a:t>
            </a:r>
            <a:r>
              <a:rPr lang="en-US" dirty="0" err="1"/>
              <a:t>wiki.python.org</a:t>
            </a:r>
            <a:r>
              <a:rPr lang="en-US" dirty="0"/>
              <a:t>/</a:t>
            </a:r>
            <a:r>
              <a:rPr lang="en-US" dirty="0" err="1"/>
              <a:t>moin</a:t>
            </a:r>
            <a:r>
              <a:rPr lang="en-US" dirty="0"/>
              <a:t>/</a:t>
            </a:r>
            <a:r>
              <a:rPr lang="en-US" dirty="0" err="1"/>
              <a:t>TimeComplexity</a:t>
            </a:r>
            <a:endParaRPr dirty="0"/>
          </a:p>
        </p:txBody>
      </p:sp>
      <p:sp>
        <p:nvSpPr>
          <p:cNvPr id="221" name="Google Shape;221;g37c4946a550_0_194:notes">
            <a:extLst>
              <a:ext uri="{FF2B5EF4-FFF2-40B4-BE49-F238E27FC236}">
                <a16:creationId xmlns:a16="http://schemas.microsoft.com/office/drawing/2014/main" id="{955968CF-2A69-77DE-2301-B7E38E949FC0}"/>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3826657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A1EB824E-A2CF-55FD-9775-2732C8042127}"/>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853C5397-493B-56F3-0B8D-7AF68E41C4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9F9304DB-20CF-0907-B0F1-6B3EA15C17D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a:t>
            </a:r>
            <a:r>
              <a:rPr lang="en-US" dirty="0" err="1"/>
              <a:t>wiki.python.org</a:t>
            </a:r>
            <a:r>
              <a:rPr lang="en-US" dirty="0"/>
              <a:t>/</a:t>
            </a:r>
            <a:r>
              <a:rPr lang="en-US" dirty="0" err="1"/>
              <a:t>moin</a:t>
            </a:r>
            <a:r>
              <a:rPr lang="en-US" dirty="0"/>
              <a:t>/</a:t>
            </a:r>
            <a:r>
              <a:rPr lang="en-US" dirty="0" err="1"/>
              <a:t>TimeComplexity</a:t>
            </a:r>
            <a:endParaRPr dirty="0"/>
          </a:p>
        </p:txBody>
      </p:sp>
      <p:sp>
        <p:nvSpPr>
          <p:cNvPr id="221" name="Google Shape;221;g37c4946a550_0_194:notes">
            <a:extLst>
              <a:ext uri="{FF2B5EF4-FFF2-40B4-BE49-F238E27FC236}">
                <a16:creationId xmlns:a16="http://schemas.microsoft.com/office/drawing/2014/main" id="{2B9BDB40-52E7-7F96-5E21-E79067F96F2C}"/>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40539636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A522329E-D09B-9152-836C-B8944EAAA0B2}"/>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8B4F7D36-335A-2CA6-3CAA-9EB61414ABC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84F4B7BB-3A30-10C0-66A8-584FEDCB78D4}"/>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a:t>
            </a:r>
            <a:r>
              <a:rPr lang="en-US" dirty="0" err="1"/>
              <a:t>wiki.python.org</a:t>
            </a:r>
            <a:r>
              <a:rPr lang="en-US" dirty="0"/>
              <a:t>/</a:t>
            </a:r>
            <a:r>
              <a:rPr lang="en-US" dirty="0" err="1"/>
              <a:t>moin</a:t>
            </a:r>
            <a:r>
              <a:rPr lang="en-US" dirty="0"/>
              <a:t>/</a:t>
            </a:r>
            <a:r>
              <a:rPr lang="en-US" dirty="0" err="1"/>
              <a:t>TimeComplexity</a:t>
            </a:r>
            <a:endParaRPr dirty="0"/>
          </a:p>
        </p:txBody>
      </p:sp>
      <p:sp>
        <p:nvSpPr>
          <p:cNvPr id="221" name="Google Shape;221;g37c4946a550_0_194:notes">
            <a:extLst>
              <a:ext uri="{FF2B5EF4-FFF2-40B4-BE49-F238E27FC236}">
                <a16:creationId xmlns:a16="http://schemas.microsoft.com/office/drawing/2014/main" id="{89B4D7C0-EF8C-4DAD-98A3-F5927AF89E8A}"/>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6332157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839E4A54-6B7C-2E30-FCAC-99EBECA4AB25}"/>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93216F4A-4D92-25E3-AD81-5F527E556E1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41FBE754-68C8-4AA1-532D-E3AED76C353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a:t>
            </a:r>
            <a:r>
              <a:rPr lang="en-US" dirty="0" err="1"/>
              <a:t>wiki.python.org</a:t>
            </a:r>
            <a:r>
              <a:rPr lang="en-US" dirty="0"/>
              <a:t>/</a:t>
            </a:r>
            <a:r>
              <a:rPr lang="en-US" dirty="0" err="1"/>
              <a:t>moin</a:t>
            </a:r>
            <a:r>
              <a:rPr lang="en-US" dirty="0"/>
              <a:t>/</a:t>
            </a:r>
            <a:r>
              <a:rPr lang="en-US" dirty="0" err="1"/>
              <a:t>TimeComplexity</a:t>
            </a:r>
            <a:endParaRPr dirty="0"/>
          </a:p>
        </p:txBody>
      </p:sp>
      <p:sp>
        <p:nvSpPr>
          <p:cNvPr id="221" name="Google Shape;221;g37c4946a550_0_194:notes">
            <a:extLst>
              <a:ext uri="{FF2B5EF4-FFF2-40B4-BE49-F238E27FC236}">
                <a16:creationId xmlns:a16="http://schemas.microsoft.com/office/drawing/2014/main" id="{AF236576-8A1B-5FF4-C9BA-E2A9D5ACC825}"/>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7130177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472C97C4-80A5-98E7-0AB8-0EC22E931618}"/>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D4D525BF-59BA-11AA-1B4B-9CDF6C5313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4B87BF19-6120-EB70-38DD-2517EBCAEF8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a:t>
            </a:r>
            <a:r>
              <a:rPr lang="en-US" dirty="0" err="1"/>
              <a:t>wiki.python.org</a:t>
            </a:r>
            <a:r>
              <a:rPr lang="en-US" dirty="0"/>
              <a:t>/</a:t>
            </a:r>
            <a:r>
              <a:rPr lang="en-US" dirty="0" err="1"/>
              <a:t>moin</a:t>
            </a:r>
            <a:r>
              <a:rPr lang="en-US" dirty="0"/>
              <a:t>/</a:t>
            </a:r>
            <a:r>
              <a:rPr lang="en-US" dirty="0" err="1"/>
              <a:t>TimeComplexity</a:t>
            </a:r>
            <a:endParaRPr dirty="0"/>
          </a:p>
        </p:txBody>
      </p:sp>
      <p:sp>
        <p:nvSpPr>
          <p:cNvPr id="221" name="Google Shape;221;g37c4946a550_0_194:notes">
            <a:extLst>
              <a:ext uri="{FF2B5EF4-FFF2-40B4-BE49-F238E27FC236}">
                <a16:creationId xmlns:a16="http://schemas.microsoft.com/office/drawing/2014/main" id="{3FB46E83-4381-FDE3-EB29-48CF64A8865D}"/>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6029284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449CA6E0-07E6-2D31-4C9F-5245784E6530}"/>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B7F4C80F-8062-8825-6FD6-F8A4AEDC7F3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765D48D6-424D-5C86-14B7-FE9230E5989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CA" sz="3200" b="0" i="0" u="none" strike="noStrike" cap="none" dirty="0">
                <a:solidFill>
                  <a:schemeClr val="dk1"/>
                </a:solidFill>
                <a:effectLst/>
                <a:latin typeface="Arial"/>
                <a:ea typeface="Arial"/>
                <a:cs typeface="Arial"/>
                <a:sym typeface="Arial"/>
              </a:rPr>
              <a:t>As every vertex in CH(P </a:t>
            </a:r>
            <a:r>
              <a:rPr lang="en-CA" sz="3200" b="0" i="0" u="none" strike="noStrike" cap="none" dirty="0" err="1">
                <a:solidFill>
                  <a:schemeClr val="dk1"/>
                </a:solidFill>
                <a:effectLst/>
                <a:latin typeface="Arial"/>
                <a:ea typeface="Arial"/>
                <a:cs typeface="Arial"/>
                <a:sym typeface="Arial"/>
              </a:rPr>
              <a:t>ts</a:t>
            </a:r>
            <a:r>
              <a:rPr lang="en-CA" sz="3200" b="0" i="0" u="none" strike="noStrike" cap="none" dirty="0">
                <a:solidFill>
                  <a:schemeClr val="dk1"/>
                </a:solidFill>
                <a:effectLst/>
                <a:latin typeface="Arial"/>
                <a:ea typeface="Arial"/>
                <a:cs typeface="Arial"/>
                <a:sym typeface="Arial"/>
              </a:rPr>
              <a:t>) is a vertex in the set of points P </a:t>
            </a:r>
            <a:r>
              <a:rPr lang="en-CA" sz="3200" b="0" i="0" u="none" strike="noStrike" cap="none" dirty="0" err="1">
                <a:solidFill>
                  <a:schemeClr val="dk1"/>
                </a:solidFill>
                <a:effectLst/>
                <a:latin typeface="Arial"/>
                <a:ea typeface="Arial"/>
                <a:cs typeface="Arial"/>
                <a:sym typeface="Arial"/>
              </a:rPr>
              <a:t>ts</a:t>
            </a:r>
            <a:r>
              <a:rPr lang="en-CA" sz="3200" b="0" i="0" u="none" strike="noStrike" cap="none" dirty="0">
                <a:solidFill>
                  <a:schemeClr val="dk1"/>
                </a:solidFill>
                <a:effectLst/>
                <a:latin typeface="Arial"/>
                <a:ea typeface="Arial"/>
                <a:cs typeface="Arial"/>
                <a:sym typeface="Arial"/>
              </a:rPr>
              <a:t> itself, the algorithm for finding</a:t>
            </a:r>
          </a:p>
          <a:p>
            <a:r>
              <a:rPr lang="en-CA" sz="3200" b="0" i="0" u="none" strike="noStrike" cap="none" dirty="0">
                <a:solidFill>
                  <a:schemeClr val="dk1"/>
                </a:solidFill>
                <a:effectLst/>
                <a:latin typeface="Arial"/>
                <a:ea typeface="Arial"/>
                <a:cs typeface="Arial"/>
                <a:sym typeface="Arial"/>
              </a:rPr>
              <a:t>convex hull is essentially an algorithm to decide21 which points in P </a:t>
            </a:r>
            <a:r>
              <a:rPr lang="en-CA" sz="3200" b="0" i="0" u="none" strike="noStrike" cap="none" dirty="0" err="1">
                <a:solidFill>
                  <a:schemeClr val="dk1"/>
                </a:solidFill>
                <a:effectLst/>
                <a:latin typeface="Arial"/>
                <a:ea typeface="Arial"/>
                <a:cs typeface="Arial"/>
                <a:sym typeface="Arial"/>
              </a:rPr>
              <a:t>ts</a:t>
            </a:r>
            <a:r>
              <a:rPr lang="en-CA" sz="3200" b="0" i="0" u="none" strike="noStrike" cap="none" dirty="0">
                <a:solidFill>
                  <a:schemeClr val="dk1"/>
                </a:solidFill>
                <a:effectLst/>
                <a:latin typeface="Arial"/>
                <a:ea typeface="Arial"/>
                <a:cs typeface="Arial"/>
                <a:sym typeface="Arial"/>
              </a:rPr>
              <a:t> should be chosen as</a:t>
            </a:r>
          </a:p>
          <a:p>
            <a:r>
              <a:rPr lang="en-CA" sz="3200" b="0" i="0" u="none" strike="noStrike" cap="none" dirty="0">
                <a:solidFill>
                  <a:schemeClr val="dk1"/>
                </a:solidFill>
                <a:effectLst/>
                <a:latin typeface="Arial"/>
                <a:ea typeface="Arial"/>
                <a:cs typeface="Arial"/>
                <a:sym typeface="Arial"/>
              </a:rPr>
              <a:t>part of the convex hull. There are several </a:t>
            </a:r>
            <a:r>
              <a:rPr lang="en-CA" sz="3200" b="0" i="0" u="none" strike="noStrike" cap="none" dirty="0" err="1">
                <a:solidFill>
                  <a:schemeClr val="dk1"/>
                </a:solidFill>
                <a:effectLst/>
                <a:latin typeface="Arial"/>
                <a:ea typeface="Arial"/>
                <a:cs typeface="Arial"/>
                <a:sym typeface="Arial"/>
              </a:rPr>
              <a:t>ecient</a:t>
            </a:r>
            <a:r>
              <a:rPr lang="en-CA" sz="3200" b="0" i="0" u="none" strike="noStrike" cap="none" dirty="0">
                <a:solidFill>
                  <a:schemeClr val="dk1"/>
                </a:solidFill>
                <a:effectLst/>
                <a:latin typeface="Arial"/>
                <a:ea typeface="Arial"/>
                <a:cs typeface="Arial"/>
                <a:sym typeface="Arial"/>
              </a:rPr>
              <a:t> convex hull finding algorithms available.</a:t>
            </a:r>
          </a:p>
          <a:p>
            <a:r>
              <a:rPr lang="en-CA" sz="3200" b="0" i="0" u="none" strike="noStrike" cap="none" dirty="0">
                <a:solidFill>
                  <a:schemeClr val="dk1"/>
                </a:solidFill>
                <a:effectLst/>
                <a:latin typeface="Arial"/>
                <a:ea typeface="Arial"/>
                <a:cs typeface="Arial"/>
                <a:sym typeface="Arial"/>
              </a:rPr>
              <a:t>In this section, we present two of them: the O(n log n) Ronald Graham’s Scan algorithm</a:t>
            </a:r>
          </a:p>
          <a:p>
            <a:r>
              <a:rPr lang="en-CA" sz="3200" b="0" i="0" u="none" strike="noStrike" cap="none" dirty="0">
                <a:solidFill>
                  <a:schemeClr val="dk1"/>
                </a:solidFill>
                <a:effectLst/>
                <a:latin typeface="Arial"/>
                <a:ea typeface="Arial"/>
                <a:cs typeface="Arial"/>
                <a:sym typeface="Arial"/>
              </a:rPr>
              <a:t>(for historical purpose) followed by the more </a:t>
            </a:r>
            <a:r>
              <a:rPr lang="en-CA" sz="3200" b="0" i="0" u="none" strike="noStrike" cap="none" dirty="0" err="1">
                <a:solidFill>
                  <a:schemeClr val="dk1"/>
                </a:solidFill>
                <a:effectLst/>
                <a:latin typeface="Arial"/>
                <a:ea typeface="Arial"/>
                <a:cs typeface="Arial"/>
                <a:sym typeface="Arial"/>
              </a:rPr>
              <a:t>ecient</a:t>
            </a:r>
            <a:r>
              <a:rPr lang="en-CA" sz="3200" b="0" i="0" u="none" strike="noStrike" cap="none" dirty="0">
                <a:solidFill>
                  <a:schemeClr val="dk1"/>
                </a:solidFill>
                <a:effectLst/>
                <a:latin typeface="Arial"/>
                <a:ea typeface="Arial"/>
                <a:cs typeface="Arial"/>
                <a:sym typeface="Arial"/>
              </a:rPr>
              <a:t> O(n log n) Andrew’s Monotone Chain</a:t>
            </a:r>
          </a:p>
          <a:p>
            <a:r>
              <a:rPr lang="en-CA" sz="3200" b="0" i="0" u="none" strike="noStrike" cap="none" dirty="0">
                <a:solidFill>
                  <a:schemeClr val="dk1"/>
                </a:solidFill>
                <a:effectLst/>
                <a:latin typeface="Arial"/>
                <a:ea typeface="Arial"/>
                <a:cs typeface="Arial"/>
                <a:sym typeface="Arial"/>
              </a:rPr>
              <a:t>algorithm (our default).</a:t>
            </a:r>
          </a:p>
        </p:txBody>
      </p:sp>
      <p:sp>
        <p:nvSpPr>
          <p:cNvPr id="221" name="Google Shape;221;g37c4946a550_0_194:notes">
            <a:extLst>
              <a:ext uri="{FF2B5EF4-FFF2-40B4-BE49-F238E27FC236}">
                <a16:creationId xmlns:a16="http://schemas.microsoft.com/office/drawing/2014/main" id="{96F2D981-ACD8-BC0B-8550-6023886BFA25}"/>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3501061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BA934CA3-3159-12C5-A44A-698465E555DE}"/>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C3684FD1-0C62-21EC-53AB-FD5AC78AD0B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9DE82795-EC7E-E4A1-4DAF-7F30086AC18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CA" sz="3200" b="0" i="0" u="none" strike="noStrike" cap="none" dirty="0">
                <a:solidFill>
                  <a:schemeClr val="dk1"/>
                </a:solidFill>
                <a:effectLst/>
                <a:latin typeface="Arial"/>
                <a:ea typeface="Arial"/>
                <a:cs typeface="Arial"/>
                <a:sym typeface="Arial"/>
              </a:rPr>
              <a:t>As every vertex in CH(P </a:t>
            </a:r>
            <a:r>
              <a:rPr lang="en-CA" sz="3200" b="0" i="0" u="none" strike="noStrike" cap="none" dirty="0" err="1">
                <a:solidFill>
                  <a:schemeClr val="dk1"/>
                </a:solidFill>
                <a:effectLst/>
                <a:latin typeface="Arial"/>
                <a:ea typeface="Arial"/>
                <a:cs typeface="Arial"/>
                <a:sym typeface="Arial"/>
              </a:rPr>
              <a:t>ts</a:t>
            </a:r>
            <a:r>
              <a:rPr lang="en-CA" sz="3200" b="0" i="0" u="none" strike="noStrike" cap="none" dirty="0">
                <a:solidFill>
                  <a:schemeClr val="dk1"/>
                </a:solidFill>
                <a:effectLst/>
                <a:latin typeface="Arial"/>
                <a:ea typeface="Arial"/>
                <a:cs typeface="Arial"/>
                <a:sym typeface="Arial"/>
              </a:rPr>
              <a:t>) is a vertex in the set of points P </a:t>
            </a:r>
            <a:r>
              <a:rPr lang="en-CA" sz="3200" b="0" i="0" u="none" strike="noStrike" cap="none" dirty="0" err="1">
                <a:solidFill>
                  <a:schemeClr val="dk1"/>
                </a:solidFill>
                <a:effectLst/>
                <a:latin typeface="Arial"/>
                <a:ea typeface="Arial"/>
                <a:cs typeface="Arial"/>
                <a:sym typeface="Arial"/>
              </a:rPr>
              <a:t>ts</a:t>
            </a:r>
            <a:r>
              <a:rPr lang="en-CA" sz="3200" b="0" i="0" u="none" strike="noStrike" cap="none" dirty="0">
                <a:solidFill>
                  <a:schemeClr val="dk1"/>
                </a:solidFill>
                <a:effectLst/>
                <a:latin typeface="Arial"/>
                <a:ea typeface="Arial"/>
                <a:cs typeface="Arial"/>
                <a:sym typeface="Arial"/>
              </a:rPr>
              <a:t> itself, the algorithm for finding</a:t>
            </a:r>
          </a:p>
          <a:p>
            <a:r>
              <a:rPr lang="en-CA" sz="3200" b="0" i="0" u="none" strike="noStrike" cap="none" dirty="0">
                <a:solidFill>
                  <a:schemeClr val="dk1"/>
                </a:solidFill>
                <a:effectLst/>
                <a:latin typeface="Arial"/>
                <a:ea typeface="Arial"/>
                <a:cs typeface="Arial"/>
                <a:sym typeface="Arial"/>
              </a:rPr>
              <a:t>convex hull is essentially an algorithm to decide21 which points in P </a:t>
            </a:r>
            <a:r>
              <a:rPr lang="en-CA" sz="3200" b="0" i="0" u="none" strike="noStrike" cap="none" dirty="0" err="1">
                <a:solidFill>
                  <a:schemeClr val="dk1"/>
                </a:solidFill>
                <a:effectLst/>
                <a:latin typeface="Arial"/>
                <a:ea typeface="Arial"/>
                <a:cs typeface="Arial"/>
                <a:sym typeface="Arial"/>
              </a:rPr>
              <a:t>ts</a:t>
            </a:r>
            <a:r>
              <a:rPr lang="en-CA" sz="3200" b="0" i="0" u="none" strike="noStrike" cap="none" dirty="0">
                <a:solidFill>
                  <a:schemeClr val="dk1"/>
                </a:solidFill>
                <a:effectLst/>
                <a:latin typeface="Arial"/>
                <a:ea typeface="Arial"/>
                <a:cs typeface="Arial"/>
                <a:sym typeface="Arial"/>
              </a:rPr>
              <a:t> should be chosen as</a:t>
            </a:r>
          </a:p>
          <a:p>
            <a:r>
              <a:rPr lang="en-CA" sz="3200" b="0" i="0" u="none" strike="noStrike" cap="none" dirty="0">
                <a:solidFill>
                  <a:schemeClr val="dk1"/>
                </a:solidFill>
                <a:effectLst/>
                <a:latin typeface="Arial"/>
                <a:ea typeface="Arial"/>
                <a:cs typeface="Arial"/>
                <a:sym typeface="Arial"/>
              </a:rPr>
              <a:t>part of the convex hull. There are several </a:t>
            </a:r>
            <a:r>
              <a:rPr lang="en-CA" sz="3200" b="0" i="0" u="none" strike="noStrike" cap="none" dirty="0" err="1">
                <a:solidFill>
                  <a:schemeClr val="dk1"/>
                </a:solidFill>
                <a:effectLst/>
                <a:latin typeface="Arial"/>
                <a:ea typeface="Arial"/>
                <a:cs typeface="Arial"/>
                <a:sym typeface="Arial"/>
              </a:rPr>
              <a:t>ecient</a:t>
            </a:r>
            <a:r>
              <a:rPr lang="en-CA" sz="3200" b="0" i="0" u="none" strike="noStrike" cap="none" dirty="0">
                <a:solidFill>
                  <a:schemeClr val="dk1"/>
                </a:solidFill>
                <a:effectLst/>
                <a:latin typeface="Arial"/>
                <a:ea typeface="Arial"/>
                <a:cs typeface="Arial"/>
                <a:sym typeface="Arial"/>
              </a:rPr>
              <a:t> convex hull finding algorithms available.</a:t>
            </a:r>
          </a:p>
          <a:p>
            <a:r>
              <a:rPr lang="en-CA" sz="3200" b="0" i="0" u="none" strike="noStrike" cap="none" dirty="0">
                <a:solidFill>
                  <a:schemeClr val="dk1"/>
                </a:solidFill>
                <a:effectLst/>
                <a:latin typeface="Arial"/>
                <a:ea typeface="Arial"/>
                <a:cs typeface="Arial"/>
                <a:sym typeface="Arial"/>
              </a:rPr>
              <a:t>In this section, we present two of them: the O(n log n) Ronald Graham’s Scan algorithm</a:t>
            </a:r>
          </a:p>
          <a:p>
            <a:r>
              <a:rPr lang="en-CA" sz="3200" b="0" i="0" u="none" strike="noStrike" cap="none" dirty="0">
                <a:solidFill>
                  <a:schemeClr val="dk1"/>
                </a:solidFill>
                <a:effectLst/>
                <a:latin typeface="Arial"/>
                <a:ea typeface="Arial"/>
                <a:cs typeface="Arial"/>
                <a:sym typeface="Arial"/>
              </a:rPr>
              <a:t>(for historical purpose) followed by the more </a:t>
            </a:r>
            <a:r>
              <a:rPr lang="en-CA" sz="3200" b="0" i="0" u="none" strike="noStrike" cap="none" dirty="0" err="1">
                <a:solidFill>
                  <a:schemeClr val="dk1"/>
                </a:solidFill>
                <a:effectLst/>
                <a:latin typeface="Arial"/>
                <a:ea typeface="Arial"/>
                <a:cs typeface="Arial"/>
                <a:sym typeface="Arial"/>
              </a:rPr>
              <a:t>ecient</a:t>
            </a:r>
            <a:r>
              <a:rPr lang="en-CA" sz="3200" b="0" i="0" u="none" strike="noStrike" cap="none" dirty="0">
                <a:solidFill>
                  <a:schemeClr val="dk1"/>
                </a:solidFill>
                <a:effectLst/>
                <a:latin typeface="Arial"/>
                <a:ea typeface="Arial"/>
                <a:cs typeface="Arial"/>
                <a:sym typeface="Arial"/>
              </a:rPr>
              <a:t> O(n log n) Andrew’s Monotone Chain</a:t>
            </a:r>
          </a:p>
          <a:p>
            <a:r>
              <a:rPr lang="en-CA" sz="3200" b="0" i="0" u="none" strike="noStrike" cap="none" dirty="0">
                <a:solidFill>
                  <a:schemeClr val="dk1"/>
                </a:solidFill>
                <a:effectLst/>
                <a:latin typeface="Arial"/>
                <a:ea typeface="Arial"/>
                <a:cs typeface="Arial"/>
                <a:sym typeface="Arial"/>
              </a:rPr>
              <a:t>algorithm (our default).</a:t>
            </a:r>
          </a:p>
          <a:p>
            <a:endParaRPr lang="en-CA" sz="3200" b="0" i="0" u="none" strike="noStrike" cap="none" dirty="0">
              <a:solidFill>
                <a:schemeClr val="dk1"/>
              </a:solidFill>
              <a:effectLst/>
              <a:latin typeface="Arial"/>
              <a:ea typeface="Arial"/>
              <a:cs typeface="Arial"/>
              <a:sym typeface="Arial"/>
            </a:endParaRPr>
          </a:p>
          <a:p>
            <a:endParaRPr lang="en-CA" sz="3200" b="0" i="0" u="none" strike="noStrike" cap="none" dirty="0">
              <a:solidFill>
                <a:schemeClr val="dk1"/>
              </a:solidFill>
              <a:effectLst/>
              <a:latin typeface="Arial"/>
              <a:ea typeface="Arial"/>
              <a:cs typeface="Arial"/>
              <a:sym typeface="Arial"/>
            </a:endParaRPr>
          </a:p>
          <a:p>
            <a:r>
              <a:rPr lang="en-CA" sz="3200" b="0" i="0" u="none" strike="noStrike" cap="none" dirty="0">
                <a:solidFill>
                  <a:schemeClr val="dk1"/>
                </a:solidFill>
                <a:effectLst/>
                <a:latin typeface="Arial"/>
                <a:ea typeface="Arial"/>
                <a:cs typeface="Arial"/>
                <a:sym typeface="Arial"/>
              </a:rPr>
              <a:t>LOOK AT VISUALGO</a:t>
            </a:r>
          </a:p>
        </p:txBody>
      </p:sp>
      <p:sp>
        <p:nvSpPr>
          <p:cNvPr id="221" name="Google Shape;221;g37c4946a550_0_194:notes">
            <a:extLst>
              <a:ext uri="{FF2B5EF4-FFF2-40B4-BE49-F238E27FC236}">
                <a16:creationId xmlns:a16="http://schemas.microsoft.com/office/drawing/2014/main" id="{5E779D19-5505-ED1E-2070-8F8ED7F8E572}"/>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4075338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D3D71CC5-B3C2-7E59-6DF6-7655CF64E495}"/>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F89B79B3-AB23-47E5-B1B4-ACAF46B5B5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017DD0AE-BB3B-5CE3-341E-6CBF09E61971}"/>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CA" sz="3200" b="0" i="0" u="none" strike="noStrike" cap="none" dirty="0">
                <a:solidFill>
                  <a:schemeClr val="dk1"/>
                </a:solidFill>
                <a:effectLst/>
                <a:latin typeface="Arial"/>
                <a:ea typeface="Arial"/>
                <a:cs typeface="Arial"/>
                <a:sym typeface="Arial"/>
              </a:rPr>
              <a:t>LOOK AT VISUALGO</a:t>
            </a:r>
          </a:p>
        </p:txBody>
      </p:sp>
      <p:sp>
        <p:nvSpPr>
          <p:cNvPr id="221" name="Google Shape;221;g37c4946a550_0_194:notes">
            <a:extLst>
              <a:ext uri="{FF2B5EF4-FFF2-40B4-BE49-F238E27FC236}">
                <a16:creationId xmlns:a16="http://schemas.microsoft.com/office/drawing/2014/main" id="{A1BC648A-6146-5EAE-81FA-4630396733F7}"/>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5796330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B6B70FCA-B5C6-E536-0BAF-8B6339186325}"/>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76EE5F68-A07D-ABEA-59B4-E0836A16170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032C0F7F-3555-4493-8331-86642152996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en-CA" sz="3200" b="0" i="0" u="none" strike="noStrike" cap="none" dirty="0">
              <a:solidFill>
                <a:schemeClr val="dk1"/>
              </a:solidFill>
              <a:effectLst/>
              <a:latin typeface="Arial"/>
              <a:ea typeface="Arial"/>
              <a:cs typeface="Arial"/>
              <a:sym typeface="Arial"/>
            </a:endParaRPr>
          </a:p>
        </p:txBody>
      </p:sp>
      <p:sp>
        <p:nvSpPr>
          <p:cNvPr id="221" name="Google Shape;221;g37c4946a550_0_194:notes">
            <a:extLst>
              <a:ext uri="{FF2B5EF4-FFF2-40B4-BE49-F238E27FC236}">
                <a16:creationId xmlns:a16="http://schemas.microsoft.com/office/drawing/2014/main" id="{C35D6129-8A60-DC90-7094-F5E0AAE44443}"/>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691134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2"/>
        </a:solidFill>
        <a:effectLst/>
      </p:bgPr>
    </p:bg>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1600200" y="2386744"/>
            <a:ext cx="8991600" cy="1645920"/>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2695194" y="4352544"/>
            <a:ext cx="6801612" cy="1239894"/>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a:endParaRPr/>
          </a:p>
        </p:txBody>
      </p:sp>
      <p:sp>
        <p:nvSpPr>
          <p:cNvPr id="18" name="Google Shape;18;p7"/>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7"/>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8"/>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8"/>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30" name="Google Shape;30;p8"/>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8"/>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8"/>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2"/>
        </a:solidFill>
        <a:effectLst/>
      </p:bgPr>
    </p:bg>
    <p:spTree>
      <p:nvGrpSpPr>
        <p:cNvPr id="1" name="Shape 33"/>
        <p:cNvGrpSpPr/>
        <p:nvPr/>
      </p:nvGrpSpPr>
      <p:grpSpPr>
        <a:xfrm>
          <a:off x="0" y="0"/>
          <a:ext cx="0" cy="0"/>
          <a:chOff x="0" y="0"/>
          <a:chExt cx="0" cy="0"/>
        </a:xfrm>
      </p:grpSpPr>
      <p:sp>
        <p:nvSpPr>
          <p:cNvPr id="34" name="Google Shape;34;p6"/>
          <p:cNvSpPr txBox="1">
            <a:spLocks noGrp="1"/>
          </p:cNvSpPr>
          <p:nvPr>
            <p:ph type="ctrTitle"/>
          </p:nvPr>
        </p:nvSpPr>
        <p:spPr>
          <a:xfrm>
            <a:off x="1600200" y="2386744"/>
            <a:ext cx="8991600" cy="1645920"/>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subTitle" idx="1"/>
          </p:nvPr>
        </p:nvSpPr>
        <p:spPr>
          <a:xfrm>
            <a:off x="2695194" y="4352544"/>
            <a:ext cx="6801612" cy="1239894"/>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a:endParaRPr/>
          </a:p>
        </p:txBody>
      </p:sp>
      <p:sp>
        <p:nvSpPr>
          <p:cNvPr id="36" name="Google Shape;36;p6"/>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6"/>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1"/>
        </a:solidFill>
        <a:effectLst/>
      </p:bgPr>
    </p:bg>
    <p:spTree>
      <p:nvGrpSpPr>
        <p:cNvPr id="1" name="Shape 39"/>
        <p:cNvGrpSpPr/>
        <p:nvPr/>
      </p:nvGrpSpPr>
      <p:grpSpPr>
        <a:xfrm>
          <a:off x="0" y="0"/>
          <a:ext cx="0" cy="0"/>
          <a:chOff x="0" y="0"/>
          <a:chExt cx="0" cy="0"/>
        </a:xfrm>
      </p:grpSpPr>
      <p:sp>
        <p:nvSpPr>
          <p:cNvPr id="40" name="Google Shape;40;p9"/>
          <p:cNvSpPr txBox="1">
            <a:spLocks noGrp="1"/>
          </p:cNvSpPr>
          <p:nvPr>
            <p:ph type="title"/>
          </p:nvPr>
        </p:nvSpPr>
        <p:spPr>
          <a:xfrm>
            <a:off x="1600200" y="2386744"/>
            <a:ext cx="8991600" cy="1645920"/>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9"/>
          <p:cNvSpPr txBox="1">
            <a:spLocks noGrp="1"/>
          </p:cNvSpPr>
          <p:nvPr>
            <p:ph type="body" idx="1"/>
          </p:nvPr>
        </p:nvSpPr>
        <p:spPr>
          <a:xfrm>
            <a:off x="2695194" y="4352465"/>
            <a:ext cx="6801612" cy="1265082"/>
          </a:xfrm>
          <a:prstGeom prst="rect">
            <a:avLst/>
          </a:prstGeom>
          <a:noFill/>
          <a:ln>
            <a:noFill/>
          </a:ln>
        </p:spPr>
        <p:txBody>
          <a:bodyPr spcFirstLastPara="1" wrap="square" lIns="91425" tIns="45700" rIns="91425" bIns="45700" anchor="t" anchorCtr="1">
            <a:normAutofit/>
          </a:bodyPr>
          <a:lstStyle>
            <a:lvl1pPr marL="457200" lvl="0" indent="-228600" algn="l">
              <a:lnSpc>
                <a:spcPct val="100000"/>
              </a:lnSpc>
              <a:spcBef>
                <a:spcPts val="1000"/>
              </a:spcBef>
              <a:spcAft>
                <a:spcPts val="0"/>
              </a:spcAft>
              <a:buSzPts val="2000"/>
              <a:buNone/>
              <a:defRPr sz="2000">
                <a:solidFill>
                  <a:schemeClr val="lt1"/>
                </a:solidFill>
              </a:defRPr>
            </a:lvl1pPr>
            <a:lvl2pPr marL="914400" lvl="1" indent="-228600" algn="l">
              <a:lnSpc>
                <a:spcPct val="100000"/>
              </a:lnSpc>
              <a:spcBef>
                <a:spcPts val="1000"/>
              </a:spcBef>
              <a:spcAft>
                <a:spcPts val="0"/>
              </a:spcAft>
              <a:buSzPts val="2000"/>
              <a:buNone/>
              <a:defRPr sz="2000">
                <a:solidFill>
                  <a:schemeClr val="lt1"/>
                </a:solidFill>
              </a:defRPr>
            </a:lvl2pPr>
            <a:lvl3pPr marL="1371600" lvl="2" indent="-228600" algn="l">
              <a:lnSpc>
                <a:spcPct val="100000"/>
              </a:lnSpc>
              <a:spcBef>
                <a:spcPts val="1000"/>
              </a:spcBef>
              <a:spcAft>
                <a:spcPts val="0"/>
              </a:spcAft>
              <a:buSzPts val="1800"/>
              <a:buNone/>
              <a:defRPr sz="1800">
                <a:solidFill>
                  <a:schemeClr val="lt1"/>
                </a:solidFill>
              </a:defRPr>
            </a:lvl3pPr>
            <a:lvl4pPr marL="1828800" lvl="3" indent="-228600" algn="l">
              <a:lnSpc>
                <a:spcPct val="100000"/>
              </a:lnSpc>
              <a:spcBef>
                <a:spcPts val="1000"/>
              </a:spcBef>
              <a:spcAft>
                <a:spcPts val="0"/>
              </a:spcAft>
              <a:buSzPts val="1600"/>
              <a:buNone/>
              <a:defRPr sz="1600">
                <a:solidFill>
                  <a:schemeClr val="lt1"/>
                </a:solidFill>
              </a:defRPr>
            </a:lvl4pPr>
            <a:lvl5pPr marL="2286000" lvl="4" indent="-228600" algn="l">
              <a:lnSpc>
                <a:spcPct val="100000"/>
              </a:lnSpc>
              <a:spcBef>
                <a:spcPts val="1000"/>
              </a:spcBef>
              <a:spcAft>
                <a:spcPts val="0"/>
              </a:spcAft>
              <a:buSzPts val="1600"/>
              <a:buNone/>
              <a:defRPr sz="1600">
                <a:solidFill>
                  <a:schemeClr val="lt1"/>
                </a:solidFill>
              </a:defRPr>
            </a:lvl5pPr>
            <a:lvl6pPr marL="2743200" lvl="5" indent="-228600" algn="l">
              <a:lnSpc>
                <a:spcPct val="100000"/>
              </a:lnSpc>
              <a:spcBef>
                <a:spcPts val="1000"/>
              </a:spcBef>
              <a:spcAft>
                <a:spcPts val="0"/>
              </a:spcAft>
              <a:buSzPts val="1600"/>
              <a:buNone/>
              <a:defRPr sz="1600">
                <a:solidFill>
                  <a:schemeClr val="lt1"/>
                </a:solidFill>
              </a:defRPr>
            </a:lvl6pPr>
            <a:lvl7pPr marL="3200400" lvl="6" indent="-228600" algn="l">
              <a:lnSpc>
                <a:spcPct val="100000"/>
              </a:lnSpc>
              <a:spcBef>
                <a:spcPts val="1000"/>
              </a:spcBef>
              <a:spcAft>
                <a:spcPts val="0"/>
              </a:spcAft>
              <a:buSzPts val="1600"/>
              <a:buNone/>
              <a:defRPr sz="1600">
                <a:solidFill>
                  <a:schemeClr val="lt1"/>
                </a:solidFill>
              </a:defRPr>
            </a:lvl7pPr>
            <a:lvl8pPr marL="3657600" lvl="7" indent="-228600" algn="l">
              <a:lnSpc>
                <a:spcPct val="100000"/>
              </a:lnSpc>
              <a:spcBef>
                <a:spcPts val="1000"/>
              </a:spcBef>
              <a:spcAft>
                <a:spcPts val="0"/>
              </a:spcAft>
              <a:buSzPts val="1600"/>
              <a:buNone/>
              <a:defRPr sz="1600">
                <a:solidFill>
                  <a:schemeClr val="lt1"/>
                </a:solidFill>
              </a:defRPr>
            </a:lvl8pPr>
            <a:lvl9pPr marL="4114800" lvl="8" indent="-228600" algn="l">
              <a:lnSpc>
                <a:spcPct val="100000"/>
              </a:lnSpc>
              <a:spcBef>
                <a:spcPts val="1000"/>
              </a:spcBef>
              <a:spcAft>
                <a:spcPts val="0"/>
              </a:spcAft>
              <a:buSzPts val="1600"/>
              <a:buNone/>
              <a:defRPr sz="1600">
                <a:solidFill>
                  <a:schemeClr val="lt1"/>
                </a:solidFill>
              </a:defRPr>
            </a:lvl9pPr>
          </a:lstStyle>
          <a:p>
            <a:endParaRPr/>
          </a:p>
        </p:txBody>
      </p:sp>
      <p:sp>
        <p:nvSpPr>
          <p:cNvPr id="42" name="Google Shape;42;p9"/>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9"/>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9"/>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5"/>
        <p:cNvGrpSpPr/>
        <p:nvPr/>
      </p:nvGrpSpPr>
      <p:grpSpPr>
        <a:xfrm>
          <a:off x="0" y="0"/>
          <a:ext cx="0" cy="0"/>
          <a:chOff x="0" y="0"/>
          <a:chExt cx="0" cy="0"/>
        </a:xfrm>
      </p:grpSpPr>
      <p:sp>
        <p:nvSpPr>
          <p:cNvPr id="46" name="Google Shape;46;p10"/>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0"/>
          <p:cNvSpPr txBox="1">
            <a:spLocks noGrp="1"/>
          </p:cNvSpPr>
          <p:nvPr>
            <p:ph type="body" idx="1"/>
          </p:nvPr>
        </p:nvSpPr>
        <p:spPr>
          <a:xfrm>
            <a:off x="1581912" y="2638044"/>
            <a:ext cx="4271771" cy="310198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48" name="Google Shape;48;p10"/>
          <p:cNvSpPr txBox="1">
            <a:spLocks noGrp="1"/>
          </p:cNvSpPr>
          <p:nvPr>
            <p:ph type="body" idx="2"/>
          </p:nvPr>
        </p:nvSpPr>
        <p:spPr>
          <a:xfrm>
            <a:off x="6338315" y="2638044"/>
            <a:ext cx="4270247" cy="310198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49" name="Google Shape;49;p10"/>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0"/>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0"/>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2"/>
        <p:cNvGrpSpPr/>
        <p:nvPr/>
      </p:nvGrpSpPr>
      <p:grpSpPr>
        <a:xfrm>
          <a:off x="0" y="0"/>
          <a:ext cx="0" cy="0"/>
          <a:chOff x="0" y="0"/>
          <a:chExt cx="0" cy="0"/>
        </a:xfrm>
      </p:grpSpPr>
      <p:sp>
        <p:nvSpPr>
          <p:cNvPr id="53" name="Google Shape;53;p11"/>
          <p:cNvSpPr txBox="1">
            <a:spLocks noGrp="1"/>
          </p:cNvSpPr>
          <p:nvPr>
            <p:ph type="body" idx="1"/>
          </p:nvPr>
        </p:nvSpPr>
        <p:spPr>
          <a:xfrm>
            <a:off x="1583436" y="2313433"/>
            <a:ext cx="4270248" cy="704087"/>
          </a:xfrm>
          <a:prstGeom prst="rect">
            <a:avLst/>
          </a:prstGeom>
          <a:noFill/>
          <a:ln>
            <a:noFill/>
          </a:ln>
        </p:spPr>
        <p:txBody>
          <a:bodyPr spcFirstLastPara="1" wrap="square" lIns="91425" tIns="45700" rIns="91425" bIns="45700" anchor="b" anchorCtr="1">
            <a:normAutofit/>
          </a:bodyPr>
          <a:lstStyle>
            <a:lvl1pPr marL="457200" lvl="0" indent="-228600" algn="ctr">
              <a:lnSpc>
                <a:spcPct val="100000"/>
              </a:lnSpc>
              <a:spcBef>
                <a:spcPts val="1000"/>
              </a:spcBef>
              <a:spcAft>
                <a:spcPts val="0"/>
              </a:spcAft>
              <a:buSzPts val="1900"/>
              <a:buNone/>
              <a:defRPr sz="1900" b="0" cap="none">
                <a:solidFill>
                  <a:srgbClr val="6B8890"/>
                </a:solidFill>
              </a:defRPr>
            </a:lvl1pPr>
            <a:lvl2pPr marL="914400" lvl="1" indent="-228600" algn="l">
              <a:lnSpc>
                <a:spcPct val="100000"/>
              </a:lnSpc>
              <a:spcBef>
                <a:spcPts val="1000"/>
              </a:spcBef>
              <a:spcAft>
                <a:spcPts val="0"/>
              </a:spcAft>
              <a:buSzPts val="1900"/>
              <a:buNone/>
              <a:defRPr sz="19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54" name="Google Shape;54;p11"/>
          <p:cNvSpPr txBox="1">
            <a:spLocks noGrp="1"/>
          </p:cNvSpPr>
          <p:nvPr>
            <p:ph type="body" idx="2"/>
          </p:nvPr>
        </p:nvSpPr>
        <p:spPr>
          <a:xfrm>
            <a:off x="1583436" y="3143250"/>
            <a:ext cx="4270248" cy="259677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5" name="Google Shape;55;p11"/>
          <p:cNvSpPr txBox="1">
            <a:spLocks noGrp="1"/>
          </p:cNvSpPr>
          <p:nvPr>
            <p:ph type="body" idx="3"/>
          </p:nvPr>
        </p:nvSpPr>
        <p:spPr>
          <a:xfrm>
            <a:off x="6338316" y="3143250"/>
            <a:ext cx="4253484" cy="259677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30200" algn="l">
              <a:lnSpc>
                <a:spcPct val="100000"/>
              </a:lnSpc>
              <a:spcBef>
                <a:spcPts val="1000"/>
              </a:spcBef>
              <a:spcAft>
                <a:spcPts val="0"/>
              </a:spcAft>
              <a:buSzPts val="16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6" name="Google Shape;56;p11"/>
          <p:cNvSpPr txBox="1">
            <a:spLocks noGrp="1"/>
          </p:cNvSpPr>
          <p:nvPr>
            <p:ph type="body" idx="4"/>
          </p:nvPr>
        </p:nvSpPr>
        <p:spPr>
          <a:xfrm>
            <a:off x="6338316" y="2313433"/>
            <a:ext cx="4270248" cy="704087"/>
          </a:xfrm>
          <a:prstGeom prst="rect">
            <a:avLst/>
          </a:prstGeom>
          <a:noFill/>
          <a:ln>
            <a:noFill/>
          </a:ln>
        </p:spPr>
        <p:txBody>
          <a:bodyPr spcFirstLastPara="1" wrap="square" lIns="91425" tIns="45700" rIns="91425" bIns="45700" anchor="b" anchorCtr="1">
            <a:normAutofit/>
          </a:bodyPr>
          <a:lstStyle>
            <a:lvl1pPr marL="457200" lvl="0" indent="-228600" algn="ctr">
              <a:lnSpc>
                <a:spcPct val="100000"/>
              </a:lnSpc>
              <a:spcBef>
                <a:spcPts val="1000"/>
              </a:spcBef>
              <a:spcAft>
                <a:spcPts val="0"/>
              </a:spcAft>
              <a:buSzPts val="1900"/>
              <a:buNone/>
              <a:defRPr sz="1900" b="0" cap="none">
                <a:solidFill>
                  <a:srgbClr val="6B8890"/>
                </a:solidFill>
              </a:defRPr>
            </a:lvl1pPr>
            <a:lvl2pPr marL="914400" lvl="1" indent="-228600" algn="l">
              <a:lnSpc>
                <a:spcPct val="100000"/>
              </a:lnSpc>
              <a:spcBef>
                <a:spcPts val="1000"/>
              </a:spcBef>
              <a:spcAft>
                <a:spcPts val="0"/>
              </a:spcAft>
              <a:buSzPts val="1900"/>
              <a:buNone/>
              <a:defRPr sz="19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57" name="Google Shape;57;p11"/>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1"/>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1"/>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60" name="Google Shape;60;p11"/>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1"/>
        <p:cNvGrpSpPr/>
        <p:nvPr/>
      </p:nvGrpSpPr>
      <p:grpSpPr>
        <a:xfrm>
          <a:off x="0" y="0"/>
          <a:ext cx="0" cy="0"/>
          <a:chOff x="0" y="0"/>
          <a:chExt cx="0" cy="0"/>
        </a:xfrm>
      </p:grpSpPr>
      <p:sp>
        <p:nvSpPr>
          <p:cNvPr id="62" name="Google Shape;62;p12"/>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2"/>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2"/>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2"/>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
        <p:nvSpPr>
          <p:cNvPr id="67" name="Google Shape;67;p13"/>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3"/>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3"/>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14"/>
          <p:cNvSpPr/>
          <p:nvPr/>
        </p:nvSpPr>
        <p:spPr>
          <a:xfrm>
            <a:off x="0" y="0"/>
            <a:ext cx="6096000"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4"/>
          <p:cNvSpPr txBox="1">
            <a:spLocks noGrp="1"/>
          </p:cNvSpPr>
          <p:nvPr>
            <p:ph type="title"/>
          </p:nvPr>
        </p:nvSpPr>
        <p:spPr>
          <a:xfrm>
            <a:off x="804672" y="2243828"/>
            <a:ext cx="4486656" cy="1141497"/>
          </a:xfrm>
          <a:prstGeom prst="rect">
            <a:avLst/>
          </a:prstGeom>
          <a:solidFill>
            <a:srgbClr val="FFFFFF"/>
          </a:solidFill>
          <a:ln w="9525" cap="flat" cmpd="sng">
            <a:solidFill>
              <a:srgbClr val="404040"/>
            </a:solidFill>
            <a:prstDash val="solid"/>
            <a:round/>
            <a:headEnd type="none" w="sm" len="sm"/>
            <a:tailEnd type="none" w="sm" len="sm"/>
          </a:ln>
        </p:spPr>
        <p:txBody>
          <a:bodyPr spcFirstLastPara="1" wrap="square" lIns="182875" tIns="182875" rIns="182875" bIns="182875" anchor="ctr" anchorCtr="1">
            <a:normAutofit/>
          </a:bodyPr>
          <a:lstStyle>
            <a:lvl1pPr lvl="0" algn="ctr">
              <a:lnSpc>
                <a:spcPct val="90000"/>
              </a:lnSpc>
              <a:spcBef>
                <a:spcPts val="0"/>
              </a:spcBef>
              <a:spcAft>
                <a:spcPts val="0"/>
              </a:spcAft>
              <a:buClr>
                <a:srgbClr val="262626"/>
              </a:buClr>
              <a:buSzPts val="2200"/>
              <a:buFont typeface="Gill Sans"/>
              <a:buNone/>
              <a:defRPr sz="22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14"/>
          <p:cNvSpPr txBox="1">
            <a:spLocks noGrp="1"/>
          </p:cNvSpPr>
          <p:nvPr>
            <p:ph type="body" idx="1"/>
          </p:nvPr>
        </p:nvSpPr>
        <p:spPr>
          <a:xfrm>
            <a:off x="6736080" y="804672"/>
            <a:ext cx="4815840" cy="5248656"/>
          </a:xfrm>
          <a:prstGeom prst="rect">
            <a:avLst/>
          </a:prstGeom>
          <a:noFill/>
          <a:ln>
            <a:noFill/>
          </a:ln>
        </p:spPr>
        <p:txBody>
          <a:bodyPr spcFirstLastPara="1" wrap="square" lIns="91425" tIns="45700" rIns="91425" bIns="45700" anchor="t" anchorCtr="0">
            <a:normAutofit/>
          </a:bodyPr>
          <a:lstStyle>
            <a:lvl1pPr marL="457200" lvl="0" indent="-349250" algn="l">
              <a:lnSpc>
                <a:spcPct val="100000"/>
              </a:lnSpc>
              <a:spcBef>
                <a:spcPts val="1000"/>
              </a:spcBef>
              <a:spcAft>
                <a:spcPts val="0"/>
              </a:spcAft>
              <a:buSzPts val="1900"/>
              <a:buChar char="•"/>
              <a:defRPr sz="1900">
                <a:solidFill>
                  <a:schemeClr val="dk1"/>
                </a:solidFill>
              </a:defRPr>
            </a:lvl1pPr>
            <a:lvl2pPr marL="914400" lvl="1" indent="-330200" algn="l">
              <a:lnSpc>
                <a:spcPct val="100000"/>
              </a:lnSpc>
              <a:spcBef>
                <a:spcPts val="1000"/>
              </a:spcBef>
              <a:spcAft>
                <a:spcPts val="0"/>
              </a:spcAft>
              <a:buSzPts val="1600"/>
              <a:buChar char="•"/>
              <a:defRPr sz="1600">
                <a:solidFill>
                  <a:schemeClr val="dk1"/>
                </a:solidFill>
              </a:defRPr>
            </a:lvl2pPr>
            <a:lvl3pPr marL="1371600" lvl="2" indent="-330200" algn="l">
              <a:lnSpc>
                <a:spcPct val="100000"/>
              </a:lnSpc>
              <a:spcBef>
                <a:spcPts val="1000"/>
              </a:spcBef>
              <a:spcAft>
                <a:spcPts val="0"/>
              </a:spcAft>
              <a:buSzPts val="1600"/>
              <a:buChar char="•"/>
              <a:defRPr sz="1600">
                <a:solidFill>
                  <a:schemeClr val="dk1"/>
                </a:solidFill>
              </a:defRPr>
            </a:lvl3pPr>
            <a:lvl4pPr marL="1828800" lvl="3" indent="-330200" algn="l">
              <a:lnSpc>
                <a:spcPct val="100000"/>
              </a:lnSpc>
              <a:spcBef>
                <a:spcPts val="1000"/>
              </a:spcBef>
              <a:spcAft>
                <a:spcPts val="0"/>
              </a:spcAft>
              <a:buSzPts val="1600"/>
              <a:buChar char="•"/>
              <a:defRPr sz="1600">
                <a:solidFill>
                  <a:schemeClr val="dk1"/>
                </a:solidFill>
              </a:defRPr>
            </a:lvl4pPr>
            <a:lvl5pPr marL="2286000" lvl="4" indent="-330200" algn="l">
              <a:lnSpc>
                <a:spcPct val="100000"/>
              </a:lnSpc>
              <a:spcBef>
                <a:spcPts val="1000"/>
              </a:spcBef>
              <a:spcAft>
                <a:spcPts val="0"/>
              </a:spcAft>
              <a:buSzPts val="1600"/>
              <a:buChar char="•"/>
              <a:defRPr sz="1600">
                <a:solidFill>
                  <a:schemeClr val="dk1"/>
                </a:solidFill>
              </a:defRPr>
            </a:lvl5pPr>
            <a:lvl6pPr marL="2743200" lvl="5" indent="-330200" algn="l">
              <a:lnSpc>
                <a:spcPct val="100000"/>
              </a:lnSpc>
              <a:spcBef>
                <a:spcPts val="1000"/>
              </a:spcBef>
              <a:spcAft>
                <a:spcPts val="0"/>
              </a:spcAft>
              <a:buSzPts val="1600"/>
              <a:buChar char="•"/>
              <a:defRPr sz="1600"/>
            </a:lvl6pPr>
            <a:lvl7pPr marL="3200400" lvl="6" indent="-330200" algn="l">
              <a:lnSpc>
                <a:spcPct val="100000"/>
              </a:lnSpc>
              <a:spcBef>
                <a:spcPts val="1000"/>
              </a:spcBef>
              <a:spcAft>
                <a:spcPts val="0"/>
              </a:spcAft>
              <a:buSzPts val="1600"/>
              <a:buChar char="•"/>
              <a:defRPr sz="1600"/>
            </a:lvl7pPr>
            <a:lvl8pPr marL="3657600" lvl="7" indent="-330200" algn="l">
              <a:lnSpc>
                <a:spcPct val="100000"/>
              </a:lnSpc>
              <a:spcBef>
                <a:spcPts val="1000"/>
              </a:spcBef>
              <a:spcAft>
                <a:spcPts val="0"/>
              </a:spcAft>
              <a:buSzPts val="1600"/>
              <a:buChar char="•"/>
              <a:defRPr sz="1600"/>
            </a:lvl8pPr>
            <a:lvl9pPr marL="4114800" lvl="8" indent="-330200" algn="l">
              <a:lnSpc>
                <a:spcPct val="100000"/>
              </a:lnSpc>
              <a:spcBef>
                <a:spcPts val="1000"/>
              </a:spcBef>
              <a:spcAft>
                <a:spcPts val="0"/>
              </a:spcAft>
              <a:buSzPts val="1600"/>
              <a:buChar char="•"/>
              <a:defRPr sz="1600"/>
            </a:lvl9pPr>
          </a:lstStyle>
          <a:p>
            <a:endParaRPr/>
          </a:p>
        </p:txBody>
      </p:sp>
      <p:sp>
        <p:nvSpPr>
          <p:cNvPr id="74" name="Google Shape;74;p14"/>
          <p:cNvSpPr txBox="1">
            <a:spLocks noGrp="1"/>
          </p:cNvSpPr>
          <p:nvPr>
            <p:ph type="body" idx="2"/>
          </p:nvPr>
        </p:nvSpPr>
        <p:spPr>
          <a:xfrm>
            <a:off x="1115568" y="3549918"/>
            <a:ext cx="3794760" cy="2194036"/>
          </a:xfrm>
          <a:prstGeom prst="rect">
            <a:avLst/>
          </a:prstGeom>
          <a:noFill/>
          <a:ln>
            <a:noFill/>
          </a:ln>
        </p:spPr>
        <p:txBody>
          <a:bodyPr spcFirstLastPara="1" wrap="square" lIns="91425" tIns="45700" rIns="91425" bIns="45700" anchor="t" anchorCtr="1">
            <a:normAutofit/>
          </a:bodyPr>
          <a:lstStyle>
            <a:lvl1pPr marL="457200" lvl="0" indent="-228600" algn="ctr">
              <a:lnSpc>
                <a:spcPct val="100000"/>
              </a:lnSpc>
              <a:spcBef>
                <a:spcPts val="1000"/>
              </a:spcBef>
              <a:spcAft>
                <a:spcPts val="0"/>
              </a:spcAft>
              <a:buSzPts val="1500"/>
              <a:buNone/>
              <a:defRPr sz="1500">
                <a:solidFill>
                  <a:srgbClr val="FFFFFF"/>
                </a:solidFill>
              </a:defRPr>
            </a:lvl1pPr>
            <a:lvl2pPr marL="914400" lvl="1" indent="-228600" algn="l">
              <a:lnSpc>
                <a:spcPct val="100000"/>
              </a:lnSpc>
              <a:spcBef>
                <a:spcPts val="1000"/>
              </a:spcBef>
              <a:spcAft>
                <a:spcPts val="0"/>
              </a:spcAft>
              <a:buSzPts val="1400"/>
              <a:buNone/>
              <a:defRPr sz="1400"/>
            </a:lvl2pPr>
            <a:lvl3pPr marL="1371600" lvl="2" indent="-228600" algn="l">
              <a:lnSpc>
                <a:spcPct val="100000"/>
              </a:lnSpc>
              <a:spcBef>
                <a:spcPts val="1000"/>
              </a:spcBef>
              <a:spcAft>
                <a:spcPts val="0"/>
              </a:spcAft>
              <a:buSzPts val="1200"/>
              <a:buNone/>
              <a:defRPr sz="1200"/>
            </a:lvl3pPr>
            <a:lvl4pPr marL="1828800" lvl="3" indent="-228600" algn="l">
              <a:lnSpc>
                <a:spcPct val="100000"/>
              </a:lnSpc>
              <a:spcBef>
                <a:spcPts val="1000"/>
              </a:spcBef>
              <a:spcAft>
                <a:spcPts val="0"/>
              </a:spcAft>
              <a:buSzPts val="1000"/>
              <a:buNone/>
              <a:defRPr sz="1000"/>
            </a:lvl4pPr>
            <a:lvl5pPr marL="2286000" lvl="4" indent="-228600" algn="l">
              <a:lnSpc>
                <a:spcPct val="100000"/>
              </a:lnSpc>
              <a:spcBef>
                <a:spcPts val="1000"/>
              </a:spcBef>
              <a:spcAft>
                <a:spcPts val="0"/>
              </a:spcAft>
              <a:buSzPts val="1000"/>
              <a:buNone/>
              <a:defRPr sz="1000"/>
            </a:lvl5pPr>
            <a:lvl6pPr marL="2743200" lvl="5" indent="-228600" algn="l">
              <a:lnSpc>
                <a:spcPct val="100000"/>
              </a:lnSpc>
              <a:spcBef>
                <a:spcPts val="1000"/>
              </a:spcBef>
              <a:spcAft>
                <a:spcPts val="0"/>
              </a:spcAft>
              <a:buSzPts val="1000"/>
              <a:buNone/>
              <a:defRPr sz="1000"/>
            </a:lvl6pPr>
            <a:lvl7pPr marL="3200400" lvl="6" indent="-228600" algn="l">
              <a:lnSpc>
                <a:spcPct val="100000"/>
              </a:lnSpc>
              <a:spcBef>
                <a:spcPts val="1000"/>
              </a:spcBef>
              <a:spcAft>
                <a:spcPts val="0"/>
              </a:spcAft>
              <a:buSzPts val="1000"/>
              <a:buNone/>
              <a:defRPr sz="1000"/>
            </a:lvl7pPr>
            <a:lvl8pPr marL="3657600" lvl="7" indent="-228600" algn="l">
              <a:lnSpc>
                <a:spcPct val="100000"/>
              </a:lnSpc>
              <a:spcBef>
                <a:spcPts val="1000"/>
              </a:spcBef>
              <a:spcAft>
                <a:spcPts val="0"/>
              </a:spcAft>
              <a:buSzPts val="1000"/>
              <a:buNone/>
              <a:defRPr sz="1000"/>
            </a:lvl8pPr>
            <a:lvl9pPr marL="4114800" lvl="8" indent="-228600" algn="l">
              <a:lnSpc>
                <a:spcPct val="100000"/>
              </a:lnSpc>
              <a:spcBef>
                <a:spcPts val="1000"/>
              </a:spcBef>
              <a:spcAft>
                <a:spcPts val="0"/>
              </a:spcAft>
              <a:buSzPts val="1000"/>
              <a:buNone/>
              <a:defRPr sz="1000"/>
            </a:lvl9pPr>
          </a:lstStyle>
          <a:p>
            <a:endParaRPr/>
          </a:p>
        </p:txBody>
      </p:sp>
      <p:sp>
        <p:nvSpPr>
          <p:cNvPr id="75" name="Google Shape;75;p14"/>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4"/>
          <p:cNvSpPr txBox="1">
            <a:spLocks noGrp="1"/>
          </p:cNvSpPr>
          <p:nvPr>
            <p:ph type="ftr" idx="11"/>
          </p:nvPr>
        </p:nvSpPr>
        <p:spPr>
          <a:xfrm>
            <a:off x="804672" y="6236208"/>
            <a:ext cx="5124797"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4"/>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8"/>
        <p:cNvGrpSpPr/>
        <p:nvPr/>
      </p:nvGrpSpPr>
      <p:grpSpPr>
        <a:xfrm>
          <a:off x="0" y="0"/>
          <a:ext cx="0" cy="0"/>
          <a:chOff x="0" y="0"/>
          <a:chExt cx="0" cy="0"/>
        </a:xfrm>
      </p:grpSpPr>
      <p:sp>
        <p:nvSpPr>
          <p:cNvPr id="79" name="Google Shape;79;p15"/>
          <p:cNvSpPr/>
          <p:nvPr/>
        </p:nvSpPr>
        <p:spPr>
          <a:xfrm>
            <a:off x="0" y="0"/>
            <a:ext cx="6095999"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5"/>
          <p:cNvSpPr txBox="1">
            <a:spLocks noGrp="1"/>
          </p:cNvSpPr>
          <p:nvPr>
            <p:ph type="title"/>
          </p:nvPr>
        </p:nvSpPr>
        <p:spPr>
          <a:xfrm>
            <a:off x="808523" y="2243828"/>
            <a:ext cx="4494998" cy="1134640"/>
          </a:xfrm>
          <a:prstGeom prst="rect">
            <a:avLst/>
          </a:prstGeom>
          <a:solidFill>
            <a:srgbClr val="FFFFFF"/>
          </a:solidFill>
          <a:ln w="9525" cap="flat" cmpd="sng">
            <a:solidFill>
              <a:srgbClr val="404040"/>
            </a:solidFill>
            <a:prstDash val="solid"/>
            <a:round/>
            <a:headEnd type="none" w="sm" len="sm"/>
            <a:tailEnd type="none" w="sm" len="sm"/>
          </a:ln>
        </p:spPr>
        <p:txBody>
          <a:bodyPr spcFirstLastPara="1" wrap="square" lIns="182875" tIns="182875" rIns="182875" bIns="182875" anchor="ctr" anchorCtr="1">
            <a:noAutofit/>
          </a:bodyPr>
          <a:lstStyle>
            <a:lvl1pPr lvl="0" algn="ctr">
              <a:lnSpc>
                <a:spcPct val="90000"/>
              </a:lnSpc>
              <a:spcBef>
                <a:spcPts val="0"/>
              </a:spcBef>
              <a:spcAft>
                <a:spcPts val="0"/>
              </a:spcAft>
              <a:buClr>
                <a:srgbClr val="262626"/>
              </a:buClr>
              <a:buSzPts val="2200"/>
              <a:buFont typeface="Gill Sans"/>
              <a:buNone/>
              <a:defRPr sz="22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5"/>
          <p:cNvSpPr>
            <a:spLocks noGrp="1"/>
          </p:cNvSpPr>
          <p:nvPr>
            <p:ph type="pic" idx="2"/>
          </p:nvPr>
        </p:nvSpPr>
        <p:spPr>
          <a:xfrm>
            <a:off x="6095999" y="0"/>
            <a:ext cx="6102097" cy="6858000"/>
          </a:xfrm>
          <a:prstGeom prst="rect">
            <a:avLst/>
          </a:prstGeom>
          <a:solidFill>
            <a:srgbClr val="BFBFBF"/>
          </a:solidFill>
          <a:ln>
            <a:noFill/>
          </a:ln>
        </p:spPr>
        <p:txBody>
          <a:bodyPr/>
          <a:lstStyle/>
          <a:p>
            <a:endParaRPr lang="en-US"/>
          </a:p>
        </p:txBody>
      </p:sp>
      <p:sp>
        <p:nvSpPr>
          <p:cNvPr id="82" name="Google Shape;82;p15"/>
          <p:cNvSpPr txBox="1">
            <a:spLocks noGrp="1"/>
          </p:cNvSpPr>
          <p:nvPr>
            <p:ph type="body" idx="1"/>
          </p:nvPr>
        </p:nvSpPr>
        <p:spPr>
          <a:xfrm>
            <a:off x="1115568" y="3549918"/>
            <a:ext cx="3794760" cy="2194037"/>
          </a:xfrm>
          <a:prstGeom prst="rect">
            <a:avLst/>
          </a:prstGeom>
          <a:noFill/>
          <a:ln>
            <a:noFill/>
          </a:ln>
        </p:spPr>
        <p:txBody>
          <a:bodyPr spcFirstLastPara="1" wrap="square" lIns="91425" tIns="45700" rIns="91425" bIns="45700" anchor="t" anchorCtr="1">
            <a:normAutofit/>
          </a:bodyPr>
          <a:lstStyle>
            <a:lvl1pPr marL="457200" lvl="0" indent="-228600" algn="ctr">
              <a:lnSpc>
                <a:spcPct val="100000"/>
              </a:lnSpc>
              <a:spcBef>
                <a:spcPts val="1000"/>
              </a:spcBef>
              <a:spcAft>
                <a:spcPts val="0"/>
              </a:spcAft>
              <a:buSzPts val="1500"/>
              <a:buNone/>
              <a:defRPr sz="1500">
                <a:solidFill>
                  <a:srgbClr val="FFFFFF"/>
                </a:solidFill>
              </a:defRPr>
            </a:lvl1pPr>
            <a:lvl2pPr marL="914400" lvl="1" indent="-228600" algn="l">
              <a:lnSpc>
                <a:spcPct val="100000"/>
              </a:lnSpc>
              <a:spcBef>
                <a:spcPts val="1000"/>
              </a:spcBef>
              <a:spcAft>
                <a:spcPts val="0"/>
              </a:spcAft>
              <a:buSzPts val="1400"/>
              <a:buNone/>
              <a:defRPr sz="1400"/>
            </a:lvl2pPr>
            <a:lvl3pPr marL="1371600" lvl="2" indent="-228600" algn="l">
              <a:lnSpc>
                <a:spcPct val="100000"/>
              </a:lnSpc>
              <a:spcBef>
                <a:spcPts val="1000"/>
              </a:spcBef>
              <a:spcAft>
                <a:spcPts val="0"/>
              </a:spcAft>
              <a:buSzPts val="1200"/>
              <a:buNone/>
              <a:defRPr sz="1200"/>
            </a:lvl3pPr>
            <a:lvl4pPr marL="1828800" lvl="3" indent="-228600" algn="l">
              <a:lnSpc>
                <a:spcPct val="100000"/>
              </a:lnSpc>
              <a:spcBef>
                <a:spcPts val="1000"/>
              </a:spcBef>
              <a:spcAft>
                <a:spcPts val="0"/>
              </a:spcAft>
              <a:buSzPts val="1000"/>
              <a:buNone/>
              <a:defRPr sz="1000"/>
            </a:lvl4pPr>
            <a:lvl5pPr marL="2286000" lvl="4" indent="-228600" algn="l">
              <a:lnSpc>
                <a:spcPct val="100000"/>
              </a:lnSpc>
              <a:spcBef>
                <a:spcPts val="1000"/>
              </a:spcBef>
              <a:spcAft>
                <a:spcPts val="0"/>
              </a:spcAft>
              <a:buSzPts val="1000"/>
              <a:buNone/>
              <a:defRPr sz="1000"/>
            </a:lvl5pPr>
            <a:lvl6pPr marL="2743200" lvl="5" indent="-228600" algn="l">
              <a:lnSpc>
                <a:spcPct val="100000"/>
              </a:lnSpc>
              <a:spcBef>
                <a:spcPts val="1000"/>
              </a:spcBef>
              <a:spcAft>
                <a:spcPts val="0"/>
              </a:spcAft>
              <a:buSzPts val="1000"/>
              <a:buNone/>
              <a:defRPr sz="1000"/>
            </a:lvl6pPr>
            <a:lvl7pPr marL="3200400" lvl="6" indent="-228600" algn="l">
              <a:lnSpc>
                <a:spcPct val="100000"/>
              </a:lnSpc>
              <a:spcBef>
                <a:spcPts val="1000"/>
              </a:spcBef>
              <a:spcAft>
                <a:spcPts val="0"/>
              </a:spcAft>
              <a:buSzPts val="1000"/>
              <a:buNone/>
              <a:defRPr sz="1000"/>
            </a:lvl7pPr>
            <a:lvl8pPr marL="3657600" lvl="7" indent="-228600" algn="l">
              <a:lnSpc>
                <a:spcPct val="100000"/>
              </a:lnSpc>
              <a:spcBef>
                <a:spcPts val="1000"/>
              </a:spcBef>
              <a:spcAft>
                <a:spcPts val="0"/>
              </a:spcAft>
              <a:buSzPts val="1000"/>
              <a:buNone/>
              <a:defRPr sz="1000"/>
            </a:lvl8pPr>
            <a:lvl9pPr marL="4114800" lvl="8" indent="-228600" algn="l">
              <a:lnSpc>
                <a:spcPct val="100000"/>
              </a:lnSpc>
              <a:spcBef>
                <a:spcPts val="1000"/>
              </a:spcBef>
              <a:spcAft>
                <a:spcPts val="0"/>
              </a:spcAft>
              <a:buSzPts val="1000"/>
              <a:buNone/>
              <a:defRPr sz="1000"/>
            </a:lvl9pPr>
          </a:lstStyle>
          <a:p>
            <a:endParaRPr/>
          </a:p>
        </p:txBody>
      </p:sp>
      <p:sp>
        <p:nvSpPr>
          <p:cNvPr id="83" name="Google Shape;83;p15"/>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5"/>
          <p:cNvSpPr txBox="1">
            <a:spLocks noGrp="1"/>
          </p:cNvSpPr>
          <p:nvPr>
            <p:ph type="ftr" idx="11"/>
          </p:nvPr>
        </p:nvSpPr>
        <p:spPr>
          <a:xfrm>
            <a:off x="804672" y="6236208"/>
            <a:ext cx="5124797"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5"/>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6"/>
        <p:cNvGrpSpPr/>
        <p:nvPr/>
      </p:nvGrpSpPr>
      <p:grpSpPr>
        <a:xfrm>
          <a:off x="0" y="0"/>
          <a:ext cx="0" cy="0"/>
          <a:chOff x="0" y="0"/>
          <a:chExt cx="0" cy="0"/>
        </a:xfrm>
      </p:grpSpPr>
      <p:sp>
        <p:nvSpPr>
          <p:cNvPr id="87" name="Google Shape;87;p16"/>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16"/>
          <p:cNvSpPr txBox="1">
            <a:spLocks noGrp="1"/>
          </p:cNvSpPr>
          <p:nvPr>
            <p:ph type="body" idx="1"/>
          </p:nvPr>
        </p:nvSpPr>
        <p:spPr>
          <a:xfrm rot="5400000">
            <a:off x="4545009" y="324172"/>
            <a:ext cx="3101983" cy="772972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89" name="Google Shape;89;p16"/>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6"/>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6"/>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rot="5400000">
            <a:off x="6810676" y="2779696"/>
            <a:ext cx="4983480" cy="1298608"/>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17"/>
          <p:cNvSpPr txBox="1">
            <a:spLocks noGrp="1"/>
          </p:cNvSpPr>
          <p:nvPr>
            <p:ph type="body" idx="1"/>
          </p:nvPr>
        </p:nvSpPr>
        <p:spPr>
          <a:xfrm rot="5400000">
            <a:off x="2838641" y="329756"/>
            <a:ext cx="4983480" cy="6198489"/>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95" name="Google Shape;95;p17"/>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17"/>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5"/>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marR="0" lvl="0" algn="ctr" rtl="0">
              <a:lnSpc>
                <a:spcPct val="90000"/>
              </a:lnSpc>
              <a:spcBef>
                <a:spcPts val="0"/>
              </a:spcBef>
              <a:spcAft>
                <a:spcPts val="0"/>
              </a:spcAft>
              <a:buClr>
                <a:srgbClr val="262626"/>
              </a:buClr>
              <a:buSzPts val="2800"/>
              <a:buFont typeface="Gill Sans"/>
              <a:buNone/>
              <a:defRPr sz="2800" b="0" i="0" u="none" strike="noStrike" cap="none">
                <a:solidFill>
                  <a:srgbClr val="262626"/>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5"/>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1000"/>
              </a:spcBef>
              <a:spcAft>
                <a:spcPts val="0"/>
              </a:spcAft>
              <a:buClr>
                <a:schemeClr val="accent2"/>
              </a:buClr>
              <a:buSzPts val="1800"/>
              <a:buFont typeface="Arial"/>
              <a:buChar char="•"/>
              <a:defRPr sz="1800" b="0" i="0" u="none" strike="noStrike" cap="none">
                <a:solidFill>
                  <a:srgbClr val="FEFEFE"/>
                </a:solidFill>
                <a:latin typeface="Gill Sans"/>
                <a:ea typeface="Gill Sans"/>
                <a:cs typeface="Gill Sans"/>
                <a:sym typeface="Gill Sans"/>
              </a:defRPr>
            </a:lvl1pPr>
            <a:lvl2pPr marL="914400" marR="0" lvl="1" indent="-330200" algn="l" rtl="0">
              <a:lnSpc>
                <a:spcPct val="100000"/>
              </a:lnSpc>
              <a:spcBef>
                <a:spcPts val="1000"/>
              </a:spcBef>
              <a:spcAft>
                <a:spcPts val="0"/>
              </a:spcAft>
              <a:buClr>
                <a:schemeClr val="accent2"/>
              </a:buClr>
              <a:buSzPts val="1600"/>
              <a:buFont typeface="Arial"/>
              <a:buChar char="•"/>
              <a:defRPr sz="1600" b="0" i="0" u="none" strike="noStrike" cap="none">
                <a:solidFill>
                  <a:srgbClr val="FEFEFE"/>
                </a:solidFill>
                <a:latin typeface="Gill Sans"/>
                <a:ea typeface="Gill Sans"/>
                <a:cs typeface="Gill Sans"/>
                <a:sym typeface="Gill Sans"/>
              </a:defRPr>
            </a:lvl2pPr>
            <a:lvl3pPr marL="1371600" marR="0" lvl="2" indent="-330200" algn="l" rtl="0">
              <a:lnSpc>
                <a:spcPct val="100000"/>
              </a:lnSpc>
              <a:spcBef>
                <a:spcPts val="1000"/>
              </a:spcBef>
              <a:spcAft>
                <a:spcPts val="0"/>
              </a:spcAft>
              <a:buClr>
                <a:schemeClr val="accent2"/>
              </a:buClr>
              <a:buSzPts val="1600"/>
              <a:buFont typeface="Arial"/>
              <a:buChar char="•"/>
              <a:defRPr sz="1600" b="0" i="0" u="none" strike="noStrike" cap="none">
                <a:solidFill>
                  <a:srgbClr val="FEFEFE"/>
                </a:solidFill>
                <a:latin typeface="Gill Sans"/>
                <a:ea typeface="Gill Sans"/>
                <a:cs typeface="Gill Sans"/>
                <a:sym typeface="Gill Sans"/>
              </a:defRPr>
            </a:lvl3pPr>
            <a:lvl4pPr marL="1828800" marR="0" lvl="3" indent="-330200" algn="l" rtl="0">
              <a:lnSpc>
                <a:spcPct val="100000"/>
              </a:lnSpc>
              <a:spcBef>
                <a:spcPts val="1000"/>
              </a:spcBef>
              <a:spcAft>
                <a:spcPts val="0"/>
              </a:spcAft>
              <a:buClr>
                <a:schemeClr val="accent2"/>
              </a:buClr>
              <a:buSzPts val="1600"/>
              <a:buFont typeface="Arial"/>
              <a:buChar char="•"/>
              <a:defRPr sz="1600" b="0" i="0" u="none" strike="noStrike" cap="none">
                <a:solidFill>
                  <a:srgbClr val="FEFEFE"/>
                </a:solidFill>
                <a:latin typeface="Gill Sans"/>
                <a:ea typeface="Gill Sans"/>
                <a:cs typeface="Gill Sans"/>
                <a:sym typeface="Gill Sans"/>
              </a:defRPr>
            </a:lvl4pPr>
            <a:lvl5pPr marL="2286000" marR="0" lvl="4" indent="-330200" algn="l" rtl="0">
              <a:lnSpc>
                <a:spcPct val="100000"/>
              </a:lnSpc>
              <a:spcBef>
                <a:spcPts val="1000"/>
              </a:spcBef>
              <a:spcAft>
                <a:spcPts val="0"/>
              </a:spcAft>
              <a:buClr>
                <a:schemeClr val="accent2"/>
              </a:buClr>
              <a:buSzPts val="1600"/>
              <a:buFont typeface="Arial"/>
              <a:buChar char="•"/>
              <a:defRPr sz="1600" b="0" i="0" u="none" strike="noStrike" cap="none">
                <a:solidFill>
                  <a:srgbClr val="FEFEFE"/>
                </a:solidFill>
                <a:latin typeface="Gill Sans"/>
                <a:ea typeface="Gill Sans"/>
                <a:cs typeface="Gill Sans"/>
                <a:sym typeface="Gill Sans"/>
              </a:defRPr>
            </a:lvl5pPr>
            <a:lvl6pPr marL="2743200" marR="0" lvl="5"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lt1"/>
                </a:solidFill>
                <a:latin typeface="Gill Sans"/>
                <a:ea typeface="Gill Sans"/>
                <a:cs typeface="Gill Sans"/>
                <a:sym typeface="Gill Sans"/>
              </a:defRPr>
            </a:lvl6pPr>
            <a:lvl7pPr marL="3200400" marR="0" lvl="6"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lt1"/>
                </a:solidFill>
                <a:latin typeface="Gill Sans"/>
                <a:ea typeface="Gill Sans"/>
                <a:cs typeface="Gill Sans"/>
                <a:sym typeface="Gill Sans"/>
              </a:defRPr>
            </a:lvl7pPr>
            <a:lvl8pPr marL="3657600" marR="0" lvl="7"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lt1"/>
                </a:solidFill>
                <a:latin typeface="Gill Sans"/>
                <a:ea typeface="Gill Sans"/>
                <a:cs typeface="Gill Sans"/>
                <a:sym typeface="Gill Sans"/>
              </a:defRPr>
            </a:lvl8pPr>
            <a:lvl9pPr marL="4114800" marR="0" lvl="8"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lt1"/>
                </a:solidFill>
                <a:latin typeface="Gill Sans"/>
                <a:ea typeface="Gill Sans"/>
                <a:cs typeface="Gill Sans"/>
                <a:sym typeface="Gill Sans"/>
              </a:defRPr>
            </a:lvl9pPr>
          </a:lstStyle>
          <a:p>
            <a:endParaRPr/>
          </a:p>
        </p:txBody>
      </p:sp>
      <p:sp>
        <p:nvSpPr>
          <p:cNvPr id="12" name="Google Shape;12;p5"/>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50" b="0" i="0" u="none" strike="noStrike" cap="none">
                <a:solidFill>
                  <a:schemeClr val="lt1"/>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9pPr>
          </a:lstStyle>
          <a:p>
            <a:endParaRPr/>
          </a:p>
        </p:txBody>
      </p:sp>
      <p:sp>
        <p:nvSpPr>
          <p:cNvPr id="13" name="Google Shape;13;p5"/>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50" b="0" i="0" u="none" strike="noStrike" cap="none">
                <a:solidFill>
                  <a:schemeClr val="lt1"/>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9pPr>
          </a:lstStyle>
          <a:p>
            <a:endParaRPr/>
          </a:p>
        </p:txBody>
      </p:sp>
      <p:sp>
        <p:nvSpPr>
          <p:cNvPr id="14" name="Google Shape;14;p5"/>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marR="0" lvl="0" indent="0" algn="ctr" rtl="0">
              <a:spcBef>
                <a:spcPts val="0"/>
              </a:spcBef>
              <a:buNone/>
              <a:defRPr sz="1100" b="0" i="0" u="none" strike="noStrike" cap="none">
                <a:solidFill>
                  <a:srgbClr val="FFFFFF"/>
                </a:solidFill>
                <a:latin typeface="Gill Sans"/>
                <a:ea typeface="Gill Sans"/>
                <a:cs typeface="Gill Sans"/>
                <a:sym typeface="Gill Sans"/>
              </a:defRPr>
            </a:lvl1pPr>
            <a:lvl2pPr marL="0" marR="0" lvl="1" indent="0" algn="ctr" rtl="0">
              <a:spcBef>
                <a:spcPts val="0"/>
              </a:spcBef>
              <a:buNone/>
              <a:defRPr sz="1100" b="0" i="0" u="none" strike="noStrike" cap="none">
                <a:solidFill>
                  <a:srgbClr val="FFFFFF"/>
                </a:solidFill>
                <a:latin typeface="Gill Sans"/>
                <a:ea typeface="Gill Sans"/>
                <a:cs typeface="Gill Sans"/>
                <a:sym typeface="Gill Sans"/>
              </a:defRPr>
            </a:lvl2pPr>
            <a:lvl3pPr marL="0" marR="0" lvl="2" indent="0" algn="ctr" rtl="0">
              <a:spcBef>
                <a:spcPts val="0"/>
              </a:spcBef>
              <a:buNone/>
              <a:defRPr sz="1100" b="0" i="0" u="none" strike="noStrike" cap="none">
                <a:solidFill>
                  <a:srgbClr val="FFFFFF"/>
                </a:solidFill>
                <a:latin typeface="Gill Sans"/>
                <a:ea typeface="Gill Sans"/>
                <a:cs typeface="Gill Sans"/>
                <a:sym typeface="Gill Sans"/>
              </a:defRPr>
            </a:lvl3pPr>
            <a:lvl4pPr marL="0" marR="0" lvl="3" indent="0" algn="ctr" rtl="0">
              <a:spcBef>
                <a:spcPts val="0"/>
              </a:spcBef>
              <a:buNone/>
              <a:defRPr sz="1100" b="0" i="0" u="none" strike="noStrike" cap="none">
                <a:solidFill>
                  <a:srgbClr val="FFFFFF"/>
                </a:solidFill>
                <a:latin typeface="Gill Sans"/>
                <a:ea typeface="Gill Sans"/>
                <a:cs typeface="Gill Sans"/>
                <a:sym typeface="Gill Sans"/>
              </a:defRPr>
            </a:lvl4pPr>
            <a:lvl5pPr marL="0" marR="0" lvl="4" indent="0" algn="ctr" rtl="0">
              <a:spcBef>
                <a:spcPts val="0"/>
              </a:spcBef>
              <a:buNone/>
              <a:defRPr sz="1100" b="0" i="0" u="none" strike="noStrike" cap="none">
                <a:solidFill>
                  <a:srgbClr val="FFFFFF"/>
                </a:solidFill>
                <a:latin typeface="Gill Sans"/>
                <a:ea typeface="Gill Sans"/>
                <a:cs typeface="Gill Sans"/>
                <a:sym typeface="Gill Sans"/>
              </a:defRPr>
            </a:lvl5pPr>
            <a:lvl6pPr marL="0" marR="0" lvl="5" indent="0" algn="ctr" rtl="0">
              <a:spcBef>
                <a:spcPts val="0"/>
              </a:spcBef>
              <a:buNone/>
              <a:defRPr sz="1100" b="0" i="0" u="none" strike="noStrike" cap="none">
                <a:solidFill>
                  <a:srgbClr val="FFFFFF"/>
                </a:solidFill>
                <a:latin typeface="Gill Sans"/>
                <a:ea typeface="Gill Sans"/>
                <a:cs typeface="Gill Sans"/>
                <a:sym typeface="Gill Sans"/>
              </a:defRPr>
            </a:lvl6pPr>
            <a:lvl7pPr marL="0" marR="0" lvl="6" indent="0" algn="ctr" rtl="0">
              <a:spcBef>
                <a:spcPts val="0"/>
              </a:spcBef>
              <a:buNone/>
              <a:defRPr sz="1100" b="0" i="0" u="none" strike="noStrike" cap="none">
                <a:solidFill>
                  <a:srgbClr val="FFFFFF"/>
                </a:solidFill>
                <a:latin typeface="Gill Sans"/>
                <a:ea typeface="Gill Sans"/>
                <a:cs typeface="Gill Sans"/>
                <a:sym typeface="Gill Sans"/>
              </a:defRPr>
            </a:lvl7pPr>
            <a:lvl8pPr marL="0" marR="0" lvl="7" indent="0" algn="ctr" rtl="0">
              <a:spcBef>
                <a:spcPts val="0"/>
              </a:spcBef>
              <a:buNone/>
              <a:defRPr sz="1100" b="0" i="0" u="none" strike="noStrike" cap="none">
                <a:solidFill>
                  <a:srgbClr val="FFFFFF"/>
                </a:solidFill>
                <a:latin typeface="Gill Sans"/>
                <a:ea typeface="Gill Sans"/>
                <a:cs typeface="Gill Sans"/>
                <a:sym typeface="Gill Sans"/>
              </a:defRPr>
            </a:lvl8pPr>
            <a:lvl9pPr marL="0" marR="0" lvl="8" indent="0" algn="ctr" rtl="0">
              <a:spcBef>
                <a:spcPts val="0"/>
              </a:spcBef>
              <a:buNone/>
              <a:defRPr sz="1100" b="0" i="0" u="none" strike="noStrike" cap="none">
                <a:solidFill>
                  <a:srgbClr val="FFFFFF"/>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marR="0" lvl="0" algn="ctr" rtl="0">
              <a:lnSpc>
                <a:spcPct val="90000"/>
              </a:lnSpc>
              <a:spcBef>
                <a:spcPts val="0"/>
              </a:spcBef>
              <a:spcAft>
                <a:spcPts val="0"/>
              </a:spcAft>
              <a:buClr>
                <a:srgbClr val="262626"/>
              </a:buClr>
              <a:buSzPts val="2800"/>
              <a:buFont typeface="Gill Sans"/>
              <a:buNone/>
              <a:defRPr sz="2800" b="0" i="0" u="none" strike="noStrike" cap="none">
                <a:solidFill>
                  <a:srgbClr val="262626"/>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4"/>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1000"/>
              </a:spcBef>
              <a:spcAft>
                <a:spcPts val="0"/>
              </a:spcAft>
              <a:buClr>
                <a:schemeClr val="accent2"/>
              </a:buClr>
              <a:buSzPts val="1800"/>
              <a:buFont typeface="Arial"/>
              <a:buChar char="•"/>
              <a:defRPr sz="1800" b="0" i="0" u="none" strike="noStrike" cap="none">
                <a:solidFill>
                  <a:srgbClr val="262626"/>
                </a:solidFill>
                <a:latin typeface="Gill Sans"/>
                <a:ea typeface="Gill Sans"/>
                <a:cs typeface="Gill Sans"/>
                <a:sym typeface="Gill Sans"/>
              </a:defRPr>
            </a:lvl1pPr>
            <a:lvl2pPr marL="914400" marR="0" lvl="1"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Gill Sans"/>
                <a:ea typeface="Gill Sans"/>
                <a:cs typeface="Gill Sans"/>
                <a:sym typeface="Gill Sans"/>
              </a:defRPr>
            </a:lvl2pPr>
            <a:lvl3pPr marL="1371600" marR="0" lvl="2"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Gill Sans"/>
                <a:ea typeface="Gill Sans"/>
                <a:cs typeface="Gill Sans"/>
                <a:sym typeface="Gill Sans"/>
              </a:defRPr>
            </a:lvl3pPr>
            <a:lvl4pPr marL="1828800" marR="0" lvl="3"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Gill Sans"/>
                <a:ea typeface="Gill Sans"/>
                <a:cs typeface="Gill Sans"/>
                <a:sym typeface="Gill Sans"/>
              </a:defRPr>
            </a:lvl4pPr>
            <a:lvl5pPr marL="2286000" marR="0" lvl="4"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Gill Sans"/>
                <a:ea typeface="Gill Sans"/>
                <a:cs typeface="Gill Sans"/>
                <a:sym typeface="Gill Sans"/>
              </a:defRPr>
            </a:lvl5pPr>
            <a:lvl6pPr marL="2743200" marR="0" lvl="5"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Gill Sans"/>
                <a:ea typeface="Gill Sans"/>
                <a:cs typeface="Gill Sans"/>
                <a:sym typeface="Gill Sans"/>
              </a:defRPr>
            </a:lvl6pPr>
            <a:lvl7pPr marL="3200400" marR="0" lvl="6"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Gill Sans"/>
                <a:ea typeface="Gill Sans"/>
                <a:cs typeface="Gill Sans"/>
                <a:sym typeface="Gill Sans"/>
              </a:defRPr>
            </a:lvl7pPr>
            <a:lvl8pPr marL="3657600" marR="0" lvl="7"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Gill Sans"/>
                <a:ea typeface="Gill Sans"/>
                <a:cs typeface="Gill Sans"/>
                <a:sym typeface="Gill Sans"/>
              </a:defRPr>
            </a:lvl8pPr>
            <a:lvl9pPr marL="4114800" marR="0" lvl="8"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Gill Sans"/>
                <a:ea typeface="Gill Sans"/>
                <a:cs typeface="Gill Sans"/>
                <a:sym typeface="Gill Sans"/>
              </a:defRPr>
            </a:lvl9pPr>
          </a:lstStyle>
          <a:p>
            <a:endParaRPr/>
          </a:p>
        </p:txBody>
      </p:sp>
      <p:sp>
        <p:nvSpPr>
          <p:cNvPr id="24" name="Google Shape;24;p4"/>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50" b="0" i="0" u="none" strike="noStrike" cap="none">
                <a:solidFill>
                  <a:schemeClr val="dk1"/>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25" name="Google Shape;25;p4"/>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50" b="0" i="0" u="none" strike="noStrike" cap="none">
                <a:solidFill>
                  <a:schemeClr val="dk1"/>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26" name="Google Shape;26;p4"/>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marR="0" lvl="0" indent="0" algn="ctr" rtl="0">
              <a:spcBef>
                <a:spcPts val="0"/>
              </a:spcBef>
              <a:buNone/>
              <a:defRPr sz="1100" b="0" i="0" u="none" strike="noStrike" cap="none">
                <a:solidFill>
                  <a:srgbClr val="FFFFFF"/>
                </a:solidFill>
                <a:latin typeface="Gill Sans"/>
                <a:ea typeface="Gill Sans"/>
                <a:cs typeface="Gill Sans"/>
                <a:sym typeface="Gill Sans"/>
              </a:defRPr>
            </a:lvl1pPr>
            <a:lvl2pPr marL="0" marR="0" lvl="1" indent="0" algn="ctr" rtl="0">
              <a:spcBef>
                <a:spcPts val="0"/>
              </a:spcBef>
              <a:buNone/>
              <a:defRPr sz="1100" b="0" i="0" u="none" strike="noStrike" cap="none">
                <a:solidFill>
                  <a:srgbClr val="FFFFFF"/>
                </a:solidFill>
                <a:latin typeface="Gill Sans"/>
                <a:ea typeface="Gill Sans"/>
                <a:cs typeface="Gill Sans"/>
                <a:sym typeface="Gill Sans"/>
              </a:defRPr>
            </a:lvl2pPr>
            <a:lvl3pPr marL="0" marR="0" lvl="2" indent="0" algn="ctr" rtl="0">
              <a:spcBef>
                <a:spcPts val="0"/>
              </a:spcBef>
              <a:buNone/>
              <a:defRPr sz="1100" b="0" i="0" u="none" strike="noStrike" cap="none">
                <a:solidFill>
                  <a:srgbClr val="FFFFFF"/>
                </a:solidFill>
                <a:latin typeface="Gill Sans"/>
                <a:ea typeface="Gill Sans"/>
                <a:cs typeface="Gill Sans"/>
                <a:sym typeface="Gill Sans"/>
              </a:defRPr>
            </a:lvl3pPr>
            <a:lvl4pPr marL="0" marR="0" lvl="3" indent="0" algn="ctr" rtl="0">
              <a:spcBef>
                <a:spcPts val="0"/>
              </a:spcBef>
              <a:buNone/>
              <a:defRPr sz="1100" b="0" i="0" u="none" strike="noStrike" cap="none">
                <a:solidFill>
                  <a:srgbClr val="FFFFFF"/>
                </a:solidFill>
                <a:latin typeface="Gill Sans"/>
                <a:ea typeface="Gill Sans"/>
                <a:cs typeface="Gill Sans"/>
                <a:sym typeface="Gill Sans"/>
              </a:defRPr>
            </a:lvl4pPr>
            <a:lvl5pPr marL="0" marR="0" lvl="4" indent="0" algn="ctr" rtl="0">
              <a:spcBef>
                <a:spcPts val="0"/>
              </a:spcBef>
              <a:buNone/>
              <a:defRPr sz="1100" b="0" i="0" u="none" strike="noStrike" cap="none">
                <a:solidFill>
                  <a:srgbClr val="FFFFFF"/>
                </a:solidFill>
                <a:latin typeface="Gill Sans"/>
                <a:ea typeface="Gill Sans"/>
                <a:cs typeface="Gill Sans"/>
                <a:sym typeface="Gill Sans"/>
              </a:defRPr>
            </a:lvl5pPr>
            <a:lvl6pPr marL="0" marR="0" lvl="5" indent="0" algn="ctr" rtl="0">
              <a:spcBef>
                <a:spcPts val="0"/>
              </a:spcBef>
              <a:buNone/>
              <a:defRPr sz="1100" b="0" i="0" u="none" strike="noStrike" cap="none">
                <a:solidFill>
                  <a:srgbClr val="FFFFFF"/>
                </a:solidFill>
                <a:latin typeface="Gill Sans"/>
                <a:ea typeface="Gill Sans"/>
                <a:cs typeface="Gill Sans"/>
                <a:sym typeface="Gill Sans"/>
              </a:defRPr>
            </a:lvl6pPr>
            <a:lvl7pPr marL="0" marR="0" lvl="6" indent="0" algn="ctr" rtl="0">
              <a:spcBef>
                <a:spcPts val="0"/>
              </a:spcBef>
              <a:buNone/>
              <a:defRPr sz="1100" b="0" i="0" u="none" strike="noStrike" cap="none">
                <a:solidFill>
                  <a:srgbClr val="FFFFFF"/>
                </a:solidFill>
                <a:latin typeface="Gill Sans"/>
                <a:ea typeface="Gill Sans"/>
                <a:cs typeface="Gill Sans"/>
                <a:sym typeface="Gill Sans"/>
              </a:defRPr>
            </a:lvl7pPr>
            <a:lvl8pPr marL="0" marR="0" lvl="7" indent="0" algn="ctr" rtl="0">
              <a:spcBef>
                <a:spcPts val="0"/>
              </a:spcBef>
              <a:buNone/>
              <a:defRPr sz="1100" b="0" i="0" u="none" strike="noStrike" cap="none">
                <a:solidFill>
                  <a:srgbClr val="FFFFFF"/>
                </a:solidFill>
                <a:latin typeface="Gill Sans"/>
                <a:ea typeface="Gill Sans"/>
                <a:cs typeface="Gill Sans"/>
                <a:sym typeface="Gill Sans"/>
              </a:defRPr>
            </a:lvl8pPr>
            <a:lvl9pPr marL="0" marR="0" lvl="8" indent="0" algn="ctr" rtl="0">
              <a:spcBef>
                <a:spcPts val="0"/>
              </a:spcBef>
              <a:buNone/>
              <a:defRPr sz="1100" b="0" i="0" u="none" strike="noStrike" cap="none">
                <a:solidFill>
                  <a:srgbClr val="FFFFFF"/>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stevenhalim/cpbook-code/blob/master/ch5/primes.py"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stevenhalim/cpbook-code/blob/master/ch5/primes.py"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stevenhalim/cpbook-code/blob/master/ch7/points_lines.py"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tevenhalim/cpbook-code/blob/master/ch7/circles.py"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2.org&amp;utm_campaign=parser&amp;utm_content=thumbnail"/></Relationships>
</file>

<file path=ppt/slides/_rels/slide18.xml.rels><?xml version="1.0" encoding="UTF-8" standalone="yes"?>
<Relationships xmlns="http://schemas.openxmlformats.org/package/2006/relationships"><Relationship Id="rId3" Type="http://schemas.openxmlformats.org/officeDocument/2006/relationships/image" Target="../media/image23.org&amp;utm_campaign=parser&amp;utm_content=thumbnai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
          <p:cNvSpPr txBox="1">
            <a:spLocks noGrp="1"/>
          </p:cNvSpPr>
          <p:nvPr>
            <p:ph type="ctrTitle"/>
          </p:nvPr>
        </p:nvSpPr>
        <p:spPr>
          <a:xfrm>
            <a:off x="1600200" y="1124869"/>
            <a:ext cx="8991600" cy="1645800"/>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p>
            <a:pPr marL="0" lvl="0" indent="0" algn="ctr" rtl="0">
              <a:lnSpc>
                <a:spcPct val="90000"/>
              </a:lnSpc>
              <a:spcBef>
                <a:spcPts val="0"/>
              </a:spcBef>
              <a:spcAft>
                <a:spcPts val="0"/>
              </a:spcAft>
              <a:buClr>
                <a:srgbClr val="262626"/>
              </a:buClr>
              <a:buSzPts val="3800"/>
              <a:buFont typeface="Gill Sans"/>
              <a:buNone/>
            </a:pPr>
            <a:r>
              <a:rPr lang="en-US" dirty="0"/>
              <a:t>ICPC Bootcamp Day 5</a:t>
            </a:r>
            <a:endParaRPr dirty="0"/>
          </a:p>
        </p:txBody>
      </p:sp>
      <p:sp>
        <p:nvSpPr>
          <p:cNvPr id="104" name="Google Shape;104;p1"/>
          <p:cNvSpPr txBox="1"/>
          <p:nvPr/>
        </p:nvSpPr>
        <p:spPr>
          <a:xfrm>
            <a:off x="232052" y="3429000"/>
            <a:ext cx="7494095" cy="2585283"/>
          </a:xfrm>
          <a:prstGeom prst="rect">
            <a:avLst/>
          </a:prstGeom>
          <a:noFill/>
          <a:ln>
            <a:noFill/>
          </a:ln>
        </p:spPr>
        <p:txBody>
          <a:bodyPr spcFirstLastPara="1" wrap="square" lIns="91425" tIns="45700" rIns="91425" bIns="45700" anchor="t" anchorCtr="0">
            <a:spAutoFit/>
          </a:bodyPr>
          <a:lstStyle/>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5.3.1 Prime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5.3.3 Finding Prime Factors with Optimized Trial Divisions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5.3.6 Greatest Common Divisor &amp; Least Common Multiple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5.3.9 Modular Arithmetic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7.2.1 0D Objects: Points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7.2.2 1D Objects: Lines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7.2.3 2D Objects: Circles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7.2.4 2D Objects: Triangles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7.2.5 2D Objects: Quadrilaterals </a:t>
            </a:r>
          </a:p>
        </p:txBody>
      </p:sp>
      <p:sp>
        <p:nvSpPr>
          <p:cNvPr id="3" name="Google Shape;104;p1">
            <a:extLst>
              <a:ext uri="{FF2B5EF4-FFF2-40B4-BE49-F238E27FC236}">
                <a16:creationId xmlns:a16="http://schemas.microsoft.com/office/drawing/2014/main" id="{FB72D232-A6C0-A2F4-E4F5-798349A88E5F}"/>
              </a:ext>
            </a:extLst>
          </p:cNvPr>
          <p:cNvSpPr txBox="1"/>
          <p:nvPr/>
        </p:nvSpPr>
        <p:spPr>
          <a:xfrm>
            <a:off x="6534733" y="3348688"/>
            <a:ext cx="7494095" cy="2031285"/>
          </a:xfrm>
          <a:prstGeom prst="rect">
            <a:avLst/>
          </a:prstGeom>
          <a:noFill/>
          <a:ln>
            <a:noFill/>
          </a:ln>
        </p:spPr>
        <p:txBody>
          <a:bodyPr spcFirstLastPara="1" wrap="square" lIns="91425" tIns="45700" rIns="91425" bIns="45700" anchor="t" anchorCtr="0">
            <a:spAutoFit/>
          </a:bodyPr>
          <a:lstStyle/>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7.3.1 Polygon Representation</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7.3.2 Perimeter of a Polygon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7.3.3 Area of a Polygon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7.3.4 Checking if a Polygon is Convex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7.3.5 Checking if a Point is Inside a Polygon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7.3.6 Cutting Polygon with a Straight Line</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7.3.7 Finding the Convex Hull of a Set of Points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6FBC633C-4BEB-6962-4757-C242988721FA}"/>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7CC37225-9025-F0DB-010B-6BA0B854D651}"/>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r>
              <a:rPr lang="en-CA" dirty="0"/>
              <a:t>5.3.1 Prime Numbers</a:t>
            </a:r>
          </a:p>
        </p:txBody>
      </p:sp>
      <p:sp>
        <p:nvSpPr>
          <p:cNvPr id="224" name="Google Shape;224;g37c4946a550_0_194">
            <a:extLst>
              <a:ext uri="{FF2B5EF4-FFF2-40B4-BE49-F238E27FC236}">
                <a16:creationId xmlns:a16="http://schemas.microsoft.com/office/drawing/2014/main" id="{DD855B9B-1F4D-3304-D610-B805DE2A100D}"/>
              </a:ext>
            </a:extLst>
          </p:cNvPr>
          <p:cNvSpPr txBox="1">
            <a:spLocks noGrp="1"/>
          </p:cNvSpPr>
          <p:nvPr>
            <p:ph type="body" idx="1"/>
          </p:nvPr>
        </p:nvSpPr>
        <p:spPr>
          <a:xfrm>
            <a:off x="494675" y="1096825"/>
            <a:ext cx="11231400" cy="3310200"/>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US" sz="2000" dirty="0"/>
              <a:t>Primality Testing (𝑂(√𝑁)):</a:t>
            </a:r>
          </a:p>
          <a:p>
            <a:pPr lvl="1" indent="-355600">
              <a:spcBef>
                <a:spcPts val="0"/>
              </a:spcBef>
              <a:buSzPts val="2000"/>
            </a:pPr>
            <a:r>
              <a:rPr lang="en-US" sz="1800" dirty="0"/>
              <a:t>To check if 𝑁 is prime, you only need to test divisibility up to √𝑁. If 𝑁 is divisible by a number 𝑝&gt;√𝑁, it must also be divisible by a number 𝑞&lt;√𝑁.</a:t>
            </a:r>
          </a:p>
          <a:p>
            <a:pPr indent="-355600">
              <a:spcBef>
                <a:spcPts val="0"/>
              </a:spcBef>
              <a:buSzPts val="2000"/>
            </a:pPr>
            <a:r>
              <a:rPr lang="en-US" sz="2000" dirty="0"/>
              <a:t>Generating Primes (Sieve of Eratosthenes):</a:t>
            </a:r>
          </a:p>
          <a:p>
            <a:pPr lvl="1" indent="-355600">
              <a:spcBef>
                <a:spcPts val="0"/>
              </a:spcBef>
              <a:buSzPts val="2000"/>
            </a:pPr>
            <a:r>
              <a:rPr lang="en-US" sz="1800" dirty="0"/>
              <a:t>The most efficient way to generate all primes up to an upper bound 𝑀 (usually up to 10^7).</a:t>
            </a:r>
          </a:p>
          <a:p>
            <a:pPr lvl="1" indent="-355600">
              <a:spcBef>
                <a:spcPts val="0"/>
              </a:spcBef>
              <a:buSzPts val="2000"/>
            </a:pPr>
            <a:r>
              <a:rPr lang="en-US" sz="1800" dirty="0"/>
              <a:t>Algorithm: Create a </a:t>
            </a:r>
            <a:r>
              <a:rPr lang="en-US" sz="1800" dirty="0" err="1"/>
              <a:t>boolean</a:t>
            </a:r>
            <a:r>
              <a:rPr lang="en-US" sz="1800" dirty="0"/>
              <a:t> array of size 𝑀 set to True. (You can use a binary string as seen in day 1) Starting from 𝑝=2, if 𝑝 is true, mark all multiples of 𝑝 (2𝑝,3𝑝,5𝑝…) as False. Then p=3, p=4, </a:t>
            </a:r>
            <a:r>
              <a:rPr lang="en-US" sz="1800" dirty="0" err="1"/>
              <a:t>etc</a:t>
            </a:r>
            <a:r>
              <a:rPr lang="en-US" sz="1800" dirty="0"/>
              <a:t>…</a:t>
            </a:r>
          </a:p>
          <a:p>
            <a:pPr lvl="1" indent="-355600">
              <a:spcBef>
                <a:spcPts val="0"/>
              </a:spcBef>
              <a:buSzPts val="2000"/>
            </a:pPr>
            <a:r>
              <a:rPr lang="en-US" sz="1800" dirty="0"/>
              <a:t>Time Complexity: 𝑂(𝑀loglog𝑀), which is close to linear time 𝑂(𝑀).</a:t>
            </a:r>
          </a:p>
          <a:p>
            <a:pPr indent="-355600">
              <a:spcBef>
                <a:spcPts val="0"/>
              </a:spcBef>
              <a:buSzPts val="2000"/>
            </a:pPr>
            <a:r>
              <a:rPr lang="en-US" sz="2000" dirty="0"/>
              <a:t>Code from: </a:t>
            </a:r>
            <a:r>
              <a:rPr lang="en-US" sz="2000" dirty="0">
                <a:hlinkClick r:id="rId3"/>
              </a:rPr>
              <a:t>https://github.com/stevenhalim/cpbook-code/blob/master/ch5/primes.py</a:t>
            </a:r>
            <a:r>
              <a:rPr lang="en-US" sz="2000" dirty="0"/>
              <a:t> </a:t>
            </a:r>
          </a:p>
        </p:txBody>
      </p:sp>
      <p:pic>
        <p:nvPicPr>
          <p:cNvPr id="2" name="Picture 1">
            <a:extLst>
              <a:ext uri="{FF2B5EF4-FFF2-40B4-BE49-F238E27FC236}">
                <a16:creationId xmlns:a16="http://schemas.microsoft.com/office/drawing/2014/main" id="{8ED238C3-B7A6-672F-0E7A-00E399A4065B}"/>
              </a:ext>
            </a:extLst>
          </p:cNvPr>
          <p:cNvPicPr>
            <a:picLocks noChangeAspect="1"/>
          </p:cNvPicPr>
          <p:nvPr/>
        </p:nvPicPr>
        <p:blipFill>
          <a:blip r:embed="rId4"/>
          <a:stretch>
            <a:fillRect/>
          </a:stretch>
        </p:blipFill>
        <p:spPr>
          <a:xfrm>
            <a:off x="494675" y="3841403"/>
            <a:ext cx="3937000" cy="2882900"/>
          </a:xfrm>
          <a:prstGeom prst="rect">
            <a:avLst/>
          </a:prstGeom>
        </p:spPr>
      </p:pic>
      <p:pic>
        <p:nvPicPr>
          <p:cNvPr id="3" name="Picture 2" descr="Sieve of Eratosthenes – TeXample.net">
            <a:extLst>
              <a:ext uri="{FF2B5EF4-FFF2-40B4-BE49-F238E27FC236}">
                <a16:creationId xmlns:a16="http://schemas.microsoft.com/office/drawing/2014/main" id="{FE1DBD3C-B51C-36C8-B99D-E9917CBD125B}"/>
              </a:ext>
            </a:extLst>
          </p:cNvPr>
          <p:cNvPicPr>
            <a:picLocks noChangeAspect="1"/>
          </p:cNvPicPr>
          <p:nvPr/>
        </p:nvPicPr>
        <p:blipFill>
          <a:blip r:embed="rId5"/>
          <a:stretch>
            <a:fillRect/>
          </a:stretch>
        </p:blipFill>
        <p:spPr>
          <a:xfrm>
            <a:off x="7346969" y="3774877"/>
            <a:ext cx="2949426" cy="2949426"/>
          </a:xfrm>
          <a:prstGeom prst="rect">
            <a:avLst/>
          </a:prstGeom>
        </p:spPr>
      </p:pic>
    </p:spTree>
    <p:extLst>
      <p:ext uri="{BB962C8B-B14F-4D97-AF65-F5344CB8AC3E}">
        <p14:creationId xmlns:p14="http://schemas.microsoft.com/office/powerpoint/2010/main" val="1555374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A3E677FD-46B5-7C0E-7333-DB45C7773FAC}"/>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D97E3681-6421-51D0-68D0-F7373798F50C}"/>
              </a:ext>
            </a:extLst>
          </p:cNvPr>
          <p:cNvSpPr txBox="1">
            <a:spLocks noGrp="1"/>
          </p:cNvSpPr>
          <p:nvPr>
            <p:ph type="title"/>
          </p:nvPr>
        </p:nvSpPr>
        <p:spPr>
          <a:xfrm>
            <a:off x="1816989" y="253473"/>
            <a:ext cx="8558021"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5.3.3 Finding Prime Factors with Optimized Trial Divisions</a:t>
            </a:r>
          </a:p>
        </p:txBody>
      </p:sp>
      <p:sp>
        <p:nvSpPr>
          <p:cNvPr id="224" name="Google Shape;224;g37c4946a550_0_194">
            <a:extLst>
              <a:ext uri="{FF2B5EF4-FFF2-40B4-BE49-F238E27FC236}">
                <a16:creationId xmlns:a16="http://schemas.microsoft.com/office/drawing/2014/main" id="{1491DC7E-2D10-32B6-C016-B98779994E3D}"/>
              </a:ext>
            </a:extLst>
          </p:cNvPr>
          <p:cNvSpPr txBox="1">
            <a:spLocks noGrp="1"/>
          </p:cNvSpPr>
          <p:nvPr>
            <p:ph type="body" idx="1"/>
          </p:nvPr>
        </p:nvSpPr>
        <p:spPr>
          <a:xfrm>
            <a:off x="494675" y="1096824"/>
            <a:ext cx="11231400" cy="5416709"/>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US" sz="2000" dirty="0"/>
              <a:t>The Naïve Way: </a:t>
            </a:r>
          </a:p>
          <a:p>
            <a:pPr lvl="1" indent="-355600">
              <a:spcBef>
                <a:spcPts val="0"/>
              </a:spcBef>
              <a:buSzPts val="2000"/>
            </a:pPr>
            <a:r>
              <a:rPr lang="en-US" sz="1800" dirty="0"/>
              <a:t>Testing every number up to 𝑁 to find its factors is too slow.</a:t>
            </a:r>
          </a:p>
          <a:p>
            <a:pPr indent="-355600">
              <a:spcBef>
                <a:spcPts val="0"/>
              </a:spcBef>
              <a:buSzPts val="2000"/>
            </a:pPr>
            <a:r>
              <a:rPr lang="en-US" sz="2000" dirty="0"/>
              <a:t>The Optimized Way (𝑂(√𝑁/ln⁡√𝑁 )):</a:t>
            </a:r>
          </a:p>
          <a:p>
            <a:pPr lvl="1" indent="-355600">
              <a:spcBef>
                <a:spcPts val="0"/>
              </a:spcBef>
              <a:buSzPts val="2000"/>
            </a:pPr>
            <a:r>
              <a:rPr lang="en-US" sz="1800" dirty="0"/>
              <a:t>First, generate a list of prime numbers using the Sieve of Eratosthenes up to √𝑁.</a:t>
            </a:r>
          </a:p>
          <a:p>
            <a:pPr lvl="1" indent="-355600">
              <a:spcBef>
                <a:spcPts val="0"/>
              </a:spcBef>
              <a:buSzPts val="2000"/>
            </a:pPr>
            <a:r>
              <a:rPr lang="en-US" sz="1800" dirty="0"/>
              <a:t>Iterate only through these prime numbers. If a prime 𝑝 divides 𝑁, divide 𝑁 by 𝑝 as many times as possible while recording 𝑝 as a factor.</a:t>
            </a:r>
          </a:p>
          <a:p>
            <a:pPr lvl="1" indent="-355600">
              <a:spcBef>
                <a:spcPts val="0"/>
              </a:spcBef>
              <a:buSzPts val="2000"/>
            </a:pPr>
            <a:r>
              <a:rPr lang="en-US" sz="1800" dirty="0"/>
              <a:t>After the loop finishes, if the remaining 𝑁 is greater than 1, then that remaining 𝑁 is itself a prime factor!</a:t>
            </a:r>
          </a:p>
          <a:p>
            <a:pPr lvl="1" indent="-355600">
              <a:spcBef>
                <a:spcPts val="0"/>
              </a:spcBef>
              <a:buSzPts val="2000"/>
            </a:pPr>
            <a:r>
              <a:rPr lang="en-US" sz="1800" dirty="0"/>
              <a:t>Code from: </a:t>
            </a:r>
            <a:r>
              <a:rPr lang="en-US" sz="1800" dirty="0">
                <a:hlinkClick r:id="rId3"/>
              </a:rPr>
              <a:t>https://github.com/stevenhalim/cpbook-code/blob/master/ch5/primes.py</a:t>
            </a:r>
            <a:r>
              <a:rPr lang="en-US" sz="1800" dirty="0"/>
              <a:t> </a:t>
            </a:r>
          </a:p>
          <a:p>
            <a:pPr lvl="1" indent="-355600">
              <a:spcBef>
                <a:spcPts val="0"/>
              </a:spcBef>
              <a:buSzPts val="2000"/>
            </a:pPr>
            <a:endParaRPr lang="en-US" sz="1800" dirty="0"/>
          </a:p>
        </p:txBody>
      </p:sp>
      <p:pic>
        <p:nvPicPr>
          <p:cNvPr id="2" name="Picture 1">
            <a:extLst>
              <a:ext uri="{FF2B5EF4-FFF2-40B4-BE49-F238E27FC236}">
                <a16:creationId xmlns:a16="http://schemas.microsoft.com/office/drawing/2014/main" id="{46FE110A-62D0-5773-E455-D29347406EC2}"/>
              </a:ext>
            </a:extLst>
          </p:cNvPr>
          <p:cNvPicPr>
            <a:picLocks noChangeAspect="1"/>
          </p:cNvPicPr>
          <p:nvPr/>
        </p:nvPicPr>
        <p:blipFill>
          <a:blip r:embed="rId4"/>
          <a:stretch>
            <a:fillRect/>
          </a:stretch>
        </p:blipFill>
        <p:spPr>
          <a:xfrm>
            <a:off x="4617309" y="3429000"/>
            <a:ext cx="2133871" cy="3325660"/>
          </a:xfrm>
          <a:prstGeom prst="rect">
            <a:avLst/>
          </a:prstGeom>
        </p:spPr>
      </p:pic>
    </p:spTree>
    <p:extLst>
      <p:ext uri="{BB962C8B-B14F-4D97-AF65-F5344CB8AC3E}">
        <p14:creationId xmlns:p14="http://schemas.microsoft.com/office/powerpoint/2010/main" val="4101071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26C2230B-B704-F991-BE82-D447CB9FF6A1}"/>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1C2AFD33-1936-CF77-8DAF-1ABC1D85C6FD}"/>
              </a:ext>
            </a:extLst>
          </p:cNvPr>
          <p:cNvSpPr txBox="1">
            <a:spLocks noGrp="1"/>
          </p:cNvSpPr>
          <p:nvPr>
            <p:ph type="title"/>
          </p:nvPr>
        </p:nvSpPr>
        <p:spPr>
          <a:xfrm>
            <a:off x="2025792" y="228421"/>
            <a:ext cx="8140415"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5.3.6 Greatest Common Divisor &amp; Least Common Multiple</a:t>
            </a:r>
            <a:endParaRPr dirty="0"/>
          </a:p>
        </p:txBody>
      </p:sp>
      <p:sp>
        <p:nvSpPr>
          <p:cNvPr id="224" name="Google Shape;224;g37c4946a550_0_194">
            <a:extLst>
              <a:ext uri="{FF2B5EF4-FFF2-40B4-BE49-F238E27FC236}">
                <a16:creationId xmlns:a16="http://schemas.microsoft.com/office/drawing/2014/main" id="{F9A4B2D7-17FE-B7DF-3380-FAADD10E7DA5}"/>
              </a:ext>
            </a:extLst>
          </p:cNvPr>
          <p:cNvSpPr txBox="1">
            <a:spLocks noGrp="1"/>
          </p:cNvSpPr>
          <p:nvPr>
            <p:ph type="body" idx="1"/>
          </p:nvPr>
        </p:nvSpPr>
        <p:spPr>
          <a:xfrm>
            <a:off x="494675" y="1096825"/>
            <a:ext cx="11231400" cy="3310200"/>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US" sz="2000" dirty="0"/>
              <a:t>Greatest Common Divisor (GCD):</a:t>
            </a:r>
          </a:p>
          <a:p>
            <a:pPr lvl="1" indent="-355600">
              <a:spcBef>
                <a:spcPts val="0"/>
              </a:spcBef>
              <a:buSzPts val="2000"/>
            </a:pPr>
            <a:r>
              <a:rPr lang="en-US" sz="1800" dirty="0"/>
              <a:t>The largest integer that divides both 𝐴 and 𝐵 without leaving a remainder.</a:t>
            </a:r>
          </a:p>
          <a:p>
            <a:pPr lvl="1" indent="-355600">
              <a:spcBef>
                <a:spcPts val="0"/>
              </a:spcBef>
              <a:buSzPts val="2000"/>
            </a:pPr>
            <a:r>
              <a:rPr lang="en-US" sz="1800" dirty="0"/>
              <a:t>Libraries: </a:t>
            </a:r>
            <a:r>
              <a:rPr lang="en-US" sz="1800" dirty="0" err="1"/>
              <a:t>math.gcd</a:t>
            </a:r>
            <a:r>
              <a:rPr lang="en-US" sz="1800" dirty="0"/>
              <a:t>(a, b) in Python.</a:t>
            </a:r>
          </a:p>
          <a:p>
            <a:pPr indent="-355600">
              <a:spcBef>
                <a:spcPts val="0"/>
              </a:spcBef>
              <a:buSzPts val="2000"/>
            </a:pPr>
            <a:r>
              <a:rPr lang="en-US" sz="2000" dirty="0"/>
              <a:t>Least Common Multiple (LCM):</a:t>
            </a:r>
          </a:p>
          <a:p>
            <a:pPr lvl="1" indent="-355600">
              <a:spcBef>
                <a:spcPts val="0"/>
              </a:spcBef>
              <a:buSzPts val="2000"/>
            </a:pPr>
            <a:r>
              <a:rPr lang="en-US" sz="1800" dirty="0"/>
              <a:t>The smallest integer that is a multiple of both 𝐴 and 𝐵.</a:t>
            </a:r>
          </a:p>
          <a:p>
            <a:pPr indent="-355600">
              <a:spcBef>
                <a:spcPts val="0"/>
              </a:spcBef>
              <a:buSzPts val="2000"/>
            </a:pPr>
            <a:r>
              <a:rPr lang="en-US" sz="2000" dirty="0"/>
              <a:t>Formula: lcm(𝐴,𝐵)=𝐴*(𝐵/</a:t>
            </a:r>
            <a:r>
              <a:rPr lang="en-US" sz="2000" dirty="0" err="1"/>
              <a:t>gcd</a:t>
            </a:r>
            <a:r>
              <a:rPr lang="en-US" sz="2000" dirty="0"/>
              <a:t>(𝐴,𝐵))</a:t>
            </a:r>
          </a:p>
        </p:txBody>
      </p:sp>
    </p:spTree>
    <p:extLst>
      <p:ext uri="{BB962C8B-B14F-4D97-AF65-F5344CB8AC3E}">
        <p14:creationId xmlns:p14="http://schemas.microsoft.com/office/powerpoint/2010/main" val="3635219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0585D40E-CA1B-A760-267E-3D7E0A430B41}"/>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413D2E2D-5C4B-8745-F4B8-027E21800B01}"/>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5.3.9 Modular Arithmetic</a:t>
            </a:r>
          </a:p>
        </p:txBody>
      </p:sp>
      <p:sp>
        <p:nvSpPr>
          <p:cNvPr id="224" name="Google Shape;224;g37c4946a550_0_194">
            <a:extLst>
              <a:ext uri="{FF2B5EF4-FFF2-40B4-BE49-F238E27FC236}">
                <a16:creationId xmlns:a16="http://schemas.microsoft.com/office/drawing/2014/main" id="{431F7D3D-7F10-B2C0-9B72-C4D05809E3EC}"/>
              </a:ext>
            </a:extLst>
          </p:cNvPr>
          <p:cNvSpPr txBox="1">
            <a:spLocks noGrp="1"/>
          </p:cNvSpPr>
          <p:nvPr>
            <p:ph type="body" idx="1"/>
          </p:nvPr>
        </p:nvSpPr>
        <p:spPr>
          <a:xfrm>
            <a:off x="494675" y="1096825"/>
            <a:ext cx="11231400" cy="3017975"/>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US" sz="2000" dirty="0"/>
              <a:t>Many problems are only interested in the modulo of large numbers that fit into built-in types</a:t>
            </a:r>
          </a:p>
          <a:p>
            <a:pPr indent="-355600">
              <a:spcBef>
                <a:spcPts val="0"/>
              </a:spcBef>
              <a:buSzPts val="2000"/>
            </a:pPr>
            <a:r>
              <a:rPr lang="en-US" sz="2000" dirty="0"/>
              <a:t>Ex: You have binary digits of up to 2</a:t>
            </a:r>
            <a:r>
              <a:rPr lang="en-US" sz="2000" baseline="30000" dirty="0"/>
              <a:t>100</a:t>
            </a:r>
            <a:r>
              <a:rPr lang="en-US" sz="2000" dirty="0"/>
              <a:t>-1 long, output if the number is divisible by 131071</a:t>
            </a:r>
          </a:p>
          <a:p>
            <a:pPr lvl="1" indent="-355600">
              <a:spcBef>
                <a:spcPts val="0"/>
              </a:spcBef>
              <a:buSzPts val="2000"/>
            </a:pPr>
            <a:r>
              <a:rPr lang="en-US" sz="1800" dirty="0"/>
              <a:t>Answer: convert binary to decimal digit by digit while performing % 131071 to the intermediate result</a:t>
            </a:r>
          </a:p>
          <a:p>
            <a:pPr lvl="1" indent="-355600">
              <a:spcBef>
                <a:spcPts val="0"/>
              </a:spcBef>
              <a:buSzPts val="2000"/>
            </a:pPr>
            <a:r>
              <a:rPr lang="en-US" sz="1800" dirty="0"/>
              <a:t>If result is 0, then actual number is divisible by 131071</a:t>
            </a:r>
          </a:p>
          <a:p>
            <a:pPr indent="-355600">
              <a:spcBef>
                <a:spcPts val="0"/>
              </a:spcBef>
              <a:buSzPts val="2000"/>
            </a:pPr>
            <a:r>
              <a:rPr lang="en-US" sz="2000" dirty="0"/>
              <a:t>Note:</a:t>
            </a:r>
          </a:p>
          <a:p>
            <a:pPr lvl="1" indent="-355600">
              <a:spcBef>
                <a:spcPts val="0"/>
              </a:spcBef>
              <a:buSzPts val="2000"/>
            </a:pPr>
            <a:r>
              <a:rPr lang="en-US" sz="1800" dirty="0"/>
              <a:t>Modulo can behave differently depending on the language used</a:t>
            </a:r>
          </a:p>
          <a:p>
            <a:pPr lvl="1" indent="-355600">
              <a:spcBef>
                <a:spcPts val="0"/>
              </a:spcBef>
              <a:buSzPts val="2000"/>
            </a:pPr>
            <a:r>
              <a:rPr lang="en-US" sz="1800" dirty="0"/>
              <a:t>Python: -10%4=4</a:t>
            </a:r>
          </a:p>
          <a:p>
            <a:pPr lvl="1" indent="-355600">
              <a:spcBef>
                <a:spcPts val="0"/>
              </a:spcBef>
              <a:buSzPts val="2000"/>
            </a:pPr>
            <a:r>
              <a:rPr lang="en-US" sz="1800" dirty="0"/>
              <a:t>C++/Java: -10%4=-3</a:t>
            </a:r>
          </a:p>
          <a:p>
            <a:pPr lvl="1" indent="-355600">
              <a:spcBef>
                <a:spcPts val="0"/>
              </a:spcBef>
              <a:buSzPts val="2000"/>
            </a:pPr>
            <a:r>
              <a:rPr lang="en-US" sz="1800" dirty="0"/>
              <a:t>To be safer, you can find a non-negative number using ((a % m) + m) % m</a:t>
            </a:r>
          </a:p>
          <a:p>
            <a:pPr lvl="2" indent="-355600">
              <a:spcBef>
                <a:spcPts val="0"/>
              </a:spcBef>
              <a:buSzPts val="2000"/>
            </a:pPr>
            <a:r>
              <a:rPr lang="en-US" sz="1800" dirty="0"/>
              <a:t>Ex: ((-10 % 7) + 7) % 7 = (3 + 7) % 7 = 4 % 7 = 4.</a:t>
            </a:r>
          </a:p>
          <a:p>
            <a:pPr lvl="2" indent="-355600">
              <a:spcBef>
                <a:spcPts val="0"/>
              </a:spcBef>
              <a:buSzPts val="2000"/>
            </a:pPr>
            <a:endParaRPr lang="en-US" sz="1800" dirty="0"/>
          </a:p>
          <a:p>
            <a:pPr lvl="1" indent="-355600">
              <a:spcBef>
                <a:spcPts val="0"/>
              </a:spcBef>
              <a:buSzPts val="2000"/>
            </a:pPr>
            <a:endParaRPr lang="en-US" sz="1800" dirty="0"/>
          </a:p>
        </p:txBody>
      </p:sp>
      <p:pic>
        <p:nvPicPr>
          <p:cNvPr id="2" name="Picture 1">
            <a:extLst>
              <a:ext uri="{FF2B5EF4-FFF2-40B4-BE49-F238E27FC236}">
                <a16:creationId xmlns:a16="http://schemas.microsoft.com/office/drawing/2014/main" id="{5539B4F1-594D-6CFB-FF86-BAF98ADE4764}"/>
              </a:ext>
            </a:extLst>
          </p:cNvPr>
          <p:cNvPicPr>
            <a:picLocks noChangeAspect="1"/>
          </p:cNvPicPr>
          <p:nvPr/>
        </p:nvPicPr>
        <p:blipFill>
          <a:blip r:embed="rId3"/>
          <a:stretch>
            <a:fillRect/>
          </a:stretch>
        </p:blipFill>
        <p:spPr>
          <a:xfrm>
            <a:off x="2672860" y="4114800"/>
            <a:ext cx="5392723" cy="2675620"/>
          </a:xfrm>
          <a:prstGeom prst="rect">
            <a:avLst/>
          </a:prstGeom>
        </p:spPr>
      </p:pic>
    </p:spTree>
    <p:extLst>
      <p:ext uri="{BB962C8B-B14F-4D97-AF65-F5344CB8AC3E}">
        <p14:creationId xmlns:p14="http://schemas.microsoft.com/office/powerpoint/2010/main" val="2012955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ADCAC1F3-616E-4014-27B9-53A8D38F22ED}"/>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36ABDA0A-9E69-ABD5-E700-5E2A1B4F5DB1}"/>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CA" dirty="0"/>
              <a:t>7 Geometry</a:t>
            </a:r>
            <a:endParaRPr dirty="0"/>
          </a:p>
        </p:txBody>
      </p:sp>
      <p:sp>
        <p:nvSpPr>
          <p:cNvPr id="224" name="Google Shape;224;g37c4946a550_0_194">
            <a:extLst>
              <a:ext uri="{FF2B5EF4-FFF2-40B4-BE49-F238E27FC236}">
                <a16:creationId xmlns:a16="http://schemas.microsoft.com/office/drawing/2014/main" id="{A68A69DA-65CC-2112-29E1-B6B479834220}"/>
              </a:ext>
            </a:extLst>
          </p:cNvPr>
          <p:cNvSpPr txBox="1">
            <a:spLocks noGrp="1"/>
          </p:cNvSpPr>
          <p:nvPr>
            <p:ph type="body" idx="1"/>
          </p:nvPr>
        </p:nvSpPr>
        <p:spPr>
          <a:xfrm>
            <a:off x="494675" y="1096824"/>
            <a:ext cx="11231400" cy="5081237"/>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CA" sz="2000" dirty="0"/>
              <a:t>There are many pitfalls in working with geometry problems, tips:</a:t>
            </a:r>
          </a:p>
          <a:p>
            <a:pPr indent="-355600">
              <a:spcBef>
                <a:spcPts val="0"/>
              </a:spcBef>
              <a:buSzPts val="2000"/>
            </a:pPr>
            <a:r>
              <a:rPr lang="en-CA" sz="2000" dirty="0"/>
              <a:t>Avoid floating point operations</a:t>
            </a:r>
          </a:p>
          <a:p>
            <a:pPr indent="-355600">
              <a:spcBef>
                <a:spcPts val="0"/>
              </a:spcBef>
              <a:buSzPts val="2000"/>
            </a:pPr>
            <a:r>
              <a:rPr lang="en-CA" sz="2000" dirty="0"/>
              <a:t>If you have to use floating points:</a:t>
            </a:r>
          </a:p>
          <a:p>
            <a:pPr lvl="1" indent="-355600">
              <a:spcBef>
                <a:spcPts val="0"/>
              </a:spcBef>
              <a:buSzPts val="2000"/>
            </a:pPr>
            <a:r>
              <a:rPr lang="en-CA" sz="1800" dirty="0"/>
              <a:t>Do floating point equality test this way: fabs(a-b) &lt; EPS where EPS is a small number like 1e-9 (i.e., 109 or 0.000000001) instead of testing if a == b.</a:t>
            </a:r>
          </a:p>
          <a:p>
            <a:pPr lvl="1" indent="-355600">
              <a:spcBef>
                <a:spcPts val="0"/>
              </a:spcBef>
              <a:buSzPts val="2000"/>
            </a:pPr>
            <a:r>
              <a:rPr lang="en-CA" sz="1800" dirty="0"/>
              <a:t>Python, use </a:t>
            </a:r>
            <a:r>
              <a:rPr lang="en-US" sz="1800" dirty="0" err="1"/>
              <a:t>math.isclose</a:t>
            </a:r>
            <a:r>
              <a:rPr lang="en-US" sz="1800" dirty="0"/>
              <a:t>() </a:t>
            </a:r>
          </a:p>
          <a:p>
            <a:pPr lvl="1" indent="-355600">
              <a:spcBef>
                <a:spcPts val="0"/>
              </a:spcBef>
              <a:buSzPts val="2000"/>
            </a:pPr>
            <a:r>
              <a:rPr lang="en-CA" sz="1800" dirty="0"/>
              <a:t>Check if a floating point number x &gt;= 0.0 by using x &gt; -EPS (similarly to check if x &lt;= 0.0, we use x &lt; EPS)</a:t>
            </a:r>
          </a:p>
          <a:p>
            <a:pPr lvl="1" indent="-355600">
              <a:spcBef>
                <a:spcPts val="0"/>
              </a:spcBef>
              <a:buSzPts val="2000"/>
            </a:pPr>
            <a:r>
              <a:rPr lang="en-CA" sz="1800" dirty="0"/>
              <a:t>Use double-precision data type by default instead of single-precision data type.</a:t>
            </a:r>
          </a:p>
          <a:p>
            <a:pPr lvl="1" indent="-355600">
              <a:spcBef>
                <a:spcPts val="0"/>
              </a:spcBef>
              <a:buSzPts val="2000"/>
            </a:pPr>
            <a:r>
              <a:rPr lang="en-CA" sz="1800" dirty="0"/>
              <a:t>Defer the floating point operation(s) as late as possible to reduce the effect of compounding errors.</a:t>
            </a:r>
          </a:p>
          <a:p>
            <a:pPr lvl="1" indent="-355600">
              <a:spcBef>
                <a:spcPts val="0"/>
              </a:spcBef>
              <a:buSzPts val="2000"/>
            </a:pPr>
            <a:r>
              <a:rPr lang="en-CA" sz="1800" dirty="0"/>
              <a:t>Reduce the number of such floating point operation(s) as much as we can, </a:t>
            </a:r>
          </a:p>
          <a:p>
            <a:pPr lvl="2" indent="-355600">
              <a:spcBef>
                <a:spcPts val="0"/>
              </a:spcBef>
              <a:buSzPts val="2000"/>
            </a:pPr>
            <a:r>
              <a:rPr lang="en-CA" sz="1800" dirty="0"/>
              <a:t>Ex: instead of computing a/b/c (two floating </a:t>
            </a:r>
            <a:r>
              <a:rPr lang="en-CA" sz="1800" dirty="0" err="1"/>
              <a:t>poin</a:t>
            </a:r>
            <a:r>
              <a:rPr lang="en-CA" sz="1800" dirty="0"/>
              <a:t> point divisions), we compute a/(b*c) instead (only one floating point division)</a:t>
            </a:r>
          </a:p>
          <a:p>
            <a:pPr lvl="2" indent="-355600">
              <a:spcBef>
                <a:spcPts val="0"/>
              </a:spcBef>
              <a:buSzPts val="2000"/>
            </a:pPr>
            <a:endParaRPr lang="en-CA" sz="1800" dirty="0"/>
          </a:p>
          <a:p>
            <a:pPr lvl="1" indent="-355600">
              <a:spcBef>
                <a:spcPts val="0"/>
              </a:spcBef>
              <a:buSzPts val="2000"/>
            </a:pPr>
            <a:endParaRPr lang="en-CA" sz="1800" dirty="0"/>
          </a:p>
          <a:p>
            <a:pPr lvl="1" indent="-355600">
              <a:spcBef>
                <a:spcPts val="0"/>
              </a:spcBef>
              <a:buSzPts val="2000"/>
            </a:pPr>
            <a:endParaRPr lang="en-CA" sz="1800" dirty="0"/>
          </a:p>
        </p:txBody>
      </p:sp>
      <p:pic>
        <p:nvPicPr>
          <p:cNvPr id="3" name="Picture 2">
            <a:extLst>
              <a:ext uri="{FF2B5EF4-FFF2-40B4-BE49-F238E27FC236}">
                <a16:creationId xmlns:a16="http://schemas.microsoft.com/office/drawing/2014/main" id="{C174CA86-6DB9-0ECC-C3E2-9986DD5F2EBC}"/>
              </a:ext>
            </a:extLst>
          </p:cNvPr>
          <p:cNvPicPr>
            <a:picLocks noChangeAspect="1"/>
          </p:cNvPicPr>
          <p:nvPr/>
        </p:nvPicPr>
        <p:blipFill>
          <a:blip r:embed="rId3"/>
          <a:stretch>
            <a:fillRect/>
          </a:stretch>
        </p:blipFill>
        <p:spPr>
          <a:xfrm>
            <a:off x="4318308" y="4363063"/>
            <a:ext cx="3276600" cy="2362200"/>
          </a:xfrm>
          <a:prstGeom prst="rect">
            <a:avLst/>
          </a:prstGeom>
        </p:spPr>
      </p:pic>
    </p:spTree>
    <p:extLst>
      <p:ext uri="{BB962C8B-B14F-4D97-AF65-F5344CB8AC3E}">
        <p14:creationId xmlns:p14="http://schemas.microsoft.com/office/powerpoint/2010/main" val="2196460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904079DF-AEED-3161-B999-2B7422C08046}"/>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09781BA8-C082-A42B-F207-0C081E9D7638}"/>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7.2.1 0D Objects: Points</a:t>
            </a:r>
          </a:p>
        </p:txBody>
      </p:sp>
      <p:sp>
        <p:nvSpPr>
          <p:cNvPr id="224" name="Google Shape;224;g37c4946a550_0_194">
            <a:extLst>
              <a:ext uri="{FF2B5EF4-FFF2-40B4-BE49-F238E27FC236}">
                <a16:creationId xmlns:a16="http://schemas.microsoft.com/office/drawing/2014/main" id="{C5CD6378-B113-F3C7-1D84-ECDCAB1453E2}"/>
              </a:ext>
            </a:extLst>
          </p:cNvPr>
          <p:cNvSpPr txBox="1">
            <a:spLocks noGrp="1"/>
          </p:cNvSpPr>
          <p:nvPr>
            <p:ph type="body" idx="1"/>
          </p:nvPr>
        </p:nvSpPr>
        <p:spPr>
          <a:xfrm>
            <a:off x="494675" y="1096824"/>
            <a:ext cx="11231400" cy="4588868"/>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CA" sz="2000" dirty="0"/>
              <a:t>A point is the basic building block of higher dimensional geometry objects.</a:t>
            </a:r>
          </a:p>
          <a:p>
            <a:pPr indent="-355600">
              <a:spcBef>
                <a:spcPts val="0"/>
              </a:spcBef>
              <a:buSzPts val="2000"/>
            </a:pPr>
            <a:r>
              <a:rPr lang="en-CA" sz="2000" dirty="0"/>
              <a:t>Create a point class and add methods to help yourself</a:t>
            </a:r>
          </a:p>
          <a:p>
            <a:pPr indent="-355600">
              <a:spcBef>
                <a:spcPts val="0"/>
              </a:spcBef>
              <a:buSzPts val="2000"/>
            </a:pPr>
            <a:r>
              <a:rPr lang="en-CA" sz="2000" dirty="0"/>
              <a:t>Implement </a:t>
            </a:r>
          </a:p>
          <a:p>
            <a:pPr lvl="1" indent="-355600">
              <a:spcBef>
                <a:spcPts val="0"/>
              </a:spcBef>
              <a:buSzPts val="2000"/>
            </a:pPr>
            <a:r>
              <a:rPr lang="en-CA" sz="1800" dirty="0"/>
              <a:t>__</a:t>
            </a:r>
            <a:r>
              <a:rPr lang="en-CA" sz="1800" dirty="0" err="1"/>
              <a:t>lt</a:t>
            </a:r>
            <a:r>
              <a:rPr lang="en-CA" sz="1800" dirty="0"/>
              <a:t>__</a:t>
            </a:r>
          </a:p>
          <a:p>
            <a:pPr lvl="1" indent="-355600">
              <a:spcBef>
                <a:spcPts val="0"/>
              </a:spcBef>
              <a:buSzPts val="2000"/>
            </a:pPr>
            <a:r>
              <a:rPr lang="en-CA" sz="1800" dirty="0"/>
              <a:t>__eq__</a:t>
            </a:r>
          </a:p>
          <a:p>
            <a:pPr lvl="1" indent="-355600">
              <a:spcBef>
                <a:spcPts val="0"/>
              </a:spcBef>
              <a:buSzPts val="2000"/>
            </a:pPr>
            <a:r>
              <a:rPr lang="en-CA" sz="1800" dirty="0"/>
              <a:t>distance</a:t>
            </a:r>
          </a:p>
          <a:p>
            <a:pPr lvl="1" indent="-355600">
              <a:spcBef>
                <a:spcPts val="0"/>
              </a:spcBef>
              <a:buSzPts val="2000"/>
            </a:pPr>
            <a:r>
              <a:rPr lang="en-CA" sz="1800" dirty="0"/>
              <a:t>rotations</a:t>
            </a:r>
          </a:p>
        </p:txBody>
      </p:sp>
      <p:pic>
        <p:nvPicPr>
          <p:cNvPr id="3" name="Picture 2">
            <a:extLst>
              <a:ext uri="{FF2B5EF4-FFF2-40B4-BE49-F238E27FC236}">
                <a16:creationId xmlns:a16="http://schemas.microsoft.com/office/drawing/2014/main" id="{0B4D0CF4-FE95-8780-B7A9-344ACC6E5F2E}"/>
              </a:ext>
            </a:extLst>
          </p:cNvPr>
          <p:cNvPicPr>
            <a:picLocks noChangeAspect="1"/>
          </p:cNvPicPr>
          <p:nvPr/>
        </p:nvPicPr>
        <p:blipFill>
          <a:blip r:embed="rId3"/>
          <a:stretch>
            <a:fillRect/>
          </a:stretch>
        </p:blipFill>
        <p:spPr>
          <a:xfrm>
            <a:off x="6257493" y="2379382"/>
            <a:ext cx="5207676" cy="4074351"/>
          </a:xfrm>
          <a:prstGeom prst="rect">
            <a:avLst/>
          </a:prstGeom>
        </p:spPr>
      </p:pic>
    </p:spTree>
    <p:extLst>
      <p:ext uri="{BB962C8B-B14F-4D97-AF65-F5344CB8AC3E}">
        <p14:creationId xmlns:p14="http://schemas.microsoft.com/office/powerpoint/2010/main" val="2878305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9248F954-1826-5369-FD9B-A57AC5F0625A}"/>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9A5688FA-B8E0-8789-9406-E8AF0686D66B}"/>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7.2.2 1D Objects: Lines</a:t>
            </a:r>
            <a:endParaRPr dirty="0"/>
          </a:p>
        </p:txBody>
      </p:sp>
      <p:sp>
        <p:nvSpPr>
          <p:cNvPr id="224" name="Google Shape;224;g37c4946a550_0_194">
            <a:extLst>
              <a:ext uri="{FF2B5EF4-FFF2-40B4-BE49-F238E27FC236}">
                <a16:creationId xmlns:a16="http://schemas.microsoft.com/office/drawing/2014/main" id="{2473675F-155E-CFA6-90DA-AA01FFA77BC1}"/>
              </a:ext>
            </a:extLst>
          </p:cNvPr>
          <p:cNvSpPr txBox="1">
            <a:spLocks noGrp="1"/>
          </p:cNvSpPr>
          <p:nvPr>
            <p:ph type="body" idx="1"/>
          </p:nvPr>
        </p:nvSpPr>
        <p:spPr>
          <a:xfrm>
            <a:off x="494675" y="1096824"/>
            <a:ext cx="11231400" cy="5409483"/>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US" sz="2000" dirty="0"/>
              <a:t>Create classes!</a:t>
            </a:r>
          </a:p>
          <a:p>
            <a:pPr indent="-355600">
              <a:spcBef>
                <a:spcPts val="0"/>
              </a:spcBef>
              <a:buSzPts val="2000"/>
            </a:pPr>
            <a:r>
              <a:rPr lang="en-US" sz="2000" dirty="0"/>
              <a:t>Use </a:t>
            </a:r>
            <a:r>
              <a:rPr lang="en-US" sz="2000" i="1" dirty="0"/>
              <a:t>a</a:t>
            </a:r>
            <a:r>
              <a:rPr lang="en-US" sz="2000" dirty="0"/>
              <a:t>𝑥+</a:t>
            </a:r>
            <a:r>
              <a:rPr lang="en-US" sz="2000" i="1" dirty="0"/>
              <a:t>b</a:t>
            </a:r>
            <a:r>
              <a:rPr lang="en-US" sz="2000" dirty="0"/>
              <a:t>𝑦+</a:t>
            </a:r>
            <a:r>
              <a:rPr lang="en-US" sz="2000" i="1" dirty="0"/>
              <a:t>c</a:t>
            </a:r>
            <a:r>
              <a:rPr lang="en-US" sz="2000" dirty="0"/>
              <a:t>=0 because it can handle vertical lines (when b=0)</a:t>
            </a:r>
          </a:p>
          <a:p>
            <a:pPr indent="-355600">
              <a:spcBef>
                <a:spcPts val="0"/>
              </a:spcBef>
              <a:buSzPts val="2000"/>
            </a:pPr>
            <a:r>
              <a:rPr lang="en-US" sz="2000" dirty="0"/>
              <a:t>Implement:</a:t>
            </a:r>
          </a:p>
          <a:p>
            <a:pPr lvl="1" indent="-355600">
              <a:spcBef>
                <a:spcPts val="0"/>
              </a:spcBef>
              <a:buSzPts val="2000"/>
            </a:pPr>
            <a:r>
              <a:rPr lang="en-US" sz="1800" dirty="0"/>
              <a:t>Compute line equation given 2 points</a:t>
            </a:r>
          </a:p>
          <a:p>
            <a:pPr lvl="1" indent="-355600">
              <a:spcBef>
                <a:spcPts val="0"/>
              </a:spcBef>
              <a:buSzPts val="2000"/>
            </a:pPr>
            <a:r>
              <a:rPr lang="en-US" sz="1800" dirty="0"/>
              <a:t>Compute line equation given 1 point and a slope</a:t>
            </a:r>
          </a:p>
          <a:p>
            <a:pPr lvl="1" indent="-355600">
              <a:spcBef>
                <a:spcPts val="0"/>
              </a:spcBef>
              <a:buSzPts val="2000"/>
            </a:pPr>
            <a:r>
              <a:rPr lang="en-US" sz="1800" dirty="0"/>
              <a:t>Test whether 2 lines are parallel (if all coefficients are the same)</a:t>
            </a:r>
          </a:p>
          <a:p>
            <a:pPr lvl="1" indent="-355600">
              <a:spcBef>
                <a:spcPts val="0"/>
              </a:spcBef>
              <a:buSzPts val="2000"/>
            </a:pPr>
            <a:r>
              <a:rPr lang="en-US" sz="1800" dirty="0"/>
              <a:t>Compute the intersection of 2 non-parallel lines</a:t>
            </a:r>
          </a:p>
          <a:p>
            <a:pPr lvl="1" indent="-355600">
              <a:spcBef>
                <a:spcPts val="0"/>
              </a:spcBef>
              <a:buSzPts val="2000"/>
            </a:pPr>
            <a:r>
              <a:rPr lang="en-US" sz="1800" dirty="0"/>
              <a:t>Vectors (line segment with x, y as magnitudes of the vector)</a:t>
            </a:r>
          </a:p>
          <a:p>
            <a:pPr lvl="1" indent="-355600">
              <a:spcBef>
                <a:spcPts val="0"/>
              </a:spcBef>
              <a:buSzPts val="2000"/>
            </a:pPr>
            <a:r>
              <a:rPr lang="en-US" sz="1800" dirty="0"/>
              <a:t>Vector translations</a:t>
            </a:r>
          </a:p>
          <a:p>
            <a:pPr lvl="1" indent="-355600">
              <a:spcBef>
                <a:spcPts val="0"/>
              </a:spcBef>
              <a:buSzPts val="2000"/>
            </a:pPr>
            <a:r>
              <a:rPr lang="en-US" sz="1800" dirty="0"/>
              <a:t>Compute the angle between 2 points</a:t>
            </a:r>
          </a:p>
          <a:p>
            <a:pPr lvl="1" indent="-355600">
              <a:spcBef>
                <a:spcPts val="0"/>
              </a:spcBef>
              <a:buSzPts val="2000"/>
            </a:pPr>
            <a:r>
              <a:rPr lang="en-US" sz="1800" dirty="0"/>
              <a:t>Given three points p, q, and r, determine whether point p, q, and then r, in that order, makes a left (counterclockwise) or a right (clockwise turn); or whether the three points p, q, and r are collinear</a:t>
            </a:r>
          </a:p>
          <a:p>
            <a:pPr lvl="1" indent="-355600">
              <a:spcBef>
                <a:spcPts val="0"/>
              </a:spcBef>
              <a:buSzPts val="2000"/>
            </a:pPr>
            <a:r>
              <a:rPr lang="en-US" sz="1800" dirty="0"/>
              <a:t>Given a point p and a line l (described by two points a and b), compute the minimum distance from p to l </a:t>
            </a:r>
          </a:p>
          <a:p>
            <a:pPr lvl="1" indent="-355600">
              <a:spcBef>
                <a:spcPts val="0"/>
              </a:spcBef>
              <a:buSzPts val="2000"/>
            </a:pPr>
            <a:r>
              <a:rPr lang="en-CA" sz="1800" dirty="0"/>
              <a:t>Given a line segment instead (defined by two end points a and b), compute the minimum distance from point p to line segment ab </a:t>
            </a:r>
          </a:p>
          <a:p>
            <a:pPr indent="-355600">
              <a:spcBef>
                <a:spcPts val="0"/>
              </a:spcBef>
              <a:buSzPts val="2000"/>
            </a:pPr>
            <a:r>
              <a:rPr lang="en-CA" sz="2200" dirty="0"/>
              <a:t>Look at code on </a:t>
            </a:r>
            <a:r>
              <a:rPr lang="en-CA" sz="2200" dirty="0">
                <a:hlinkClick r:id="rId3"/>
              </a:rPr>
              <a:t>https://github.com/stevenhalim/cpbook-code/blob/master/ch7/points_lines.py</a:t>
            </a:r>
            <a:r>
              <a:rPr lang="en-CA" sz="2200" dirty="0"/>
              <a:t> for implementation</a:t>
            </a:r>
          </a:p>
          <a:p>
            <a:pPr indent="-355600">
              <a:spcBef>
                <a:spcPts val="0"/>
              </a:spcBef>
              <a:buSzPts val="2000"/>
            </a:pPr>
            <a:r>
              <a:rPr lang="en-CA" sz="2200" dirty="0"/>
              <a:t>Look at textbook for detailed implementation notes</a:t>
            </a:r>
            <a:endParaRPr lang="en-US" sz="2200" dirty="0"/>
          </a:p>
          <a:p>
            <a:pPr lvl="1" indent="-355600">
              <a:spcBef>
                <a:spcPts val="0"/>
              </a:spcBef>
              <a:buSzPts val="2000"/>
            </a:pPr>
            <a:endParaRPr lang="en-US" sz="1800" dirty="0"/>
          </a:p>
        </p:txBody>
      </p:sp>
    </p:spTree>
    <p:extLst>
      <p:ext uri="{BB962C8B-B14F-4D97-AF65-F5344CB8AC3E}">
        <p14:creationId xmlns:p14="http://schemas.microsoft.com/office/powerpoint/2010/main" val="944050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2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2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24">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2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2B13C0B3-5AC1-FD98-2846-0B94BD844826}"/>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108DEF89-0B69-C7BC-ECE4-55F0AC6316DF}"/>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7.2.2 2D Objects: Circles</a:t>
            </a:r>
          </a:p>
        </p:txBody>
      </p:sp>
      <mc:AlternateContent xmlns:mc="http://schemas.openxmlformats.org/markup-compatibility/2006">
        <mc:Choice xmlns:a14="http://schemas.microsoft.com/office/drawing/2010/main" Requires="a14">
          <p:sp>
            <p:nvSpPr>
              <p:cNvPr id="224" name="Google Shape;224;g37c4946a550_0_194">
                <a:extLst>
                  <a:ext uri="{FF2B5EF4-FFF2-40B4-BE49-F238E27FC236}">
                    <a16:creationId xmlns:a16="http://schemas.microsoft.com/office/drawing/2014/main" id="{496ED374-C5EE-5AED-AA1E-412A9B823D6E}"/>
                  </a:ext>
                </a:extLst>
              </p:cNvPr>
              <p:cNvSpPr txBox="1">
                <a:spLocks noGrp="1"/>
              </p:cNvSpPr>
              <p:nvPr>
                <p:ph type="body" idx="1"/>
              </p:nvPr>
            </p:nvSpPr>
            <p:spPr>
              <a:xfrm>
                <a:off x="498722" y="926069"/>
                <a:ext cx="11231400" cy="4701008"/>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CA" sz="2000" dirty="0"/>
                  <a:t>A circle centered at coordinate (a, b) in a 2D Euclidean space with radius r is the set of all points (x, y) such that (x-a)</a:t>
                </a:r>
                <a:r>
                  <a:rPr lang="en-CA" sz="2000" baseline="30000" dirty="0"/>
                  <a:t>2</a:t>
                </a:r>
                <a:r>
                  <a:rPr lang="en-CA" sz="2000" dirty="0"/>
                  <a:t> + (y-b)</a:t>
                </a:r>
                <a:r>
                  <a:rPr lang="en-CA" sz="2000" baseline="30000" dirty="0"/>
                  <a:t>2</a:t>
                </a:r>
                <a:r>
                  <a:rPr lang="en-CA" sz="2000" dirty="0"/>
                  <a:t> = r</a:t>
                </a:r>
                <a:r>
                  <a:rPr lang="en-CA" sz="2000" baseline="30000" dirty="0"/>
                  <a:t>2</a:t>
                </a:r>
              </a:p>
              <a:p>
                <a:pPr indent="-355600">
                  <a:spcBef>
                    <a:spcPts val="0"/>
                  </a:spcBef>
                  <a:buSzPts val="2000"/>
                </a:pPr>
                <a:r>
                  <a:rPr lang="en-CA" sz="2000" dirty="0"/>
                  <a:t>Definitions:</a:t>
                </a:r>
              </a:p>
              <a:p>
                <a:pPr lvl="1" indent="-355600">
                  <a:spcBef>
                    <a:spcPts val="0"/>
                  </a:spcBef>
                  <a:buSzPts val="2000"/>
                </a:pPr>
                <a:r>
                  <a:rPr lang="en-CA" sz="1800" dirty="0" err="1"/>
                  <a:t>math.pi</a:t>
                </a:r>
                <a:endParaRPr lang="en-CA" sz="1800" dirty="0"/>
              </a:p>
              <a:p>
                <a:pPr lvl="1" indent="-355600">
                  <a:spcBef>
                    <a:spcPts val="0"/>
                  </a:spcBef>
                  <a:buSzPts val="2000"/>
                </a:pPr>
                <a:r>
                  <a:rPr lang="en-CA" sz="1800" dirty="0"/>
                  <a:t>Diameter = 2*r, perimeter = 2*pi*r, area= pi*r</a:t>
                </a:r>
                <a:r>
                  <a:rPr lang="en-CA" sz="1800" baseline="30000" dirty="0"/>
                  <a:t>2</a:t>
                </a:r>
                <a:endParaRPr lang="en-CA" sz="1800" dirty="0"/>
              </a:p>
              <a:p>
                <a:pPr lvl="1" indent="-355600">
                  <a:spcBef>
                    <a:spcPts val="0"/>
                  </a:spcBef>
                  <a:buSzPts val="2000"/>
                </a:pPr>
                <a:r>
                  <a:rPr lang="en-CA" sz="1800" dirty="0"/>
                  <a:t>Arc is a connected section of the circumference c of the circle.</a:t>
                </a:r>
              </a:p>
              <a:p>
                <a:pPr lvl="2" indent="-355600">
                  <a:spcBef>
                    <a:spcPts val="0"/>
                  </a:spcBef>
                  <a:buSzPts val="2000"/>
                </a:pPr>
                <a:r>
                  <a:rPr lang="en-CA" sz="1800" dirty="0"/>
                  <a:t>Given angle </a:t>
                </a:r>
                <a:r>
                  <a:rPr lang="en-CA" sz="1800" dirty="0" err="1"/>
                  <a:t>θ</a:t>
                </a:r>
                <a:r>
                  <a:rPr lang="en-CA" sz="1800" dirty="0"/>
                  <a:t> in degrees (angle with vertex at the circle’s center), we can compute length of arc as (</a:t>
                </a:r>
                <a:r>
                  <a:rPr lang="en-CA" sz="1800" dirty="0" err="1"/>
                  <a:t>θ</a:t>
                </a:r>
                <a:r>
                  <a:rPr lang="en-CA" sz="1800" dirty="0"/>
                  <a:t>*c)/360.0</a:t>
                </a:r>
              </a:p>
              <a:p>
                <a:pPr lvl="1" indent="-355600">
                  <a:spcBef>
                    <a:spcPts val="0"/>
                  </a:spcBef>
                  <a:buSzPts val="2000"/>
                </a:pPr>
                <a:r>
                  <a:rPr lang="en-CA" sz="1800" dirty="0"/>
                  <a:t>Chord defined as a line segment whose endpoints lie on the circle</a:t>
                </a:r>
              </a:p>
              <a:p>
                <a:pPr lvl="2" indent="-355600">
                  <a:spcBef>
                    <a:spcPts val="0"/>
                  </a:spcBef>
                  <a:buSzPts val="2000"/>
                </a:pPr>
                <a:r>
                  <a:rPr lang="en-CA" sz="1800" dirty="0"/>
                  <a:t>Radius r with central angle </a:t>
                </a:r>
                <a:r>
                  <a:rPr lang="en-CA" sz="1800" dirty="0" err="1"/>
                  <a:t>θ</a:t>
                </a:r>
                <a:r>
                  <a:rPr lang="en-CA" sz="1800" dirty="0"/>
                  <a:t> in degrees, has chord length </a:t>
                </a:r>
                <a14:m>
                  <m:oMath xmlns:m="http://schemas.openxmlformats.org/officeDocument/2006/math">
                    <m:rad>
                      <m:radPr>
                        <m:degHide m:val="on"/>
                        <m:ctrlPr>
                          <a:rPr lang="en-CA" sz="1800" b="0" i="1" smtClean="0">
                            <a:latin typeface="Cambria Math" panose="02040503050406030204" pitchFamily="18" charset="0"/>
                            <a:ea typeface="Cambria Math" panose="02040503050406030204" pitchFamily="18" charset="0"/>
                          </a:rPr>
                        </m:ctrlPr>
                      </m:radPr>
                      <m:deg/>
                      <m:e>
                        <m:r>
                          <a:rPr lang="en-CA" sz="1800" b="0" i="1" smtClean="0">
                            <a:latin typeface="Cambria Math" panose="02040503050406030204" pitchFamily="18" charset="0"/>
                            <a:ea typeface="Cambria Math" panose="02040503050406030204" pitchFamily="18" charset="0"/>
                          </a:rPr>
                          <m:t>(2∗</m:t>
                        </m:r>
                        <m:sSup>
                          <m:sSupPr>
                            <m:ctrlPr>
                              <a:rPr lang="en-CA" sz="1800" b="0" i="1" smtClean="0">
                                <a:latin typeface="Cambria Math" panose="02040503050406030204" pitchFamily="18" charset="0"/>
                                <a:ea typeface="Cambria Math" panose="02040503050406030204" pitchFamily="18" charset="0"/>
                              </a:rPr>
                            </m:ctrlPr>
                          </m:sSupPr>
                          <m:e>
                            <m:r>
                              <a:rPr lang="en-CA" sz="1800" b="0" i="1" smtClean="0">
                                <a:latin typeface="Cambria Math" panose="02040503050406030204" pitchFamily="18" charset="0"/>
                                <a:ea typeface="Cambria Math" panose="02040503050406030204" pitchFamily="18" charset="0"/>
                              </a:rPr>
                              <m:t>𝑟</m:t>
                            </m:r>
                          </m:e>
                          <m:sup>
                            <m:r>
                              <a:rPr lang="en-CA" sz="1800" b="0" i="1" smtClean="0">
                                <a:latin typeface="Cambria Math" panose="02040503050406030204" pitchFamily="18" charset="0"/>
                                <a:ea typeface="Cambria Math" panose="02040503050406030204" pitchFamily="18" charset="0"/>
                              </a:rPr>
                              <m:t>2</m:t>
                            </m:r>
                          </m:sup>
                        </m:sSup>
                        <m:r>
                          <a:rPr lang="en-CA" sz="1800" b="0" i="1" smtClean="0">
                            <a:latin typeface="Cambria Math" panose="02040503050406030204" pitchFamily="18" charset="0"/>
                            <a:ea typeface="Cambria Math" panose="02040503050406030204" pitchFamily="18" charset="0"/>
                          </a:rPr>
                          <m:t>∗</m:t>
                        </m:r>
                        <m:d>
                          <m:dPr>
                            <m:ctrlPr>
                              <a:rPr lang="en-CA" sz="1800" b="0" i="1" smtClean="0">
                                <a:latin typeface="Cambria Math" panose="02040503050406030204" pitchFamily="18" charset="0"/>
                                <a:ea typeface="Cambria Math" panose="02040503050406030204" pitchFamily="18" charset="0"/>
                              </a:rPr>
                            </m:ctrlPr>
                          </m:dPr>
                          <m:e>
                            <m:r>
                              <a:rPr lang="en-CA" sz="1800" b="0" i="1" smtClean="0">
                                <a:latin typeface="Cambria Math" panose="02040503050406030204" pitchFamily="18" charset="0"/>
                                <a:ea typeface="Cambria Math" panose="02040503050406030204" pitchFamily="18" charset="0"/>
                              </a:rPr>
                              <m:t>1−</m:t>
                            </m:r>
                            <m:r>
                              <a:rPr lang="en-CA" sz="1800" b="0" i="1" smtClean="0">
                                <a:latin typeface="Cambria Math" panose="02040503050406030204" pitchFamily="18" charset="0"/>
                                <a:ea typeface="Cambria Math" panose="02040503050406030204" pitchFamily="18" charset="0"/>
                              </a:rPr>
                              <m:t>𝑐𝑜𝑠</m:t>
                            </m:r>
                            <m:r>
                              <m:rPr>
                                <m:nor/>
                              </m:rPr>
                              <a:rPr lang="en-CA" sz="1800" b="0" i="0" smtClean="0">
                                <a:latin typeface="Cambria Math" panose="02040503050406030204" pitchFamily="18" charset="0"/>
                                <a:ea typeface="Cambria Math" panose="02040503050406030204" pitchFamily="18" charset="0"/>
                              </a:rPr>
                              <m:t>(</m:t>
                            </m:r>
                            <m:r>
                              <m:rPr>
                                <m:nor/>
                              </m:rPr>
                              <a:rPr lang="en-CA" sz="1800" i="0" dirty="0"/>
                              <m:t>θ</m:t>
                            </m:r>
                            <m:r>
                              <m:rPr>
                                <m:nor/>
                              </m:rPr>
                              <a:rPr lang="en-CA" sz="1800" b="0" i="0" dirty="0" smtClean="0"/>
                              <m:t>)</m:t>
                            </m:r>
                          </m:e>
                        </m:d>
                        <m:r>
                          <a:rPr lang="en-CA" sz="1800" b="0" i="1" smtClean="0">
                            <a:latin typeface="Cambria Math" panose="02040503050406030204" pitchFamily="18" charset="0"/>
                            <a:ea typeface="Cambria Math" panose="02040503050406030204" pitchFamily="18" charset="0"/>
                          </a:rPr>
                          <m:t>)</m:t>
                        </m:r>
                      </m:e>
                    </m:rad>
                  </m:oMath>
                </a14:m>
                <a:r>
                  <a:rPr lang="en-CA" sz="1800" dirty="0"/>
                  <a:t> (Law of cosines)</a:t>
                </a:r>
              </a:p>
              <a:p>
                <a:pPr lvl="1" indent="-355600">
                  <a:spcBef>
                    <a:spcPts val="0"/>
                  </a:spcBef>
                  <a:buSzPts val="2000"/>
                </a:pPr>
                <a:r>
                  <a:rPr lang="en-CA" sz="1800" dirty="0"/>
                  <a:t>Sector defined as a region of the circle enclosed by a chord and an arc lying between the chord’s endpoints</a:t>
                </a:r>
              </a:p>
              <a:p>
                <a:pPr lvl="2" indent="-355600">
                  <a:spcBef>
                    <a:spcPts val="0"/>
                  </a:spcBef>
                  <a:buSzPts val="2000"/>
                </a:pPr>
                <a:r>
                  <a:rPr lang="en-CA" sz="1800" dirty="0"/>
                  <a:t>Area of a segment can be found by subtracting the area of the corresponding sector with the area of an isosceles triangle with sides: r, r, and chord-length.</a:t>
                </a:r>
              </a:p>
              <a:p>
                <a:pPr lvl="1" indent="-355600">
                  <a:spcBef>
                    <a:spcPts val="0"/>
                  </a:spcBef>
                  <a:buSzPts val="2000"/>
                </a:pPr>
                <a:endParaRPr lang="en-CA" sz="1800" dirty="0"/>
              </a:p>
              <a:p>
                <a:pPr indent="-355600">
                  <a:spcBef>
                    <a:spcPts val="0"/>
                  </a:spcBef>
                  <a:buSzPts val="2000"/>
                </a:pPr>
                <a:r>
                  <a:rPr lang="en-CA" sz="2000" dirty="0">
                    <a:hlinkClick r:id="rId3"/>
                  </a:rPr>
                  <a:t>https://github.com/stevenhalim/cpbook-code/blob/master/ch7/circles.py</a:t>
                </a:r>
                <a:r>
                  <a:rPr lang="en-CA" sz="2000" dirty="0"/>
                  <a:t> </a:t>
                </a:r>
              </a:p>
              <a:p>
                <a:pPr lvl="1" indent="-355600">
                  <a:spcBef>
                    <a:spcPts val="0"/>
                  </a:spcBef>
                  <a:buSzPts val="2000"/>
                </a:pPr>
                <a:endParaRPr lang="en-CA" sz="1800" dirty="0"/>
              </a:p>
              <a:p>
                <a:pPr lvl="1" indent="-355600">
                  <a:spcBef>
                    <a:spcPts val="0"/>
                  </a:spcBef>
                  <a:buSzPts val="2000"/>
                </a:pPr>
                <a:endParaRPr lang="en-CA" sz="1800" dirty="0"/>
              </a:p>
              <a:p>
                <a:pPr marL="101600" indent="0">
                  <a:spcBef>
                    <a:spcPts val="0"/>
                  </a:spcBef>
                  <a:buSzPts val="2000"/>
                  <a:buNone/>
                </a:pPr>
                <a:endParaRPr sz="2000" dirty="0"/>
              </a:p>
            </p:txBody>
          </p:sp>
        </mc:Choice>
        <mc:Fallback>
          <p:sp>
            <p:nvSpPr>
              <p:cNvPr id="224" name="Google Shape;224;g37c4946a550_0_194">
                <a:extLst>
                  <a:ext uri="{FF2B5EF4-FFF2-40B4-BE49-F238E27FC236}">
                    <a16:creationId xmlns:a16="http://schemas.microsoft.com/office/drawing/2014/main" id="{496ED374-C5EE-5AED-AA1E-412A9B823D6E}"/>
                  </a:ext>
                </a:extLst>
              </p:cNvPr>
              <p:cNvSpPr txBox="1">
                <a:spLocks noGrp="1" noRot="1" noChangeAspect="1" noMove="1" noResize="1" noEditPoints="1" noAdjustHandles="1" noChangeArrowheads="1" noChangeShapeType="1" noTextEdit="1"/>
              </p:cNvSpPr>
              <p:nvPr>
                <p:ph type="body" idx="1"/>
              </p:nvPr>
            </p:nvSpPr>
            <p:spPr>
              <a:xfrm>
                <a:off x="498722" y="926069"/>
                <a:ext cx="11231400" cy="4701008"/>
              </a:xfrm>
              <a:prstGeom prst="rect">
                <a:avLst/>
              </a:prstGeom>
              <a:blipFill>
                <a:blip r:embed="rId4"/>
                <a:stretch>
                  <a:fillRect t="-538" r="-904"/>
                </a:stretch>
              </a:blipFill>
              <a:ln>
                <a:noFill/>
              </a:ln>
            </p:spPr>
            <p:txBody>
              <a:bodyPr/>
              <a:lstStyle/>
              <a:p>
                <a:r>
                  <a:rPr lang="en-US">
                    <a:noFill/>
                  </a:rPr>
                  <a:t> </a:t>
                </a:r>
              </a:p>
            </p:txBody>
          </p:sp>
        </mc:Fallback>
      </mc:AlternateContent>
      <p:pic>
        <p:nvPicPr>
          <p:cNvPr id="2" name="Picture 1">
            <a:extLst>
              <a:ext uri="{FF2B5EF4-FFF2-40B4-BE49-F238E27FC236}">
                <a16:creationId xmlns:a16="http://schemas.microsoft.com/office/drawing/2014/main" id="{8065A331-C38E-17AA-E66D-9E2C4B83D62F}"/>
              </a:ext>
            </a:extLst>
          </p:cNvPr>
          <p:cNvPicPr>
            <a:picLocks noChangeAspect="1"/>
          </p:cNvPicPr>
          <p:nvPr/>
        </p:nvPicPr>
        <p:blipFill>
          <a:blip r:embed="rId5"/>
          <a:srcRect t="69791"/>
          <a:stretch>
            <a:fillRect/>
          </a:stretch>
        </p:blipFill>
        <p:spPr>
          <a:xfrm>
            <a:off x="3935064" y="5678412"/>
            <a:ext cx="4569696" cy="1179588"/>
          </a:xfrm>
          <a:prstGeom prst="rect">
            <a:avLst/>
          </a:prstGeom>
        </p:spPr>
      </p:pic>
      <p:pic>
        <p:nvPicPr>
          <p:cNvPr id="3" name="Picture 2">
            <a:extLst>
              <a:ext uri="{FF2B5EF4-FFF2-40B4-BE49-F238E27FC236}">
                <a16:creationId xmlns:a16="http://schemas.microsoft.com/office/drawing/2014/main" id="{9AA4A015-0F09-5D36-D7AF-41C6148AE427}"/>
              </a:ext>
            </a:extLst>
          </p:cNvPr>
          <p:cNvPicPr>
            <a:picLocks noChangeAspect="1"/>
          </p:cNvPicPr>
          <p:nvPr/>
        </p:nvPicPr>
        <p:blipFill>
          <a:blip r:embed="rId5"/>
          <a:srcRect t="49055" r="29658" b="30378"/>
          <a:stretch>
            <a:fillRect/>
          </a:stretch>
        </p:blipFill>
        <p:spPr>
          <a:xfrm>
            <a:off x="-29717" y="5918689"/>
            <a:ext cx="3964780" cy="990600"/>
          </a:xfrm>
          <a:prstGeom prst="rect">
            <a:avLst/>
          </a:prstGeom>
        </p:spPr>
      </p:pic>
      <p:pic>
        <p:nvPicPr>
          <p:cNvPr id="5" name="Picture 4">
            <a:extLst>
              <a:ext uri="{FF2B5EF4-FFF2-40B4-BE49-F238E27FC236}">
                <a16:creationId xmlns:a16="http://schemas.microsoft.com/office/drawing/2014/main" id="{DB8BFA54-303F-7E3A-5249-982546D830F5}"/>
              </a:ext>
            </a:extLst>
          </p:cNvPr>
          <p:cNvPicPr>
            <a:picLocks noChangeAspect="1"/>
          </p:cNvPicPr>
          <p:nvPr/>
        </p:nvPicPr>
        <p:blipFill>
          <a:blip r:embed="rId6"/>
          <a:stretch>
            <a:fillRect/>
          </a:stretch>
        </p:blipFill>
        <p:spPr>
          <a:xfrm>
            <a:off x="8458200" y="5298820"/>
            <a:ext cx="3733800" cy="1573392"/>
          </a:xfrm>
          <a:prstGeom prst="rect">
            <a:avLst/>
          </a:prstGeom>
        </p:spPr>
      </p:pic>
    </p:spTree>
    <p:extLst>
      <p:ext uri="{BB962C8B-B14F-4D97-AF65-F5344CB8AC3E}">
        <p14:creationId xmlns:p14="http://schemas.microsoft.com/office/powerpoint/2010/main" val="2210967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D9F3C94A-14B2-E914-88EB-7B8820809B2D}"/>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66FCF99E-9166-005F-EFBA-3D5C7649004F}"/>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7.2.4 2D Objects: Triangles</a:t>
            </a:r>
          </a:p>
        </p:txBody>
      </p:sp>
      <mc:AlternateContent xmlns:mc="http://schemas.openxmlformats.org/markup-compatibility/2006" xmlns:a14="http://schemas.microsoft.com/office/drawing/2010/main">
        <mc:Choice Requires="a14">
          <p:sp>
            <p:nvSpPr>
              <p:cNvPr id="224" name="Google Shape;224;g37c4946a550_0_194">
                <a:extLst>
                  <a:ext uri="{FF2B5EF4-FFF2-40B4-BE49-F238E27FC236}">
                    <a16:creationId xmlns:a16="http://schemas.microsoft.com/office/drawing/2014/main" id="{7210205E-730D-E900-5A40-440109AB8F8E}"/>
                  </a:ext>
                </a:extLst>
              </p:cNvPr>
              <p:cNvSpPr txBox="1">
                <a:spLocks noGrp="1"/>
              </p:cNvSpPr>
              <p:nvPr>
                <p:ph type="body" idx="1"/>
              </p:nvPr>
            </p:nvSpPr>
            <p:spPr>
              <a:xfrm>
                <a:off x="494675" y="1096825"/>
                <a:ext cx="11231400" cy="4243660"/>
              </a:xfrm>
              <a:prstGeom prst="rect">
                <a:avLst/>
              </a:prstGeom>
              <a:noFill/>
              <a:ln>
                <a:noFill/>
              </a:ln>
            </p:spPr>
            <p:txBody>
              <a:bodyPr spcFirstLastPara="1" wrap="square" lIns="91425" tIns="45700" rIns="91425" bIns="45700" anchor="t" anchorCtr="0">
                <a:normAutofit fontScale="85000" lnSpcReduction="20000"/>
              </a:bodyPr>
              <a:lstStyle/>
              <a:p>
                <a:pPr indent="-355600">
                  <a:spcBef>
                    <a:spcPts val="0"/>
                  </a:spcBef>
                  <a:buSzPts val="2000"/>
                </a:pPr>
                <a:r>
                  <a:rPr lang="en-US" sz="2000" dirty="0"/>
                  <a:t>Equilateral, Isosceles, Scalene, Right</a:t>
                </a:r>
              </a:p>
              <a:p>
                <a:pPr indent="-355600">
                  <a:spcBef>
                    <a:spcPts val="0"/>
                  </a:spcBef>
                  <a:buSzPts val="2000"/>
                </a:pPr>
                <a:r>
                  <a:rPr lang="en-US" sz="2000" dirty="0"/>
                  <a:t>If line segments a, b, c can form a triangle</a:t>
                </a:r>
              </a:p>
              <a:p>
                <a:pPr lvl="1" indent="-355600">
                  <a:spcBef>
                    <a:spcPts val="0"/>
                  </a:spcBef>
                  <a:buSzPts val="2000"/>
                </a:pPr>
                <a:r>
                  <a:rPr lang="en-US" sz="1800" dirty="0"/>
                  <a:t>use (a + b &gt; c) &amp;&amp; (a + c &gt; b) &amp;&amp; (b + c &gt; a) (True -&gt; it can, False -&gt; it can’t)</a:t>
                </a:r>
              </a:p>
              <a:p>
                <a:pPr lvl="1" indent="-355600">
                  <a:spcBef>
                    <a:spcPts val="0"/>
                  </a:spcBef>
                  <a:buSzPts val="2000"/>
                </a:pPr>
                <a:r>
                  <a:rPr lang="en-US" sz="1800" dirty="0"/>
                  <a:t>If a, b, c are in increasing order and sorted, then you can use (a + b &gt; c).</a:t>
                </a:r>
              </a:p>
              <a:p>
                <a:pPr indent="-355600">
                  <a:spcBef>
                    <a:spcPts val="0"/>
                  </a:spcBef>
                  <a:buSzPts val="2000"/>
                </a:pPr>
                <a:r>
                  <a:rPr lang="en-US" sz="2000" dirty="0"/>
                  <a:t>Area = (b*h)/2, perimeter=</a:t>
                </a:r>
                <a:r>
                  <a:rPr lang="en-US" sz="2000" dirty="0" err="1"/>
                  <a:t>a+b+c</a:t>
                </a:r>
                <a:r>
                  <a:rPr lang="en-US" sz="2000" dirty="0"/>
                  <a:t>, semi-perimeter=perimeter/2</a:t>
                </a:r>
              </a:p>
              <a:p>
                <a:pPr indent="-355600">
                  <a:spcBef>
                    <a:spcPts val="0"/>
                  </a:spcBef>
                  <a:buSzPts val="2000"/>
                </a:pPr>
                <a:r>
                  <a:rPr lang="en-US" sz="2000" dirty="0"/>
                  <a:t>Heron’s Formula: sides a, b, c and semi-perimeter s then Area=</a:t>
                </a:r>
                <a14:m>
                  <m:oMath xmlns:m="http://schemas.openxmlformats.org/officeDocument/2006/math">
                    <m:rad>
                      <m:radPr>
                        <m:degHide m:val="on"/>
                        <m:ctrlPr>
                          <a:rPr lang="en-CA" sz="2000" b="0" i="1" smtClean="0">
                            <a:latin typeface="Cambria Math" panose="02040503050406030204" pitchFamily="18" charset="0"/>
                            <a:ea typeface="Cambria Math" panose="02040503050406030204" pitchFamily="18" charset="0"/>
                          </a:rPr>
                        </m:ctrlPr>
                      </m:radPr>
                      <m:deg/>
                      <m:e>
                        <m:d>
                          <m:dPr>
                            <m:ctrlPr>
                              <a:rPr lang="en-CA" sz="2000" b="0" i="1" smtClean="0">
                                <a:latin typeface="Cambria Math" panose="02040503050406030204" pitchFamily="18" charset="0"/>
                                <a:ea typeface="Cambria Math" panose="02040503050406030204" pitchFamily="18" charset="0"/>
                              </a:rPr>
                            </m:ctrlPr>
                          </m:dPr>
                          <m:e>
                            <m:r>
                              <a:rPr lang="en-CA" sz="2000" b="0" i="1" smtClean="0">
                                <a:latin typeface="Cambria Math" panose="02040503050406030204" pitchFamily="18" charset="0"/>
                                <a:ea typeface="Cambria Math" panose="02040503050406030204" pitchFamily="18" charset="0"/>
                              </a:rPr>
                              <m:t>𝑠</m:t>
                            </m:r>
                            <m:r>
                              <a:rPr lang="en-CA" sz="2000" b="0" i="1" smtClean="0">
                                <a:latin typeface="Cambria Math" panose="02040503050406030204" pitchFamily="18" charset="0"/>
                                <a:ea typeface="Cambria Math" panose="02040503050406030204" pitchFamily="18" charset="0"/>
                              </a:rPr>
                              <m:t>∗</m:t>
                            </m:r>
                            <m:d>
                              <m:dPr>
                                <m:ctrlPr>
                                  <a:rPr lang="en-CA" sz="2000" b="0" i="1" smtClean="0">
                                    <a:latin typeface="Cambria Math" panose="02040503050406030204" pitchFamily="18" charset="0"/>
                                    <a:ea typeface="Cambria Math" panose="02040503050406030204" pitchFamily="18" charset="0"/>
                                  </a:rPr>
                                </m:ctrlPr>
                              </m:dPr>
                              <m:e>
                                <m:r>
                                  <a:rPr lang="en-CA" sz="2000" b="0" i="1" smtClean="0">
                                    <a:latin typeface="Cambria Math" panose="02040503050406030204" pitchFamily="18" charset="0"/>
                                    <a:ea typeface="Cambria Math" panose="02040503050406030204" pitchFamily="18" charset="0"/>
                                  </a:rPr>
                                  <m:t>𝑠</m:t>
                                </m:r>
                                <m:r>
                                  <a:rPr lang="en-CA" sz="2000" b="0" i="1" smtClean="0">
                                    <a:latin typeface="Cambria Math" panose="02040503050406030204" pitchFamily="18" charset="0"/>
                                    <a:ea typeface="Cambria Math" panose="02040503050406030204" pitchFamily="18" charset="0"/>
                                  </a:rPr>
                                  <m:t>−</m:t>
                                </m:r>
                                <m:r>
                                  <a:rPr lang="en-CA" sz="2000" b="0" i="1" smtClean="0">
                                    <a:latin typeface="Cambria Math" panose="02040503050406030204" pitchFamily="18" charset="0"/>
                                    <a:ea typeface="Cambria Math" panose="02040503050406030204" pitchFamily="18" charset="0"/>
                                  </a:rPr>
                                  <m:t>𝑎</m:t>
                                </m:r>
                              </m:e>
                            </m:d>
                            <m:r>
                              <a:rPr lang="en-CA" sz="2000" b="0" i="1" smtClean="0">
                                <a:latin typeface="Cambria Math" panose="02040503050406030204" pitchFamily="18" charset="0"/>
                                <a:ea typeface="Cambria Math" panose="02040503050406030204" pitchFamily="18" charset="0"/>
                              </a:rPr>
                              <m:t>∗</m:t>
                            </m:r>
                            <m:d>
                              <m:dPr>
                                <m:ctrlPr>
                                  <a:rPr lang="en-CA" sz="2000" b="0" i="1" smtClean="0">
                                    <a:latin typeface="Cambria Math" panose="02040503050406030204" pitchFamily="18" charset="0"/>
                                    <a:ea typeface="Cambria Math" panose="02040503050406030204" pitchFamily="18" charset="0"/>
                                  </a:rPr>
                                </m:ctrlPr>
                              </m:dPr>
                              <m:e>
                                <m:r>
                                  <a:rPr lang="en-CA" sz="2000" b="0" i="1" smtClean="0">
                                    <a:latin typeface="Cambria Math" panose="02040503050406030204" pitchFamily="18" charset="0"/>
                                    <a:ea typeface="Cambria Math" panose="02040503050406030204" pitchFamily="18" charset="0"/>
                                  </a:rPr>
                                  <m:t>𝑠</m:t>
                                </m:r>
                                <m:r>
                                  <a:rPr lang="en-CA" sz="2000" b="0" i="1" smtClean="0">
                                    <a:latin typeface="Cambria Math" panose="02040503050406030204" pitchFamily="18" charset="0"/>
                                    <a:ea typeface="Cambria Math" panose="02040503050406030204" pitchFamily="18" charset="0"/>
                                  </a:rPr>
                                  <m:t>−</m:t>
                                </m:r>
                                <m:r>
                                  <a:rPr lang="en-CA" sz="2000" b="0" i="1" smtClean="0">
                                    <a:latin typeface="Cambria Math" panose="02040503050406030204" pitchFamily="18" charset="0"/>
                                    <a:ea typeface="Cambria Math" panose="02040503050406030204" pitchFamily="18" charset="0"/>
                                  </a:rPr>
                                  <m:t>𝑏</m:t>
                                </m:r>
                              </m:e>
                            </m:d>
                            <m:r>
                              <a:rPr lang="en-CA" sz="2000" b="0" i="1" smtClean="0">
                                <a:latin typeface="Cambria Math" panose="02040503050406030204" pitchFamily="18" charset="0"/>
                                <a:ea typeface="Cambria Math" panose="02040503050406030204" pitchFamily="18" charset="0"/>
                              </a:rPr>
                              <m:t>∗(</m:t>
                            </m:r>
                            <m:r>
                              <a:rPr lang="en-CA" sz="2000" b="0" i="1" smtClean="0">
                                <a:latin typeface="Cambria Math" panose="02040503050406030204" pitchFamily="18" charset="0"/>
                                <a:ea typeface="Cambria Math" panose="02040503050406030204" pitchFamily="18" charset="0"/>
                              </a:rPr>
                              <m:t>𝑠</m:t>
                            </m:r>
                            <m:r>
                              <a:rPr lang="en-CA" sz="2000" b="0" i="1" smtClean="0">
                                <a:latin typeface="Cambria Math" panose="02040503050406030204" pitchFamily="18" charset="0"/>
                                <a:ea typeface="Cambria Math" panose="02040503050406030204" pitchFamily="18" charset="0"/>
                              </a:rPr>
                              <m:t>−</m:t>
                            </m:r>
                            <m:r>
                              <a:rPr lang="en-CA" sz="2000" b="0" i="1" smtClean="0">
                                <a:latin typeface="Cambria Math" panose="02040503050406030204" pitchFamily="18" charset="0"/>
                                <a:ea typeface="Cambria Math" panose="02040503050406030204" pitchFamily="18" charset="0"/>
                              </a:rPr>
                              <m:t>𝑐</m:t>
                            </m:r>
                            <m:r>
                              <a:rPr lang="en-CA" sz="2000" b="0" i="1" smtClean="0">
                                <a:latin typeface="Cambria Math" panose="02040503050406030204" pitchFamily="18" charset="0"/>
                                <a:ea typeface="Cambria Math" panose="02040503050406030204" pitchFamily="18" charset="0"/>
                              </a:rPr>
                              <m:t>)</m:t>
                            </m:r>
                          </m:e>
                        </m:d>
                      </m:e>
                    </m:rad>
                  </m:oMath>
                </a14:m>
                <a:endParaRPr lang="en-US" sz="2000" dirty="0"/>
              </a:p>
              <a:p>
                <a:pPr indent="-355600">
                  <a:spcBef>
                    <a:spcPts val="0"/>
                  </a:spcBef>
                  <a:buSzPts val="2000"/>
                </a:pPr>
                <a:r>
                  <a:rPr lang="en-US" sz="2000" dirty="0"/>
                  <a:t>Inscribed circle (inner circle) of triangle with area A &amp; semi-perimeter s has radius = A/s</a:t>
                </a:r>
              </a:p>
              <a:p>
                <a:pPr indent="-355600">
                  <a:spcBef>
                    <a:spcPts val="0"/>
                  </a:spcBef>
                  <a:buSzPts val="2000"/>
                </a:pPr>
                <a:r>
                  <a:rPr lang="en-US" sz="2000" dirty="0"/>
                  <a:t>Center of incircle is the meeting point between the triangle’s angle bisectors. </a:t>
                </a:r>
              </a:p>
              <a:p>
                <a:pPr lvl="1" indent="-355600">
                  <a:spcBef>
                    <a:spcPts val="0"/>
                  </a:spcBef>
                  <a:buSzPts val="2000"/>
                </a:pPr>
                <a:r>
                  <a:rPr lang="en-US" sz="1800" dirty="0"/>
                  <a:t>We can get the center if we have two angle bisectors and find their intersection point. The C++ implementation is in the textbook.</a:t>
                </a:r>
              </a:p>
              <a:p>
                <a:pPr indent="-355600">
                  <a:spcBef>
                    <a:spcPts val="0"/>
                  </a:spcBef>
                  <a:buSzPts val="2000"/>
                </a:pPr>
                <a:r>
                  <a:rPr lang="en-US" sz="2000" dirty="0"/>
                  <a:t>Sides a, b, c and area A has a circumscribed circle (circumcircle) with radius R= a*b*c/(4*A).</a:t>
                </a:r>
              </a:p>
              <a:p>
                <a:pPr indent="-355600">
                  <a:spcBef>
                    <a:spcPts val="0"/>
                  </a:spcBef>
                  <a:buSzPts val="2000"/>
                </a:pPr>
                <a:r>
                  <a:rPr lang="en-US" sz="2000" dirty="0"/>
                  <a:t>The center of circumcircle is the meeting point between the triangle’s perpendicular bisectors </a:t>
                </a:r>
              </a:p>
              <a:p>
                <a:pPr indent="-355600">
                  <a:spcBef>
                    <a:spcPts val="0"/>
                  </a:spcBef>
                  <a:buSzPts val="2000"/>
                </a:pPr>
                <a:r>
                  <a:rPr lang="en-US" sz="2000" dirty="0"/>
                  <a:t>Trigonometry!!</a:t>
                </a:r>
              </a:p>
              <a:p>
                <a:pPr lvl="1" indent="-355600">
                  <a:spcBef>
                    <a:spcPts val="0"/>
                  </a:spcBef>
                  <a:buSzPts val="2000"/>
                </a:pPr>
                <a:r>
                  <a:rPr lang="en-US" sz="1800" dirty="0"/>
                  <a:t>Law of cosines</a:t>
                </a:r>
              </a:p>
              <a:p>
                <a:pPr lvl="1" indent="-355600">
                  <a:spcBef>
                    <a:spcPts val="0"/>
                  </a:spcBef>
                  <a:buSzPts val="2000"/>
                </a:pPr>
                <a:r>
                  <a:rPr lang="en-US" sz="1800" dirty="0"/>
                  <a:t>Law of sines</a:t>
                </a:r>
              </a:p>
              <a:p>
                <a:pPr lvl="1" indent="-355600">
                  <a:spcBef>
                    <a:spcPts val="0"/>
                  </a:spcBef>
                  <a:buSzPts val="2000"/>
                </a:pPr>
                <a:r>
                  <a:rPr lang="en-US" sz="1800" dirty="0"/>
                  <a:t>Pythagorean Theorem</a:t>
                </a:r>
              </a:p>
              <a:p>
                <a:pPr lvl="1" indent="-355600">
                  <a:spcBef>
                    <a:spcPts val="0"/>
                  </a:spcBef>
                  <a:buSzPts val="2000"/>
                </a:pPr>
                <a:r>
                  <a:rPr lang="en-US" sz="1800" dirty="0"/>
                  <a:t>Pythagorean Triple, any (a, b, c) that satisfies a</a:t>
                </a:r>
                <a:r>
                  <a:rPr lang="en-US" sz="1800" baseline="30000" dirty="0"/>
                  <a:t>2</a:t>
                </a:r>
                <a:r>
                  <a:rPr lang="en-US" sz="1800" dirty="0"/>
                  <a:t>+b</a:t>
                </a:r>
                <a:r>
                  <a:rPr lang="en-US" sz="1800" baseline="30000" dirty="0"/>
                  <a:t>2</a:t>
                </a:r>
                <a:r>
                  <a:rPr lang="en-US" sz="1800" dirty="0"/>
                  <a:t>=c</a:t>
                </a:r>
                <a:r>
                  <a:rPr lang="en-US" sz="1800" baseline="30000" dirty="0"/>
                  <a:t>2</a:t>
                </a:r>
                <a:r>
                  <a:rPr lang="en-US" sz="1800" dirty="0"/>
                  <a:t>. If (a, b, c) is a Pythagorean triple, then (ka, kb, kc) is too for any positive integer k</a:t>
                </a:r>
                <a:br>
                  <a:rPr lang="en-US" sz="2000" dirty="0"/>
                </a:br>
                <a:endParaRPr sz="2000" dirty="0"/>
              </a:p>
            </p:txBody>
          </p:sp>
        </mc:Choice>
        <mc:Fallback xmlns="">
          <p:sp>
            <p:nvSpPr>
              <p:cNvPr id="224" name="Google Shape;224;g37c4946a550_0_194">
                <a:extLst>
                  <a:ext uri="{FF2B5EF4-FFF2-40B4-BE49-F238E27FC236}">
                    <a16:creationId xmlns:a16="http://schemas.microsoft.com/office/drawing/2014/main" id="{7210205E-730D-E900-5A40-440109AB8F8E}"/>
                  </a:ext>
                </a:extLst>
              </p:cNvPr>
              <p:cNvSpPr txBox="1">
                <a:spLocks noGrp="1" noRot="1" noChangeAspect="1" noMove="1" noResize="1" noEditPoints="1" noAdjustHandles="1" noChangeArrowheads="1" noChangeShapeType="1" noTextEdit="1"/>
              </p:cNvSpPr>
              <p:nvPr>
                <p:ph type="body" idx="1"/>
              </p:nvPr>
            </p:nvSpPr>
            <p:spPr>
              <a:xfrm>
                <a:off x="494675" y="1096825"/>
                <a:ext cx="11231400" cy="4243660"/>
              </a:xfrm>
              <a:prstGeom prst="rect">
                <a:avLst/>
              </a:prstGeom>
              <a:blipFill>
                <a:blip r:embed="rId3"/>
                <a:stretch>
                  <a:fillRect t="-2388"/>
                </a:stretch>
              </a:blipFill>
              <a:ln>
                <a:noFill/>
              </a:ln>
            </p:spPr>
            <p:txBody>
              <a:bodyPr/>
              <a:lstStyle/>
              <a:p>
                <a:r>
                  <a:rPr lang="en-US">
                    <a:noFill/>
                  </a:rPr>
                  <a:t> </a:t>
                </a:r>
              </a:p>
            </p:txBody>
          </p:sp>
        </mc:Fallback>
      </mc:AlternateContent>
      <p:pic>
        <p:nvPicPr>
          <p:cNvPr id="2" name="Picture 1">
            <a:extLst>
              <a:ext uri="{FF2B5EF4-FFF2-40B4-BE49-F238E27FC236}">
                <a16:creationId xmlns:a16="http://schemas.microsoft.com/office/drawing/2014/main" id="{204F1394-C0C5-4CF4-5D43-EEBCB72B75D1}"/>
              </a:ext>
            </a:extLst>
          </p:cNvPr>
          <p:cNvPicPr>
            <a:picLocks noChangeAspect="1"/>
          </p:cNvPicPr>
          <p:nvPr/>
        </p:nvPicPr>
        <p:blipFill>
          <a:blip r:embed="rId4"/>
          <a:stretch>
            <a:fillRect/>
          </a:stretch>
        </p:blipFill>
        <p:spPr>
          <a:xfrm>
            <a:off x="7645940" y="5087800"/>
            <a:ext cx="4546060" cy="1770199"/>
          </a:xfrm>
          <a:prstGeom prst="rect">
            <a:avLst/>
          </a:prstGeom>
        </p:spPr>
      </p:pic>
      <p:pic>
        <p:nvPicPr>
          <p:cNvPr id="3" name="Picture 2">
            <a:extLst>
              <a:ext uri="{FF2B5EF4-FFF2-40B4-BE49-F238E27FC236}">
                <a16:creationId xmlns:a16="http://schemas.microsoft.com/office/drawing/2014/main" id="{A1B4DBAF-1660-671A-6C19-CBE40026E18F}"/>
              </a:ext>
            </a:extLst>
          </p:cNvPr>
          <p:cNvPicPr>
            <a:picLocks noChangeAspect="1"/>
          </p:cNvPicPr>
          <p:nvPr/>
        </p:nvPicPr>
        <p:blipFill>
          <a:blip r:embed="rId5"/>
          <a:stretch>
            <a:fillRect/>
          </a:stretch>
        </p:blipFill>
        <p:spPr>
          <a:xfrm>
            <a:off x="0" y="4844546"/>
            <a:ext cx="3145277" cy="2013454"/>
          </a:xfrm>
          <a:prstGeom prst="rect">
            <a:avLst/>
          </a:prstGeom>
        </p:spPr>
      </p:pic>
    </p:spTree>
    <p:extLst>
      <p:ext uri="{BB962C8B-B14F-4D97-AF65-F5344CB8AC3E}">
        <p14:creationId xmlns:p14="http://schemas.microsoft.com/office/powerpoint/2010/main" val="3489610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2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2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24">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24">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24">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613D5880-CC85-E806-A4FB-CAC9CA995A31}"/>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D69A2E6B-D3E5-7EEC-1050-07FBDB55AED9}"/>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2D Objects: Quadrilaterals</a:t>
            </a:r>
          </a:p>
        </p:txBody>
      </p:sp>
      <p:sp>
        <p:nvSpPr>
          <p:cNvPr id="224" name="Google Shape;224;g37c4946a550_0_194">
            <a:extLst>
              <a:ext uri="{FF2B5EF4-FFF2-40B4-BE49-F238E27FC236}">
                <a16:creationId xmlns:a16="http://schemas.microsoft.com/office/drawing/2014/main" id="{6D516612-E09A-E62F-6CDA-680146D520CC}"/>
              </a:ext>
            </a:extLst>
          </p:cNvPr>
          <p:cNvSpPr txBox="1">
            <a:spLocks noGrp="1"/>
          </p:cNvSpPr>
          <p:nvPr>
            <p:ph type="body" idx="1"/>
          </p:nvPr>
        </p:nvSpPr>
        <p:spPr>
          <a:xfrm>
            <a:off x="494675" y="1096825"/>
            <a:ext cx="11231400" cy="3880266"/>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US" sz="2000" dirty="0"/>
              <a:t>Polygon: 4 edges and 4 vertices</a:t>
            </a:r>
          </a:p>
          <a:p>
            <a:pPr indent="-355600">
              <a:spcBef>
                <a:spcPts val="0"/>
              </a:spcBef>
              <a:buSzPts val="2000"/>
            </a:pPr>
            <a:r>
              <a:rPr lang="en-US" sz="2000" dirty="0"/>
              <a:t>Rectangle: 4 edges and 4 vertices and 4 right angles</a:t>
            </a:r>
          </a:p>
          <a:p>
            <a:pPr indent="-355600">
              <a:spcBef>
                <a:spcPts val="0"/>
              </a:spcBef>
              <a:buSzPts val="2000"/>
            </a:pPr>
            <a:r>
              <a:rPr lang="en-US" sz="2000" dirty="0"/>
              <a:t>Area=w*h, perimeter=2*(2+h)</a:t>
            </a:r>
          </a:p>
          <a:p>
            <a:pPr indent="-355600">
              <a:spcBef>
                <a:spcPts val="0"/>
              </a:spcBef>
              <a:buSzPts val="2000"/>
            </a:pPr>
            <a:r>
              <a:rPr lang="en-US" sz="2000" dirty="0"/>
              <a:t>Trapezium: a polygon with 4 vertices, 4 edges, and 1 pair of parallel edges among these four edges. </a:t>
            </a:r>
          </a:p>
          <a:p>
            <a:pPr lvl="1" indent="-355600">
              <a:spcBef>
                <a:spcPts val="0"/>
              </a:spcBef>
              <a:buSzPts val="2000"/>
            </a:pPr>
            <a:r>
              <a:rPr lang="en-US" sz="1800" dirty="0"/>
              <a:t>If the two non-parallel sides have the same length, we have an Isosceles Trapezium.</a:t>
            </a:r>
          </a:p>
          <a:p>
            <a:pPr lvl="1" indent="-355600">
              <a:spcBef>
                <a:spcPts val="0"/>
              </a:spcBef>
              <a:buSzPts val="2000"/>
            </a:pPr>
            <a:r>
              <a:rPr lang="en-US" sz="2000" dirty="0"/>
              <a:t>Area=0.5*(w1 + w2) * h</a:t>
            </a:r>
          </a:p>
          <a:p>
            <a:pPr indent="-355600">
              <a:spcBef>
                <a:spcPts val="0"/>
              </a:spcBef>
              <a:buSzPts val="2000"/>
            </a:pPr>
            <a:r>
              <a:rPr lang="en-US" sz="2200" dirty="0"/>
              <a:t>Parallelogram: polygon with 4 edges, 4 vertices, opposite sides must be parallel</a:t>
            </a:r>
          </a:p>
          <a:p>
            <a:pPr indent="-355600">
              <a:spcBef>
                <a:spcPts val="0"/>
              </a:spcBef>
              <a:buSzPts val="2000"/>
            </a:pPr>
            <a:r>
              <a:rPr lang="en-US" sz="2200" dirty="0"/>
              <a:t>Kite: quadrilateral that has 2 pairs of sides of the same length that are adjacent to each other</a:t>
            </a:r>
          </a:p>
          <a:p>
            <a:pPr lvl="1" indent="-355600">
              <a:spcBef>
                <a:spcPts val="0"/>
              </a:spcBef>
              <a:buSzPts val="2000"/>
            </a:pPr>
            <a:r>
              <a:rPr lang="en-US" sz="1800" dirty="0"/>
              <a:t>Area: diagonal1 * diagonal2/2 (diagonal is from one internal vertex to another)</a:t>
            </a:r>
          </a:p>
          <a:p>
            <a:pPr indent="-355600">
              <a:spcBef>
                <a:spcPts val="0"/>
              </a:spcBef>
              <a:buSzPts val="2000"/>
            </a:pPr>
            <a:r>
              <a:rPr lang="en-US" sz="2000" dirty="0"/>
              <a:t>Rhombus: special parallelogram where every side has equal length, also special case of kite</a:t>
            </a:r>
          </a:p>
        </p:txBody>
      </p:sp>
      <p:pic>
        <p:nvPicPr>
          <p:cNvPr id="2" name="Picture 1">
            <a:extLst>
              <a:ext uri="{FF2B5EF4-FFF2-40B4-BE49-F238E27FC236}">
                <a16:creationId xmlns:a16="http://schemas.microsoft.com/office/drawing/2014/main" id="{4DE940AB-F7D7-D9F3-16E3-42FDC43F68FD}"/>
              </a:ext>
            </a:extLst>
          </p:cNvPr>
          <p:cNvPicPr>
            <a:picLocks noChangeAspect="1"/>
          </p:cNvPicPr>
          <p:nvPr/>
        </p:nvPicPr>
        <p:blipFill>
          <a:blip r:embed="rId3"/>
          <a:stretch>
            <a:fillRect/>
          </a:stretch>
        </p:blipFill>
        <p:spPr>
          <a:xfrm>
            <a:off x="2188536" y="4977091"/>
            <a:ext cx="7772400" cy="1806557"/>
          </a:xfrm>
          <a:prstGeom prst="rect">
            <a:avLst/>
          </a:prstGeom>
        </p:spPr>
      </p:pic>
    </p:spTree>
    <p:extLst>
      <p:ext uri="{BB962C8B-B14F-4D97-AF65-F5344CB8AC3E}">
        <p14:creationId xmlns:p14="http://schemas.microsoft.com/office/powerpoint/2010/main" val="553724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CD4EBAC3-0717-A388-9DCC-85F198F98564}"/>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5C9A4101-93FE-6450-D7ED-C5BE8E966021}"/>
              </a:ext>
            </a:extLst>
          </p:cNvPr>
          <p:cNvSpPr txBox="1">
            <a:spLocks noGrp="1"/>
          </p:cNvSpPr>
          <p:nvPr>
            <p:ph type="title"/>
          </p:nvPr>
        </p:nvSpPr>
        <p:spPr>
          <a:xfrm>
            <a:off x="2231100"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7.3.1, 7.3.2, 7.3.3 Polygon Representation, Perimeter</a:t>
            </a:r>
          </a:p>
        </p:txBody>
      </p:sp>
      <p:sp>
        <p:nvSpPr>
          <p:cNvPr id="224" name="Google Shape;224;g37c4946a550_0_194">
            <a:extLst>
              <a:ext uri="{FF2B5EF4-FFF2-40B4-BE49-F238E27FC236}">
                <a16:creationId xmlns:a16="http://schemas.microsoft.com/office/drawing/2014/main" id="{2CDC799C-7F13-ADE1-1D18-0BD8C8DDFE75}"/>
              </a:ext>
            </a:extLst>
          </p:cNvPr>
          <p:cNvSpPr txBox="1">
            <a:spLocks noGrp="1"/>
          </p:cNvSpPr>
          <p:nvPr>
            <p:ph type="body" idx="1"/>
          </p:nvPr>
        </p:nvSpPr>
        <p:spPr>
          <a:xfrm>
            <a:off x="494675" y="1096825"/>
            <a:ext cx="11231400" cy="3310200"/>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US" sz="2000" dirty="0"/>
              <a:t>Simple polygon: at least 3 edges &amp; no crossing edges</a:t>
            </a:r>
          </a:p>
          <a:p>
            <a:pPr indent="-355600">
              <a:spcBef>
                <a:spcPts val="0"/>
              </a:spcBef>
              <a:buSzPts val="2000"/>
            </a:pPr>
            <a:r>
              <a:rPr lang="en-US" sz="2000" dirty="0"/>
              <a:t>Enumerate vertices either clockwise or counterclockwise where end==start</a:t>
            </a:r>
          </a:p>
          <a:p>
            <a:pPr indent="-355600">
              <a:spcBef>
                <a:spcPts val="0"/>
              </a:spcBef>
              <a:buSzPts val="2000"/>
            </a:pPr>
            <a:r>
              <a:rPr lang="en-US" sz="2000" dirty="0"/>
              <a:t>Perimeter=add all edge lengths using Euclidian distance </a:t>
            </a:r>
          </a:p>
          <a:p>
            <a:pPr indent="-355600">
              <a:spcBef>
                <a:spcPts val="0"/>
              </a:spcBef>
              <a:buSzPts val="2000"/>
            </a:pPr>
            <a:r>
              <a:rPr lang="en-US" sz="2000" dirty="0"/>
              <a:t>Area: use Shoelace Formula, compute using the cross multiplication of coordinates in the matrix ex.</a:t>
            </a:r>
          </a:p>
          <a:p>
            <a:pPr lvl="1" indent="-355600">
              <a:spcBef>
                <a:spcPts val="0"/>
              </a:spcBef>
              <a:buSzPts val="2000"/>
            </a:pPr>
            <a:r>
              <a:rPr lang="en-US" sz="1800" dirty="0"/>
              <a:t>Code using vector operations in textbook</a:t>
            </a:r>
          </a:p>
          <a:p>
            <a:pPr lvl="1" indent="-355600">
              <a:spcBef>
                <a:spcPts val="0"/>
              </a:spcBef>
              <a:buSzPts val="2000"/>
            </a:pPr>
            <a:r>
              <a:rPr lang="en-US" sz="1800" dirty="0"/>
              <a:t>Works by doing successive sums triangles defined by the origin</a:t>
            </a:r>
          </a:p>
          <a:p>
            <a:pPr indent="-355600">
              <a:spcBef>
                <a:spcPts val="0"/>
              </a:spcBef>
              <a:buSzPts val="2000"/>
            </a:pPr>
            <a:endParaRPr lang="en-US" sz="2000" dirty="0"/>
          </a:p>
        </p:txBody>
      </p:sp>
      <p:pic>
        <p:nvPicPr>
          <p:cNvPr id="2" name="Picture 1">
            <a:extLst>
              <a:ext uri="{FF2B5EF4-FFF2-40B4-BE49-F238E27FC236}">
                <a16:creationId xmlns:a16="http://schemas.microsoft.com/office/drawing/2014/main" id="{545DA3C6-8FAA-EFAA-B89A-F22C4578A91F}"/>
              </a:ext>
            </a:extLst>
          </p:cNvPr>
          <p:cNvPicPr>
            <a:picLocks noChangeAspect="1"/>
          </p:cNvPicPr>
          <p:nvPr/>
        </p:nvPicPr>
        <p:blipFill>
          <a:blip r:embed="rId3"/>
          <a:stretch>
            <a:fillRect/>
          </a:stretch>
        </p:blipFill>
        <p:spPr>
          <a:xfrm>
            <a:off x="1997413" y="3429000"/>
            <a:ext cx="7772400" cy="1325691"/>
          </a:xfrm>
          <a:prstGeom prst="rect">
            <a:avLst/>
          </a:prstGeom>
        </p:spPr>
      </p:pic>
      <p:pic>
        <p:nvPicPr>
          <p:cNvPr id="7" name="Picture 6">
            <a:extLst>
              <a:ext uri="{FF2B5EF4-FFF2-40B4-BE49-F238E27FC236}">
                <a16:creationId xmlns:a16="http://schemas.microsoft.com/office/drawing/2014/main" id="{E1EAC40E-22F7-63E2-D5E1-8F42F2B8CA75}"/>
              </a:ext>
            </a:extLst>
          </p:cNvPr>
          <p:cNvPicPr>
            <a:picLocks noChangeAspect="1"/>
          </p:cNvPicPr>
          <p:nvPr/>
        </p:nvPicPr>
        <p:blipFill>
          <a:blip r:embed="rId4"/>
          <a:stretch>
            <a:fillRect/>
          </a:stretch>
        </p:blipFill>
        <p:spPr>
          <a:xfrm>
            <a:off x="0" y="5252599"/>
            <a:ext cx="6544424" cy="1605401"/>
          </a:xfrm>
          <a:prstGeom prst="rect">
            <a:avLst/>
          </a:prstGeom>
        </p:spPr>
      </p:pic>
      <p:pic>
        <p:nvPicPr>
          <p:cNvPr id="8" name="Picture 7">
            <a:extLst>
              <a:ext uri="{FF2B5EF4-FFF2-40B4-BE49-F238E27FC236}">
                <a16:creationId xmlns:a16="http://schemas.microsoft.com/office/drawing/2014/main" id="{D958D1B0-8541-2FF0-ABF1-E645D0788F08}"/>
              </a:ext>
            </a:extLst>
          </p:cNvPr>
          <p:cNvPicPr>
            <a:picLocks noChangeAspect="1"/>
          </p:cNvPicPr>
          <p:nvPr/>
        </p:nvPicPr>
        <p:blipFill>
          <a:blip r:embed="rId5"/>
          <a:stretch>
            <a:fillRect/>
          </a:stretch>
        </p:blipFill>
        <p:spPr>
          <a:xfrm>
            <a:off x="6546715" y="5252599"/>
            <a:ext cx="5645285" cy="1605401"/>
          </a:xfrm>
          <a:prstGeom prst="rect">
            <a:avLst/>
          </a:prstGeom>
        </p:spPr>
      </p:pic>
    </p:spTree>
    <p:extLst>
      <p:ext uri="{BB962C8B-B14F-4D97-AF65-F5344CB8AC3E}">
        <p14:creationId xmlns:p14="http://schemas.microsoft.com/office/powerpoint/2010/main" val="1273728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53C568BD-C62C-3649-9411-F586EFF88F95}"/>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DF1779AD-1177-1C2F-A5D4-43F33396AB1F}"/>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7.3.4 Checking if a Polygon is Convex</a:t>
            </a:r>
            <a:endParaRPr dirty="0"/>
          </a:p>
        </p:txBody>
      </p:sp>
      <p:sp>
        <p:nvSpPr>
          <p:cNvPr id="224" name="Google Shape;224;g37c4946a550_0_194">
            <a:extLst>
              <a:ext uri="{FF2B5EF4-FFF2-40B4-BE49-F238E27FC236}">
                <a16:creationId xmlns:a16="http://schemas.microsoft.com/office/drawing/2014/main" id="{7C8FE588-1080-772F-73A3-E88E38B0B497}"/>
              </a:ext>
            </a:extLst>
          </p:cNvPr>
          <p:cNvSpPr txBox="1">
            <a:spLocks noGrp="1"/>
          </p:cNvSpPr>
          <p:nvPr>
            <p:ph type="body" idx="1"/>
          </p:nvPr>
        </p:nvSpPr>
        <p:spPr>
          <a:xfrm>
            <a:off x="494675" y="1096825"/>
            <a:ext cx="11231400" cy="3310200"/>
          </a:xfrm>
          <a:prstGeom prst="rect">
            <a:avLst/>
          </a:prstGeom>
          <a:noFill/>
          <a:ln>
            <a:noFill/>
          </a:ln>
        </p:spPr>
        <p:txBody>
          <a:bodyPr spcFirstLastPara="1" wrap="square" lIns="91425" tIns="45700" rIns="91425" bIns="45700" anchor="t" anchorCtr="0">
            <a:normAutofit/>
          </a:bodyPr>
          <a:lstStyle/>
          <a:p>
            <a:pPr lvl="0"/>
            <a:r>
              <a:rPr lang="en-CA" dirty="0"/>
              <a:t>If any line segment drawn inside the polygon does not intersect any edge of the polygon. Otherwise, the polygon is called Concave.</a:t>
            </a:r>
          </a:p>
          <a:p>
            <a:pPr lvl="1"/>
            <a:r>
              <a:rPr lang="en-CA" dirty="0"/>
              <a:t>Check whether all three consecutive vertices of the polygon form the same turns (all left turns/</a:t>
            </a:r>
            <a:r>
              <a:rPr lang="en-CA" dirty="0" err="1"/>
              <a:t>ccw</a:t>
            </a:r>
            <a:r>
              <a:rPr lang="en-CA" dirty="0"/>
              <a:t> if the vertices are listed in counterclockwise order or all right turns/</a:t>
            </a:r>
            <a:r>
              <a:rPr lang="en-CA" dirty="0" err="1"/>
              <a:t>cw</a:t>
            </a:r>
            <a:r>
              <a:rPr lang="en-CA" dirty="0"/>
              <a:t> if the vertices are listed in clockwise order). If we can find at least one triple where this is false, then the polygon is concave.</a:t>
            </a:r>
          </a:p>
          <a:p>
            <a:pPr lvl="1"/>
            <a:endParaRPr lang="en-CA" dirty="0"/>
          </a:p>
        </p:txBody>
      </p:sp>
      <p:pic>
        <p:nvPicPr>
          <p:cNvPr id="2" name="Picture 1">
            <a:extLst>
              <a:ext uri="{FF2B5EF4-FFF2-40B4-BE49-F238E27FC236}">
                <a16:creationId xmlns:a16="http://schemas.microsoft.com/office/drawing/2014/main" id="{CC68708D-2FB6-8622-73F3-011F9857F08D}"/>
              </a:ext>
            </a:extLst>
          </p:cNvPr>
          <p:cNvPicPr>
            <a:picLocks noChangeAspect="1"/>
          </p:cNvPicPr>
          <p:nvPr/>
        </p:nvPicPr>
        <p:blipFill>
          <a:blip r:embed="rId3"/>
          <a:stretch>
            <a:fillRect/>
          </a:stretch>
        </p:blipFill>
        <p:spPr>
          <a:xfrm>
            <a:off x="2075234" y="3323111"/>
            <a:ext cx="7772400" cy="2580436"/>
          </a:xfrm>
          <a:prstGeom prst="rect">
            <a:avLst/>
          </a:prstGeom>
        </p:spPr>
      </p:pic>
    </p:spTree>
    <p:extLst>
      <p:ext uri="{BB962C8B-B14F-4D97-AF65-F5344CB8AC3E}">
        <p14:creationId xmlns:p14="http://schemas.microsoft.com/office/powerpoint/2010/main" val="2198232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E6EC0479-ED1B-D6AB-0A0F-C34680679E58}"/>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51BB149E-F765-22C8-B2E6-43A35DB92690}"/>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7.3.5 Checking if a Point is Inside a Polygon</a:t>
            </a:r>
            <a:endParaRPr dirty="0"/>
          </a:p>
        </p:txBody>
      </p:sp>
      <p:sp>
        <p:nvSpPr>
          <p:cNvPr id="224" name="Google Shape;224;g37c4946a550_0_194">
            <a:extLst>
              <a:ext uri="{FF2B5EF4-FFF2-40B4-BE49-F238E27FC236}">
                <a16:creationId xmlns:a16="http://schemas.microsoft.com/office/drawing/2014/main" id="{6F196E76-BA8A-D60A-9727-2C10223B0D1F}"/>
              </a:ext>
            </a:extLst>
          </p:cNvPr>
          <p:cNvSpPr txBox="1">
            <a:spLocks noGrp="1"/>
          </p:cNvSpPr>
          <p:nvPr>
            <p:ph type="body" idx="1"/>
          </p:nvPr>
        </p:nvSpPr>
        <p:spPr>
          <a:xfrm>
            <a:off x="494675" y="1096825"/>
            <a:ext cx="11231400" cy="1889566"/>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US" sz="2000" dirty="0"/>
              <a:t>Winding Number Algorithm:</a:t>
            </a:r>
          </a:p>
          <a:p>
            <a:pPr lvl="1" indent="-355600">
              <a:spcBef>
                <a:spcPts val="0"/>
              </a:spcBef>
              <a:buSzPts val="2000"/>
            </a:pPr>
            <a:r>
              <a:rPr lang="en-US" sz="1800" dirty="0"/>
              <a:t>Compute the signed sum of angles between three points: {P[</a:t>
            </a:r>
            <a:r>
              <a:rPr lang="en-US" sz="1800" dirty="0" err="1"/>
              <a:t>i</a:t>
            </a:r>
            <a:r>
              <a:rPr lang="en-US" sz="1800" dirty="0"/>
              <a:t>], pt, P[</a:t>
            </a:r>
            <a:r>
              <a:rPr lang="en-US" sz="1800" dirty="0" err="1"/>
              <a:t>i</a:t>
            </a:r>
            <a:r>
              <a:rPr lang="en-US" sz="1800" dirty="0"/>
              <a:t> + 1]} where (P[</a:t>
            </a:r>
            <a:r>
              <a:rPr lang="en-US" sz="1800" dirty="0" err="1"/>
              <a:t>i</a:t>
            </a:r>
            <a:r>
              <a:rPr lang="en-US" sz="1800" dirty="0"/>
              <a:t>], P[</a:t>
            </a:r>
            <a:r>
              <a:rPr lang="en-US" sz="1800" dirty="0" err="1"/>
              <a:t>i</a:t>
            </a:r>
            <a:r>
              <a:rPr lang="en-US" sz="1800" dirty="0"/>
              <a:t> + 1]) are consecutive edges of polygon P, taking care of </a:t>
            </a:r>
            <a:r>
              <a:rPr lang="en-US" sz="1800" dirty="0" err="1"/>
              <a:t>ccw</a:t>
            </a:r>
            <a:r>
              <a:rPr lang="en-US" sz="1800" dirty="0"/>
              <a:t>/left turns (add the angle) and </a:t>
            </a:r>
            <a:r>
              <a:rPr lang="en-US" sz="1800" dirty="0" err="1"/>
              <a:t>cw</a:t>
            </a:r>
            <a:r>
              <a:rPr lang="en-US" sz="1800" dirty="0"/>
              <a:t>/right turns (subtract the angle) respectively.</a:t>
            </a:r>
          </a:p>
          <a:p>
            <a:pPr lvl="1" indent="-355600">
              <a:spcBef>
                <a:spcPts val="0"/>
              </a:spcBef>
              <a:buSzPts val="2000"/>
            </a:pPr>
            <a:r>
              <a:rPr lang="en-US" sz="1800" dirty="0"/>
              <a:t>If the final sum is 2*pi (360 degrees), then pt is inside polygon P. Otherwise (if the final sum 0 degree), pt is outside polygon P</a:t>
            </a:r>
          </a:p>
        </p:txBody>
      </p:sp>
      <p:pic>
        <p:nvPicPr>
          <p:cNvPr id="3" name="Picture 2">
            <a:extLst>
              <a:ext uri="{FF2B5EF4-FFF2-40B4-BE49-F238E27FC236}">
                <a16:creationId xmlns:a16="http://schemas.microsoft.com/office/drawing/2014/main" id="{1B381B27-362E-00CD-A81B-E22FF3B27936}"/>
              </a:ext>
            </a:extLst>
          </p:cNvPr>
          <p:cNvPicPr>
            <a:picLocks noChangeAspect="1"/>
          </p:cNvPicPr>
          <p:nvPr/>
        </p:nvPicPr>
        <p:blipFill>
          <a:blip r:embed="rId3"/>
          <a:stretch>
            <a:fillRect/>
          </a:stretch>
        </p:blipFill>
        <p:spPr>
          <a:xfrm>
            <a:off x="0" y="2869659"/>
            <a:ext cx="6249481" cy="2433510"/>
          </a:xfrm>
          <a:prstGeom prst="rect">
            <a:avLst/>
          </a:prstGeom>
        </p:spPr>
      </p:pic>
      <p:pic>
        <p:nvPicPr>
          <p:cNvPr id="4" name="Picture 3">
            <a:extLst>
              <a:ext uri="{FF2B5EF4-FFF2-40B4-BE49-F238E27FC236}">
                <a16:creationId xmlns:a16="http://schemas.microsoft.com/office/drawing/2014/main" id="{AFA474AD-20D5-3FAE-B01B-41397B18DF37}"/>
              </a:ext>
            </a:extLst>
          </p:cNvPr>
          <p:cNvPicPr>
            <a:picLocks noChangeAspect="1"/>
          </p:cNvPicPr>
          <p:nvPr/>
        </p:nvPicPr>
        <p:blipFill>
          <a:blip r:embed="rId4"/>
          <a:stretch>
            <a:fillRect/>
          </a:stretch>
        </p:blipFill>
        <p:spPr>
          <a:xfrm>
            <a:off x="6208810" y="3192695"/>
            <a:ext cx="5983190" cy="3665305"/>
          </a:xfrm>
          <a:prstGeom prst="rect">
            <a:avLst/>
          </a:prstGeom>
        </p:spPr>
      </p:pic>
    </p:spTree>
    <p:extLst>
      <p:ext uri="{BB962C8B-B14F-4D97-AF65-F5344CB8AC3E}">
        <p14:creationId xmlns:p14="http://schemas.microsoft.com/office/powerpoint/2010/main" val="2029484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7AB74C93-CC99-F3C8-6844-0DB345C8BA89}"/>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C8A6C342-CD81-F8A1-847E-0A46D5437154}"/>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7.3.6 Cutting Polygon with a Straight Line</a:t>
            </a:r>
            <a:endParaRPr dirty="0"/>
          </a:p>
        </p:txBody>
      </p:sp>
      <p:sp>
        <p:nvSpPr>
          <p:cNvPr id="224" name="Google Shape;224;g37c4946a550_0_194">
            <a:extLst>
              <a:ext uri="{FF2B5EF4-FFF2-40B4-BE49-F238E27FC236}">
                <a16:creationId xmlns:a16="http://schemas.microsoft.com/office/drawing/2014/main" id="{8ED5EC8E-473A-38D3-015B-A9B6EC8249DB}"/>
              </a:ext>
            </a:extLst>
          </p:cNvPr>
          <p:cNvSpPr txBox="1">
            <a:spLocks noGrp="1"/>
          </p:cNvSpPr>
          <p:nvPr>
            <p:ph type="body" idx="1"/>
          </p:nvPr>
        </p:nvSpPr>
        <p:spPr>
          <a:xfrm>
            <a:off x="1" y="1096825"/>
            <a:ext cx="12192000" cy="3611362"/>
          </a:xfrm>
          <a:prstGeom prst="rect">
            <a:avLst/>
          </a:prstGeom>
          <a:noFill/>
          <a:ln>
            <a:noFill/>
          </a:ln>
        </p:spPr>
        <p:txBody>
          <a:bodyPr spcFirstLastPara="1" wrap="square" lIns="91425" tIns="45700" rIns="91425" bIns="45700" anchor="t" anchorCtr="0">
            <a:normAutofit fontScale="92500"/>
          </a:bodyPr>
          <a:lstStyle/>
          <a:p>
            <a:pPr indent="-355600">
              <a:spcBef>
                <a:spcPts val="0"/>
              </a:spcBef>
              <a:buSzPts val="2000"/>
            </a:pPr>
            <a:r>
              <a:rPr lang="en-US" sz="2000" dirty="0"/>
              <a:t>The Problem: Given a convex polygon and an infinite straight line, "slice" the polygon and return the smaller resulting polygon (e.g., the part on the left side of the line).</a:t>
            </a:r>
          </a:p>
          <a:p>
            <a:pPr indent="-355600">
              <a:spcBef>
                <a:spcPts val="0"/>
              </a:spcBef>
              <a:buSzPts val="2000"/>
            </a:pPr>
            <a:r>
              <a:rPr lang="en-US" sz="2000" dirty="0"/>
              <a:t>Algorithm:</a:t>
            </a:r>
          </a:p>
          <a:p>
            <a:pPr lvl="1" indent="-355600">
              <a:spcBef>
                <a:spcPts val="0"/>
              </a:spcBef>
              <a:buSzPts val="2000"/>
            </a:pPr>
            <a:r>
              <a:rPr lang="en-US" sz="1800" dirty="0"/>
              <a:t>Iterate through all edges of polygon</a:t>
            </a:r>
          </a:p>
          <a:p>
            <a:pPr lvl="2" indent="-355600">
              <a:spcBef>
                <a:spcPts val="0"/>
              </a:spcBef>
              <a:buSzPts val="2000"/>
            </a:pPr>
            <a:r>
              <a:rPr lang="en-US" sz="1800" dirty="0"/>
              <a:t>If point A, point B, and polygon vertex v form a left turn (implies that v is on the left side of the line AB (order matters)), </a:t>
            </a:r>
          </a:p>
          <a:p>
            <a:pPr lvl="3" indent="-355600">
              <a:spcBef>
                <a:spcPts val="0"/>
              </a:spcBef>
              <a:buSzPts val="2000"/>
            </a:pPr>
            <a:r>
              <a:rPr lang="en-US" sz="1800" dirty="0"/>
              <a:t>put v inside the new polygon P</a:t>
            </a:r>
          </a:p>
          <a:p>
            <a:pPr lvl="1" indent="-355600">
              <a:spcBef>
                <a:spcPts val="0"/>
              </a:spcBef>
              <a:buSzPts val="2000"/>
            </a:pPr>
            <a:r>
              <a:rPr lang="en-US" sz="1800" dirty="0"/>
              <a:t>Once we find a polygon edge that intersects with the line AB, use that intersection point as part of the new polygon P (in figure, new vertex between edge (0-1)). </a:t>
            </a:r>
          </a:p>
          <a:p>
            <a:pPr lvl="1" indent="-355600">
              <a:spcBef>
                <a:spcPts val="0"/>
              </a:spcBef>
              <a:buSzPts val="2000"/>
            </a:pPr>
            <a:r>
              <a:rPr lang="en-US" sz="1800" dirty="0"/>
              <a:t>Skip the next few vertices of Q that are located on the right side of line AB (in figure left, vertices 1, 2, and later 3). </a:t>
            </a:r>
          </a:p>
          <a:p>
            <a:pPr lvl="1" indent="-355600">
              <a:spcBef>
                <a:spcPts val="0"/>
              </a:spcBef>
              <a:buSzPts val="2000"/>
            </a:pPr>
            <a:r>
              <a:rPr lang="en-US" sz="1800" dirty="0"/>
              <a:t>We will revisit another polygon edge that intersects with line AB again and we also use that intersection point as part of the new polygon P (in figure right, the new vertex between edge (3-4)). </a:t>
            </a:r>
          </a:p>
          <a:p>
            <a:pPr lvl="1" indent="-355600">
              <a:spcBef>
                <a:spcPts val="0"/>
              </a:spcBef>
              <a:buSzPts val="2000"/>
            </a:pPr>
            <a:r>
              <a:rPr lang="en-US" sz="1800" dirty="0"/>
              <a:t>Then, we continue appending vertices of Q into P again because we are now on the left side of line AB again. </a:t>
            </a:r>
          </a:p>
          <a:p>
            <a:pPr lvl="1" indent="-355600">
              <a:spcBef>
                <a:spcPts val="0"/>
              </a:spcBef>
              <a:buSzPts val="2000"/>
            </a:pPr>
            <a:r>
              <a:rPr lang="en-US" sz="1800" dirty="0"/>
              <a:t>Stop when we have returned to the starting vertex and return the resulting polygon P (see the shaded area in figure right).</a:t>
            </a:r>
          </a:p>
          <a:p>
            <a:pPr lvl="1" indent="-355600">
              <a:spcBef>
                <a:spcPts val="0"/>
              </a:spcBef>
              <a:buSzPts val="2000"/>
            </a:pPr>
            <a:endParaRPr lang="en-US" sz="1800" dirty="0"/>
          </a:p>
        </p:txBody>
      </p:sp>
      <p:pic>
        <p:nvPicPr>
          <p:cNvPr id="2" name="Picture 1">
            <a:extLst>
              <a:ext uri="{FF2B5EF4-FFF2-40B4-BE49-F238E27FC236}">
                <a16:creationId xmlns:a16="http://schemas.microsoft.com/office/drawing/2014/main" id="{EB7EC010-1094-EA1E-1194-0AA1546E6515}"/>
              </a:ext>
            </a:extLst>
          </p:cNvPr>
          <p:cNvPicPr>
            <a:picLocks noChangeAspect="1"/>
          </p:cNvPicPr>
          <p:nvPr/>
        </p:nvPicPr>
        <p:blipFill>
          <a:blip r:embed="rId3"/>
          <a:stretch>
            <a:fillRect/>
          </a:stretch>
        </p:blipFill>
        <p:spPr>
          <a:xfrm>
            <a:off x="3589505" y="4680592"/>
            <a:ext cx="4474723" cy="2161166"/>
          </a:xfrm>
          <a:prstGeom prst="rect">
            <a:avLst/>
          </a:prstGeom>
        </p:spPr>
      </p:pic>
    </p:spTree>
    <p:extLst>
      <p:ext uri="{BB962C8B-B14F-4D97-AF65-F5344CB8AC3E}">
        <p14:creationId xmlns:p14="http://schemas.microsoft.com/office/powerpoint/2010/main" val="2298828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B09CF672-7759-ABC2-B674-35A3F1E21ABB}"/>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370C59FD-1686-337C-6D77-DE104E5172C6}"/>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7.3.7 Finding the Convex Hull of a Set of Points</a:t>
            </a:r>
          </a:p>
        </p:txBody>
      </p:sp>
      <p:sp>
        <p:nvSpPr>
          <p:cNvPr id="224" name="Google Shape;224;g37c4946a550_0_194">
            <a:extLst>
              <a:ext uri="{FF2B5EF4-FFF2-40B4-BE49-F238E27FC236}">
                <a16:creationId xmlns:a16="http://schemas.microsoft.com/office/drawing/2014/main" id="{B17AD1FA-B5AA-8C46-9A72-7D0AF351BE57}"/>
              </a:ext>
            </a:extLst>
          </p:cNvPr>
          <p:cNvSpPr txBox="1">
            <a:spLocks noGrp="1"/>
          </p:cNvSpPr>
          <p:nvPr>
            <p:ph type="body" idx="1"/>
          </p:nvPr>
        </p:nvSpPr>
        <p:spPr>
          <a:xfrm>
            <a:off x="1" y="1096825"/>
            <a:ext cx="12192000" cy="2332175"/>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US" sz="2000" dirty="0"/>
              <a:t>Convex Hull of a set of points Pts is the smallest convex polygon CH(Pts) for which each point in Pts is either on the boundary of CH(Pts) or in its interior.</a:t>
            </a:r>
          </a:p>
          <a:p>
            <a:pPr indent="-355600">
              <a:spcBef>
                <a:spcPts val="0"/>
              </a:spcBef>
              <a:buSzPts val="2000"/>
            </a:pPr>
            <a:r>
              <a:rPr lang="en-US" sz="2000" dirty="0"/>
              <a:t>Natural applications in packing problems and can be used as pre-processing step for more complex computational geometry problems.</a:t>
            </a:r>
          </a:p>
          <a:p>
            <a:pPr indent="-355600">
              <a:spcBef>
                <a:spcPts val="0"/>
              </a:spcBef>
              <a:buSzPts val="2000"/>
            </a:pPr>
            <a:r>
              <a:rPr lang="en-US" sz="2000" dirty="0"/>
              <a:t>Problem is to choose which vertex is part of convex hull</a:t>
            </a:r>
          </a:p>
          <a:p>
            <a:pPr lvl="1" indent="-355600">
              <a:spcBef>
                <a:spcPts val="0"/>
              </a:spcBef>
              <a:buSzPts val="2000"/>
            </a:pPr>
            <a:r>
              <a:rPr lang="en-US" sz="1800" dirty="0"/>
              <a:t>Ronald Graham’s Scan O(</a:t>
            </a:r>
            <a:r>
              <a:rPr lang="en-US" sz="1800" dirty="0" err="1"/>
              <a:t>nlogn</a:t>
            </a:r>
            <a:r>
              <a:rPr lang="en-US" sz="1800" dirty="0"/>
              <a:t>)</a:t>
            </a:r>
          </a:p>
          <a:p>
            <a:pPr lvl="1" indent="-355600">
              <a:spcBef>
                <a:spcPts val="0"/>
              </a:spcBef>
              <a:buSzPts val="2000"/>
            </a:pPr>
            <a:r>
              <a:rPr lang="en-US" sz="1800" dirty="0"/>
              <a:t>Andrew’s Monotone Chain Algorithm O(</a:t>
            </a:r>
            <a:r>
              <a:rPr lang="en-US" sz="1800" dirty="0" err="1"/>
              <a:t>nlogn</a:t>
            </a:r>
            <a:r>
              <a:rPr lang="en-US" sz="1800" dirty="0"/>
              <a:t>) (faster and preferred)</a:t>
            </a:r>
          </a:p>
          <a:p>
            <a:pPr indent="-355600">
              <a:spcBef>
                <a:spcPts val="0"/>
              </a:spcBef>
              <a:buSzPts val="2000"/>
            </a:pPr>
            <a:endParaRPr lang="en-US" sz="2000" dirty="0"/>
          </a:p>
          <a:p>
            <a:pPr lvl="1" indent="-355600">
              <a:spcBef>
                <a:spcPts val="0"/>
              </a:spcBef>
              <a:buSzPts val="2000"/>
            </a:pPr>
            <a:endParaRPr lang="en-US" sz="1800" dirty="0"/>
          </a:p>
        </p:txBody>
      </p:sp>
      <p:pic>
        <p:nvPicPr>
          <p:cNvPr id="3" name="Picture 2">
            <a:extLst>
              <a:ext uri="{FF2B5EF4-FFF2-40B4-BE49-F238E27FC236}">
                <a16:creationId xmlns:a16="http://schemas.microsoft.com/office/drawing/2014/main" id="{814069ED-8FA8-7A0E-48DB-0A3DE852EB85}"/>
              </a:ext>
            </a:extLst>
          </p:cNvPr>
          <p:cNvPicPr>
            <a:picLocks noChangeAspect="1"/>
          </p:cNvPicPr>
          <p:nvPr/>
        </p:nvPicPr>
        <p:blipFill>
          <a:blip r:embed="rId3"/>
          <a:stretch>
            <a:fillRect/>
          </a:stretch>
        </p:blipFill>
        <p:spPr>
          <a:xfrm>
            <a:off x="1956881" y="3667583"/>
            <a:ext cx="7772400" cy="3190417"/>
          </a:xfrm>
          <a:prstGeom prst="rect">
            <a:avLst/>
          </a:prstGeom>
        </p:spPr>
      </p:pic>
    </p:spTree>
    <p:extLst>
      <p:ext uri="{BB962C8B-B14F-4D97-AF65-F5344CB8AC3E}">
        <p14:creationId xmlns:p14="http://schemas.microsoft.com/office/powerpoint/2010/main" val="3776305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1487575E-A8A4-C2A6-59D5-4BF64C2297A4}"/>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D9A76FDC-C0D0-D69D-E7B4-481A27739BAB}"/>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CA" dirty="0"/>
              <a:t>Graham scan</a:t>
            </a:r>
            <a:endParaRPr lang="en-US" dirty="0"/>
          </a:p>
        </p:txBody>
      </p:sp>
      <mc:AlternateContent xmlns:mc="http://schemas.openxmlformats.org/markup-compatibility/2006" xmlns:a14="http://schemas.microsoft.com/office/drawing/2010/main">
        <mc:Choice Requires="a14">
          <p:sp>
            <p:nvSpPr>
              <p:cNvPr id="224" name="Google Shape;224;g37c4946a550_0_194">
                <a:extLst>
                  <a:ext uri="{FF2B5EF4-FFF2-40B4-BE49-F238E27FC236}">
                    <a16:creationId xmlns:a16="http://schemas.microsoft.com/office/drawing/2014/main" id="{53286BAD-E3C7-B0E4-873D-A2AAB634C348}"/>
                  </a:ext>
                </a:extLst>
              </p:cNvPr>
              <p:cNvSpPr txBox="1">
                <a:spLocks noGrp="1"/>
              </p:cNvSpPr>
              <p:nvPr>
                <p:ph type="body" idx="1"/>
              </p:nvPr>
            </p:nvSpPr>
            <p:spPr>
              <a:xfrm>
                <a:off x="1" y="1096824"/>
                <a:ext cx="12191999" cy="5761175"/>
              </a:xfrm>
              <a:prstGeom prst="rect">
                <a:avLst/>
              </a:prstGeom>
              <a:noFill/>
              <a:ln>
                <a:noFill/>
              </a:ln>
            </p:spPr>
            <p:txBody>
              <a:bodyPr spcFirstLastPara="1" wrap="square" lIns="91425" tIns="45700" rIns="91425" bIns="45700" anchor="t" anchorCtr="0">
                <a:normAutofit fontScale="92500" lnSpcReduction="20000"/>
              </a:bodyPr>
              <a:lstStyle/>
              <a:p>
                <a:pPr indent="-355600">
                  <a:spcBef>
                    <a:spcPts val="0"/>
                  </a:spcBef>
                  <a:buSzPts val="2000"/>
                </a:pPr>
                <a:r>
                  <a:rPr lang="en-US" sz="2000" dirty="0"/>
                  <a:t>Core idea: Walk perimeter of points, adding them to a stack. If the algorithm detects that the boundary has caved inward (creating a concavity), it removes points from the stack until the convex shape is restored.</a:t>
                </a:r>
              </a:p>
              <a:p>
                <a:pPr indent="-355600">
                  <a:spcBef>
                    <a:spcPts val="0"/>
                  </a:spcBef>
                  <a:buSzPts val="2000"/>
                </a:pPr>
                <a:r>
                  <a:rPr lang="en-CA" sz="2000" dirty="0"/>
                  <a:t>Pick the Anchor Point P</a:t>
                </a:r>
                <a:r>
                  <a:rPr lang="en-CA" sz="2000" baseline="-25000" dirty="0"/>
                  <a:t>0</a:t>
                </a:r>
                <a:endParaRPr lang="en-CA" sz="2000" dirty="0"/>
              </a:p>
              <a:p>
                <a:pPr lvl="1" indent="-355600">
                  <a:spcBef>
                    <a:spcPts val="0"/>
                  </a:spcBef>
                  <a:buSzPts val="2000"/>
                </a:pPr>
                <a:r>
                  <a:rPr lang="en-CA" sz="1800" dirty="0"/>
                  <a:t>Finds point with the lowest y-coordinate. If multiple points share the same lowest y-coordinate, it breaks the tie by choosing the one with the lowest x-coordinate. </a:t>
                </a:r>
              </a:p>
              <a:p>
                <a:pPr indent="-355600">
                  <a:spcBef>
                    <a:spcPts val="0"/>
                  </a:spcBef>
                  <a:buSzPts val="2000"/>
                </a:pPr>
                <a:r>
                  <a:rPr lang="en-US" sz="2200" dirty="0"/>
                  <a:t>Sort by Polar Angle</a:t>
                </a:r>
              </a:p>
              <a:p>
                <a:pPr lvl="1" indent="-355600">
                  <a:spcBef>
                    <a:spcPts val="0"/>
                  </a:spcBef>
                  <a:buSzPts val="2000"/>
                </a:pPr>
                <a:r>
                  <a:rPr lang="en-US" sz="1800" dirty="0"/>
                  <a:t>All remaining points are sorted by the polar angle they make with the anchor point P</a:t>
                </a:r>
                <a:r>
                  <a:rPr lang="en-US" sz="1800" baseline="-25000" dirty="0"/>
                  <a:t>0</a:t>
                </a:r>
                <a:r>
                  <a:rPr lang="en-US" sz="1800" dirty="0"/>
                  <a:t> and the x-axis. Because P</a:t>
                </a:r>
                <a:r>
                  <a:rPr lang="en-US" sz="1800" baseline="-25000" dirty="0"/>
                  <a:t>0</a:t>
                </a:r>
                <a:r>
                  <a:rPr lang="en-US" sz="1800" dirty="0"/>
                  <a:t> is the lowest point, all other points will have an angle between 0 and 180 degrees. This sorting process ensures the points are evaluated in a counter-clockwise sweeping order.</a:t>
                </a:r>
              </a:p>
              <a:p>
                <a:pPr indent="-355600">
                  <a:spcBef>
                    <a:spcPts val="0"/>
                  </a:spcBef>
                  <a:buSzPts val="2000"/>
                </a:pPr>
                <a:r>
                  <a:rPr lang="en-US" sz="2000" dirty="0"/>
                  <a:t>Initialize the Stack:</a:t>
                </a:r>
              </a:p>
              <a:p>
                <a:pPr lvl="1" indent="-355600">
                  <a:spcBef>
                    <a:spcPts val="0"/>
                  </a:spcBef>
                  <a:buSzPts val="2000"/>
                </a:pPr>
                <a:r>
                  <a:rPr lang="en-US" sz="1800" dirty="0"/>
                  <a:t>Uses a stack to keep track of the points that form the boundary of the hull. It pushes the anchor point P</a:t>
                </a:r>
                <a:r>
                  <a:rPr lang="en-US" sz="1800" baseline="-25000" dirty="0"/>
                  <a:t>0  </a:t>
                </a:r>
                <a:r>
                  <a:rPr lang="en-US" sz="1800" dirty="0"/>
                  <a:t>and the first two sorted points onto the stack.</a:t>
                </a:r>
              </a:p>
              <a:p>
                <a:pPr indent="-355600">
                  <a:spcBef>
                    <a:spcPts val="0"/>
                  </a:spcBef>
                  <a:buSzPts val="2000"/>
                </a:pPr>
                <a:r>
                  <a:rPr lang="en-US" sz="2000" dirty="0"/>
                  <a:t>Traverse and Eliminate:</a:t>
                </a:r>
              </a:p>
              <a:p>
                <a:pPr lvl="1" indent="-355600">
                  <a:spcBef>
                    <a:spcPts val="0"/>
                  </a:spcBef>
                  <a:buSzPts val="2000"/>
                </a:pPr>
                <a:r>
                  <a:rPr lang="en-US" sz="1800" dirty="0"/>
                  <a:t>The algorithm iterates through the remaining sorted points one by one. For each new point, it looks at the top two points on the stack to determine what kind of turn is being made:</a:t>
                </a:r>
                <a:endParaRPr lang="en-US" sz="2000" dirty="0"/>
              </a:p>
              <a:p>
                <a:pPr lvl="2" indent="-355600">
                  <a:spcBef>
                    <a:spcPts val="0"/>
                  </a:spcBef>
                  <a:buSzPts val="2000"/>
                </a:pPr>
                <a:r>
                  <a:rPr lang="en-US" sz="1800" dirty="0"/>
                  <a:t>Left Turn (Counter-Clockwise): If moving to the new point creates a left-hand turn, the convex shape is maintained. The new point is pushed onto the stack.</a:t>
                </a:r>
              </a:p>
              <a:p>
                <a:pPr lvl="2" indent="-355600">
                  <a:spcBef>
                    <a:spcPts val="0"/>
                  </a:spcBef>
                  <a:buSzPts val="2000"/>
                </a:pPr>
                <a:r>
                  <a:rPr lang="en-US" sz="1800" dirty="0"/>
                  <a:t>Right Turn (Clockwise): If it creates a right-hand turn, it means the previous point on the stack forms an inward dent (concavity). The algorithm pops the top point off the stack. It repeats this check with the new top of the stack until a left turn is restored, and then pushes the new point.</a:t>
                </a:r>
              </a:p>
              <a:p>
                <a:pPr indent="-355600">
                  <a:spcBef>
                    <a:spcPts val="0"/>
                  </a:spcBef>
                  <a:buSzPts val="2000"/>
                </a:pPr>
                <a:r>
                  <a:rPr lang="en-US" sz="2000" dirty="0"/>
                  <a:t>How to check if it is a right or left turn</a:t>
                </a:r>
              </a:p>
              <a:p>
                <a:pPr lvl="1" indent="-355600">
                  <a:spcBef>
                    <a:spcPts val="0"/>
                  </a:spcBef>
                  <a:buSzPts val="2000"/>
                </a:pPr>
                <a14:m>
                  <m:oMath xmlns:m="http://schemas.openxmlformats.org/officeDocument/2006/math">
                    <m:r>
                      <m:rPr>
                        <m:nor/>
                      </m:rPr>
                      <a:rPr lang="en-US" i="0"/>
                      <m:t>Cross Product</m:t>
                    </m:r>
                    <m:r>
                      <a:rPr lang="en-US">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𝐵</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𝐴</m:t>
                            </m:r>
                          </m:sub>
                        </m:sSub>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𝐶</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𝐴</m:t>
                            </m:r>
                          </m:sub>
                        </m:sSub>
                      </m:e>
                    </m:d>
                    <m:r>
                      <a:rPr lang="en-US">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𝐵</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𝐴</m:t>
                            </m:r>
                          </m:sub>
                        </m:sSub>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𝐶</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𝐴</m:t>
                            </m:r>
                          </m:sub>
                        </m:sSub>
                      </m:e>
                    </m:d>
                  </m:oMath>
                </a14:m>
                <a:endParaRPr lang="en-CA" dirty="0"/>
              </a:p>
              <a:p>
                <a:pPr lvl="1" indent="-355600">
                  <a:spcBef>
                    <a:spcPts val="0"/>
                  </a:spcBef>
                  <a:buSzPts val="2000"/>
                </a:pPr>
                <a:r>
                  <a:rPr lang="en-US" sz="1800" dirty="0"/>
                  <a:t>Result is &gt;0, the points make a left turn (keep the point on the stack).</a:t>
                </a:r>
              </a:p>
              <a:p>
                <a:pPr lvl="1" indent="-355600">
                  <a:spcBef>
                    <a:spcPts val="0"/>
                  </a:spcBef>
                  <a:buSzPts val="2000"/>
                </a:pPr>
                <a:r>
                  <a:rPr lang="en-US" sz="1800" dirty="0"/>
                  <a:t>Result is &lt;0, the points make a right turn (pop the middle point off the stack).</a:t>
                </a:r>
              </a:p>
              <a:p>
                <a:pPr lvl="1" indent="-355600">
                  <a:spcBef>
                    <a:spcPts val="0"/>
                  </a:spcBef>
                  <a:buSzPts val="2000"/>
                </a:pPr>
                <a:r>
                  <a:rPr lang="en-US" sz="1800" dirty="0"/>
                  <a:t>Result is =0, the points are perfectly collinear (usually, the middle point is discarded unless the specific application requires all boundary points).</a:t>
                </a:r>
              </a:p>
              <a:p>
                <a:pPr indent="-355600">
                  <a:spcBef>
                    <a:spcPts val="0"/>
                  </a:spcBef>
                  <a:buSzPts val="2000"/>
                </a:pPr>
                <a:endParaRPr lang="en-US" sz="2000" dirty="0"/>
              </a:p>
            </p:txBody>
          </p:sp>
        </mc:Choice>
        <mc:Fallback xmlns="">
          <p:sp>
            <p:nvSpPr>
              <p:cNvPr id="224" name="Google Shape;224;g37c4946a550_0_194">
                <a:extLst>
                  <a:ext uri="{FF2B5EF4-FFF2-40B4-BE49-F238E27FC236}">
                    <a16:creationId xmlns:a16="http://schemas.microsoft.com/office/drawing/2014/main" id="{53286BAD-E3C7-B0E4-873D-A2AAB634C348}"/>
                  </a:ext>
                </a:extLst>
              </p:cNvPr>
              <p:cNvSpPr txBox="1">
                <a:spLocks noGrp="1" noRot="1" noChangeAspect="1" noMove="1" noResize="1" noEditPoints="1" noAdjustHandles="1" noChangeArrowheads="1" noChangeShapeType="1" noTextEdit="1"/>
              </p:cNvSpPr>
              <p:nvPr>
                <p:ph type="body" idx="1"/>
              </p:nvPr>
            </p:nvSpPr>
            <p:spPr>
              <a:xfrm>
                <a:off x="1" y="1096824"/>
                <a:ext cx="12191999" cy="5761175"/>
              </a:xfrm>
              <a:prstGeom prst="rect">
                <a:avLst/>
              </a:prstGeom>
              <a:blipFill>
                <a:blip r:embed="rId3"/>
                <a:stretch>
                  <a:fillRect t="-1322" r="-208"/>
                </a:stretch>
              </a:blipFill>
              <a:ln>
                <a:noFill/>
              </a:ln>
            </p:spPr>
            <p:txBody>
              <a:bodyPr/>
              <a:lstStyle/>
              <a:p>
                <a:r>
                  <a:rPr lang="en-US">
                    <a:noFill/>
                  </a:rPr>
                  <a:t> </a:t>
                </a:r>
              </a:p>
            </p:txBody>
          </p:sp>
        </mc:Fallback>
      </mc:AlternateContent>
      <p:pic>
        <p:nvPicPr>
          <p:cNvPr id="2" name="Picture 1">
            <a:extLst>
              <a:ext uri="{FF2B5EF4-FFF2-40B4-BE49-F238E27FC236}">
                <a16:creationId xmlns:a16="http://schemas.microsoft.com/office/drawing/2014/main" id="{22579B48-F7BC-058B-ED8A-2722DD3AEB04}"/>
              </a:ext>
            </a:extLst>
          </p:cNvPr>
          <p:cNvPicPr>
            <a:picLocks noChangeAspect="1"/>
          </p:cNvPicPr>
          <p:nvPr/>
        </p:nvPicPr>
        <p:blipFill>
          <a:blip r:embed="rId4"/>
          <a:stretch>
            <a:fillRect/>
          </a:stretch>
        </p:blipFill>
        <p:spPr>
          <a:xfrm>
            <a:off x="10342177" y="96678"/>
            <a:ext cx="903892" cy="925586"/>
          </a:xfrm>
          <a:prstGeom prst="rect">
            <a:avLst/>
          </a:prstGeom>
        </p:spPr>
      </p:pic>
    </p:spTree>
    <p:extLst>
      <p:ext uri="{BB962C8B-B14F-4D97-AF65-F5344CB8AC3E}">
        <p14:creationId xmlns:p14="http://schemas.microsoft.com/office/powerpoint/2010/main" val="2935763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2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2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24">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24">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24">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AC2E26EF-A3BD-5290-C40C-B1F881B86997}"/>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530972EF-5B75-D3E8-27E6-33D15B6AEE08}"/>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r>
              <a:rPr lang="en-CA" dirty="0"/>
              <a:t>Andrew’s Monotone Chain</a:t>
            </a:r>
          </a:p>
        </p:txBody>
      </p:sp>
      <p:sp>
        <p:nvSpPr>
          <p:cNvPr id="224" name="Google Shape;224;g37c4946a550_0_194">
            <a:extLst>
              <a:ext uri="{FF2B5EF4-FFF2-40B4-BE49-F238E27FC236}">
                <a16:creationId xmlns:a16="http://schemas.microsoft.com/office/drawing/2014/main" id="{D2F2B9F6-0483-1FA6-C662-4B51B7F0E7FB}"/>
              </a:ext>
            </a:extLst>
          </p:cNvPr>
          <p:cNvSpPr txBox="1">
            <a:spLocks noGrp="1"/>
          </p:cNvSpPr>
          <p:nvPr>
            <p:ph type="body" idx="1"/>
          </p:nvPr>
        </p:nvSpPr>
        <p:spPr>
          <a:xfrm>
            <a:off x="0" y="890521"/>
            <a:ext cx="12192000" cy="5761176"/>
          </a:xfrm>
          <a:prstGeom prst="rect">
            <a:avLst/>
          </a:prstGeom>
          <a:noFill/>
          <a:ln>
            <a:noFill/>
          </a:ln>
        </p:spPr>
        <p:txBody>
          <a:bodyPr spcFirstLastPara="1" wrap="square" lIns="91425" tIns="45700" rIns="91425" bIns="45700" anchor="t" anchorCtr="0">
            <a:normAutofit lnSpcReduction="10000"/>
          </a:bodyPr>
          <a:lstStyle/>
          <a:p>
            <a:pPr indent="-355600">
              <a:spcBef>
                <a:spcPts val="0"/>
              </a:spcBef>
              <a:buSzPts val="2000"/>
            </a:pPr>
            <a:r>
              <a:rPr lang="en-US" sz="2000" dirty="0"/>
              <a:t>Instead of sorting by polar angle, it sorts points lexicographically by their X-coordinate. </a:t>
            </a:r>
          </a:p>
          <a:p>
            <a:pPr lvl="1" indent="-355600">
              <a:spcBef>
                <a:spcPts val="0"/>
              </a:spcBef>
              <a:buSzPts val="2000"/>
            </a:pPr>
            <a:r>
              <a:rPr lang="en-US" sz="1800" dirty="0"/>
              <a:t>If two points have the same X-coordinate, it breaks the tie using their Y-coordinate. </a:t>
            </a:r>
          </a:p>
          <a:p>
            <a:pPr lvl="1" indent="-355600">
              <a:spcBef>
                <a:spcPts val="0"/>
              </a:spcBef>
              <a:buSzPts val="2000"/>
            </a:pPr>
            <a:r>
              <a:rPr lang="en-US" sz="1800" dirty="0"/>
              <a:t>No more floating points, use built-in libraries</a:t>
            </a:r>
          </a:p>
          <a:p>
            <a:pPr lvl="1" indent="-355600">
              <a:spcBef>
                <a:spcPts val="0"/>
              </a:spcBef>
              <a:buSzPts val="2000"/>
            </a:pPr>
            <a:r>
              <a:rPr lang="en-US" sz="1800" dirty="0"/>
              <a:t>Because the points are sorted strictly left-to-right, the algorithm sweeps across the plane twice.</a:t>
            </a:r>
          </a:p>
          <a:p>
            <a:pPr indent="-355600">
              <a:spcBef>
                <a:spcPts val="0"/>
              </a:spcBef>
              <a:buSzPts val="2000"/>
            </a:pPr>
            <a:r>
              <a:rPr lang="en-US" sz="2000" dirty="0"/>
              <a:t>Sort Lexicographically</a:t>
            </a:r>
          </a:p>
          <a:p>
            <a:pPr lvl="1" indent="-355600">
              <a:spcBef>
                <a:spcPts val="0"/>
              </a:spcBef>
              <a:buSzPts val="2000"/>
            </a:pPr>
            <a:r>
              <a:rPr lang="en-US" sz="1800" dirty="0"/>
              <a:t>Sort the array of points by X, then by Y. </a:t>
            </a:r>
          </a:p>
          <a:p>
            <a:pPr lvl="1" indent="-355600">
              <a:spcBef>
                <a:spcPts val="0"/>
              </a:spcBef>
              <a:buSzPts val="2000"/>
            </a:pPr>
            <a:r>
              <a:rPr lang="en-US" sz="1800" dirty="0"/>
              <a:t>The very first point in the sorted array (leftmost) and the very last point (rightmost) are guaranteed to be on the convex hull</a:t>
            </a:r>
          </a:p>
          <a:p>
            <a:pPr indent="-355600">
              <a:spcBef>
                <a:spcPts val="0"/>
              </a:spcBef>
              <a:buSzPts val="2000"/>
            </a:pPr>
            <a:r>
              <a:rPr lang="en-US" sz="2000" dirty="0"/>
              <a:t>Build the Lower Hull</a:t>
            </a:r>
          </a:p>
          <a:p>
            <a:pPr lvl="1" indent="-355600">
              <a:spcBef>
                <a:spcPts val="0"/>
              </a:spcBef>
              <a:buSzPts val="2000"/>
            </a:pPr>
            <a:r>
              <a:rPr lang="en-US" sz="1800" dirty="0"/>
              <a:t>Creates an empty stack, iterate through the sorted points from left to right (index 0 to n-1).</a:t>
            </a:r>
          </a:p>
          <a:p>
            <a:pPr lvl="1" indent="-355600">
              <a:spcBef>
                <a:spcPts val="0"/>
              </a:spcBef>
              <a:buSzPts val="2000"/>
            </a:pPr>
            <a:r>
              <a:rPr lang="en-US" sz="1800" dirty="0"/>
              <a:t>Just like Graham scan, for each new point, check the top two points on the stack. </a:t>
            </a:r>
          </a:p>
          <a:p>
            <a:pPr lvl="2" indent="-355600">
              <a:spcBef>
                <a:spcPts val="0"/>
              </a:spcBef>
              <a:buSzPts val="2000"/>
            </a:pPr>
            <a:r>
              <a:rPr lang="en-US" sz="1800" dirty="0"/>
              <a:t>If the new point creates a "right turn" (a concavity), it pops the top point off the stack. It repeats this until it makes a valid "left turn," then pushes the new point. By the time it reaches the rightmost point, the stack contains the bottom half of the convex hull.</a:t>
            </a:r>
          </a:p>
          <a:p>
            <a:pPr indent="-355600">
              <a:spcBef>
                <a:spcPts val="0"/>
              </a:spcBef>
              <a:buSzPts val="2000"/>
            </a:pPr>
            <a:r>
              <a:rPr lang="en-US" sz="2000" dirty="0"/>
              <a:t>Build the Upper Hull:</a:t>
            </a:r>
          </a:p>
          <a:p>
            <a:pPr lvl="1" indent="-355600">
              <a:spcBef>
                <a:spcPts val="0"/>
              </a:spcBef>
              <a:buSzPts val="2000"/>
            </a:pPr>
            <a:r>
              <a:rPr lang="en-US" sz="1800" dirty="0"/>
              <a:t>Without emptying the stack, the algorithm now iterates through the points from right to left (index n-2 down to 0). It applies the exact same right-turn elimination logic. Because it's moving backwards, checking for a "left turn" naturally outlines the top boundary of the points.</a:t>
            </a:r>
          </a:p>
          <a:p>
            <a:pPr indent="-355600">
              <a:spcBef>
                <a:spcPts val="0"/>
              </a:spcBef>
              <a:buSzPts val="2000"/>
            </a:pPr>
            <a:r>
              <a:rPr lang="en-US" sz="2000" dirty="0"/>
              <a:t>Combine:</a:t>
            </a:r>
          </a:p>
          <a:p>
            <a:pPr lvl="1" indent="-355600">
              <a:spcBef>
                <a:spcPts val="0"/>
              </a:spcBef>
              <a:buSzPts val="2000"/>
            </a:pPr>
            <a:r>
              <a:rPr lang="en-US" sz="1800" dirty="0"/>
              <a:t>Once the backward sweep reaches the original leftmost point, the upper hull is complete. The last point of the upper hull is the same as the first point of the lower hull, so that duplicate is removed. The stack now contains the complete convex hull in counter-clockwise order.</a:t>
            </a:r>
          </a:p>
          <a:p>
            <a:pPr lvl="1" indent="-355600">
              <a:spcBef>
                <a:spcPts val="0"/>
              </a:spcBef>
              <a:buSzPts val="2000"/>
            </a:pPr>
            <a:endParaRPr lang="en-US" sz="1800" dirty="0"/>
          </a:p>
          <a:p>
            <a:pPr lvl="1" indent="-355600">
              <a:spcBef>
                <a:spcPts val="0"/>
              </a:spcBef>
              <a:buSzPts val="2000"/>
            </a:pPr>
            <a:endParaRPr lang="en-US" sz="1800" dirty="0"/>
          </a:p>
          <a:p>
            <a:pPr lvl="1" indent="-355600">
              <a:spcBef>
                <a:spcPts val="0"/>
              </a:spcBef>
              <a:buSzPts val="2000"/>
            </a:pPr>
            <a:endParaRPr lang="en-US" sz="2000" dirty="0"/>
          </a:p>
        </p:txBody>
      </p:sp>
      <p:pic>
        <p:nvPicPr>
          <p:cNvPr id="6" name="Picture 5">
            <a:extLst>
              <a:ext uri="{FF2B5EF4-FFF2-40B4-BE49-F238E27FC236}">
                <a16:creationId xmlns:a16="http://schemas.microsoft.com/office/drawing/2014/main" id="{49123038-2A74-EC7F-AC17-E8C51EE8EBF0}"/>
              </a:ext>
            </a:extLst>
          </p:cNvPr>
          <p:cNvPicPr>
            <a:picLocks noChangeAspect="1"/>
          </p:cNvPicPr>
          <p:nvPr/>
        </p:nvPicPr>
        <p:blipFill>
          <a:blip r:embed="rId3"/>
          <a:stretch>
            <a:fillRect/>
          </a:stretch>
        </p:blipFill>
        <p:spPr>
          <a:xfrm>
            <a:off x="10033992" y="101200"/>
            <a:ext cx="2084952" cy="2084952"/>
          </a:xfrm>
          <a:prstGeom prst="rect">
            <a:avLst/>
          </a:prstGeom>
        </p:spPr>
      </p:pic>
    </p:spTree>
    <p:extLst>
      <p:ext uri="{BB962C8B-B14F-4D97-AF65-F5344CB8AC3E}">
        <p14:creationId xmlns:p14="http://schemas.microsoft.com/office/powerpoint/2010/main" val="436998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5B292141-A561-D33D-CDBC-2767DDCA526E}"/>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E0EF6BA5-93F2-CDC5-8617-8ABA2ED500C0}"/>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r>
              <a:rPr lang="en-CA" dirty="0"/>
              <a:t>Graham’s Scan VS Andrew’s Monotone Chain</a:t>
            </a:r>
          </a:p>
        </p:txBody>
      </p:sp>
      <p:graphicFrame>
        <p:nvGraphicFramePr>
          <p:cNvPr id="4" name="Table 3">
            <a:extLst>
              <a:ext uri="{FF2B5EF4-FFF2-40B4-BE49-F238E27FC236}">
                <a16:creationId xmlns:a16="http://schemas.microsoft.com/office/drawing/2014/main" id="{EEF62EF1-0A92-99DB-C670-0505961902B0}"/>
              </a:ext>
            </a:extLst>
          </p:cNvPr>
          <p:cNvGraphicFramePr>
            <a:graphicFrameLocks noGrp="1"/>
          </p:cNvGraphicFramePr>
          <p:nvPr>
            <p:extLst>
              <p:ext uri="{D42A27DB-BD31-4B8C-83A1-F6EECF244321}">
                <p14:modId xmlns:p14="http://schemas.microsoft.com/office/powerpoint/2010/main" val="2160765651"/>
              </p:ext>
            </p:extLst>
          </p:nvPr>
        </p:nvGraphicFramePr>
        <p:xfrm>
          <a:off x="3020409" y="1120589"/>
          <a:ext cx="6151181" cy="4616822"/>
        </p:xfrm>
        <a:graphic>
          <a:graphicData uri="http://schemas.openxmlformats.org/drawingml/2006/table">
            <a:tbl>
              <a:tblPr>
                <a:tableStyleId>{5C22544A-7EE6-4342-B048-85BDC9FD1C3A}</a:tableStyleId>
              </a:tblPr>
              <a:tblGrid>
                <a:gridCol w="1366929">
                  <a:extLst>
                    <a:ext uri="{9D8B030D-6E8A-4147-A177-3AD203B41FA5}">
                      <a16:colId xmlns:a16="http://schemas.microsoft.com/office/drawing/2014/main" val="119746637"/>
                    </a:ext>
                  </a:extLst>
                </a:gridCol>
                <a:gridCol w="2392126">
                  <a:extLst>
                    <a:ext uri="{9D8B030D-6E8A-4147-A177-3AD203B41FA5}">
                      <a16:colId xmlns:a16="http://schemas.microsoft.com/office/drawing/2014/main" val="3071901269"/>
                    </a:ext>
                  </a:extLst>
                </a:gridCol>
                <a:gridCol w="2392126">
                  <a:extLst>
                    <a:ext uri="{9D8B030D-6E8A-4147-A177-3AD203B41FA5}">
                      <a16:colId xmlns:a16="http://schemas.microsoft.com/office/drawing/2014/main" val="563490160"/>
                    </a:ext>
                  </a:extLst>
                </a:gridCol>
              </a:tblGrid>
              <a:tr h="652401">
                <a:tc>
                  <a:txBody>
                    <a:bodyPr/>
                    <a:lstStyle/>
                    <a:p>
                      <a:pPr algn="ctr" fontAlgn="ctr">
                        <a:buNone/>
                      </a:pPr>
                      <a:r>
                        <a:rPr lang="en-CA" sz="1100" u="none" strike="noStrike">
                          <a:effectLst/>
                        </a:rPr>
                        <a:t>Feature</a:t>
                      </a:r>
                      <a:endParaRPr lang="en-CA" sz="1100" b="1" i="0" u="none" strike="noStrike">
                        <a:solidFill>
                          <a:srgbClr val="FFFFFF"/>
                        </a:solidFill>
                        <a:effectLst/>
                        <a:latin typeface="Calibri" panose="020F0502020204030204" pitchFamily="34" charset="0"/>
                      </a:endParaRPr>
                    </a:p>
                  </a:txBody>
                  <a:tcPr marL="9525" marR="9525" marT="9525" marB="0" anchor="ctr"/>
                </a:tc>
                <a:tc>
                  <a:txBody>
                    <a:bodyPr/>
                    <a:lstStyle/>
                    <a:p>
                      <a:pPr algn="ctr" fontAlgn="ctr">
                        <a:buNone/>
                      </a:pPr>
                      <a:r>
                        <a:rPr lang="en-CA" sz="1100" u="none" strike="noStrike">
                          <a:effectLst/>
                        </a:rPr>
                        <a:t>Graham Scan</a:t>
                      </a:r>
                      <a:endParaRPr lang="en-CA" sz="1100" b="1" i="0" u="none" strike="noStrike">
                        <a:solidFill>
                          <a:srgbClr val="FFFFFF"/>
                        </a:solidFill>
                        <a:effectLst/>
                        <a:latin typeface="Calibri" panose="020F0502020204030204" pitchFamily="34" charset="0"/>
                      </a:endParaRPr>
                    </a:p>
                  </a:txBody>
                  <a:tcPr marL="9525" marR="9525" marT="9525" marB="0" anchor="ctr"/>
                </a:tc>
                <a:tc>
                  <a:txBody>
                    <a:bodyPr/>
                    <a:lstStyle/>
                    <a:p>
                      <a:pPr algn="ctr" fontAlgn="ctr">
                        <a:buNone/>
                      </a:pPr>
                      <a:r>
                        <a:rPr lang="en-CA" sz="1100" u="none" strike="noStrike">
                          <a:effectLst/>
                        </a:rPr>
                        <a:t>Andrew's Monotone Chain</a:t>
                      </a:r>
                      <a:endParaRPr lang="en-CA" sz="1100" b="1" i="0" u="none" strike="noStrike">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66922017"/>
                  </a:ext>
                </a:extLst>
              </a:tr>
              <a:tr h="695894">
                <a:tc>
                  <a:txBody>
                    <a:bodyPr/>
                    <a:lstStyle/>
                    <a:p>
                      <a:pPr algn="l" fontAlgn="ctr">
                        <a:buNone/>
                      </a:pPr>
                      <a:r>
                        <a:rPr lang="en-CA" sz="1100" u="none" strike="noStrike">
                          <a:effectLst/>
                        </a:rPr>
                        <a:t>Sorting Method</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CA" sz="1100" u="none" strike="noStrike">
                          <a:effectLst/>
                        </a:rPr>
                        <a:t>Polar angle from an anchor point</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CA" sz="1100" u="none" strike="noStrike">
                          <a:effectLst/>
                        </a:rPr>
                        <a:t>Lexicographical (X, then Y)</a:t>
                      </a:r>
                      <a:endParaRPr lang="en-CA"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356549304"/>
                  </a:ext>
                </a:extLst>
              </a:tr>
              <a:tr h="695894">
                <a:tc>
                  <a:txBody>
                    <a:bodyPr/>
                    <a:lstStyle/>
                    <a:p>
                      <a:pPr algn="l" fontAlgn="ctr">
                        <a:buNone/>
                      </a:pPr>
                      <a:r>
                        <a:rPr lang="en-CA" sz="1100" u="none" strike="noStrike">
                          <a:effectLst/>
                        </a:rPr>
                        <a:t>Sweep Style</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CA" sz="1100" u="none" strike="noStrike" dirty="0">
                          <a:effectLst/>
                        </a:rPr>
                        <a:t>Single circular sweep</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CA" sz="1100" u="none" strike="noStrike">
                          <a:effectLst/>
                        </a:rPr>
                        <a:t>Left-to-right, then right-to-left</a:t>
                      </a:r>
                      <a:endParaRPr lang="en-CA"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692200435"/>
                  </a:ext>
                </a:extLst>
              </a:tr>
              <a:tr h="1391788">
                <a:tc>
                  <a:txBody>
                    <a:bodyPr/>
                    <a:lstStyle/>
                    <a:p>
                      <a:pPr algn="l" fontAlgn="ctr">
                        <a:buNone/>
                      </a:pPr>
                      <a:r>
                        <a:rPr lang="en-CA" sz="1100" u="none" strike="noStrike">
                          <a:effectLst/>
                        </a:rPr>
                        <a:t>Math Complexity</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CA" sz="1100" u="none" strike="noStrike" dirty="0">
                          <a:effectLst/>
                        </a:rPr>
                        <a:t>Higher (requires custom polar comparators)</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CA" sz="1100" u="none" strike="noStrike">
                          <a:effectLst/>
                        </a:rPr>
                        <a:t>Lower (standard sorting, just needs cross-product)</a:t>
                      </a:r>
                      <a:endParaRPr lang="en-CA"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16159020"/>
                  </a:ext>
                </a:extLst>
              </a:tr>
              <a:tr h="1180845">
                <a:tc>
                  <a:txBody>
                    <a:bodyPr/>
                    <a:lstStyle/>
                    <a:p>
                      <a:pPr algn="l" fontAlgn="ctr">
                        <a:buNone/>
                      </a:pPr>
                      <a:r>
                        <a:rPr lang="en-CA" sz="1100" u="none" strike="noStrike">
                          <a:effectLst/>
                        </a:rPr>
                        <a:t>Precision Issues</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CA" sz="1100" u="none" strike="noStrike" dirty="0">
                          <a:effectLst/>
                        </a:rPr>
                        <a:t>Prone to floating-point errors during sorting</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CA" sz="1100" u="none" strike="noStrike" dirty="0">
                          <a:effectLst/>
                        </a:rPr>
                        <a:t>Extremely robust</a:t>
                      </a:r>
                      <a:endParaRPr lang="en-CA"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735824422"/>
                  </a:ext>
                </a:extLst>
              </a:tr>
            </a:tbl>
          </a:graphicData>
        </a:graphic>
      </p:graphicFrame>
    </p:spTree>
    <p:extLst>
      <p:ext uri="{BB962C8B-B14F-4D97-AF65-F5344CB8AC3E}">
        <p14:creationId xmlns:p14="http://schemas.microsoft.com/office/powerpoint/2010/main" val="3194385539"/>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9465</TotalTime>
  <Words>3498</Words>
  <Application>Microsoft Macintosh PowerPoint</Application>
  <PresentationFormat>Widescreen</PresentationFormat>
  <Paragraphs>259</Paragraphs>
  <Slides>19</Slides>
  <Notes>19</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19</vt:i4>
      </vt:variant>
    </vt:vector>
  </HeadingPairs>
  <TitlesOfParts>
    <vt:vector size="25" baseType="lpstr">
      <vt:lpstr>Gill Sans</vt:lpstr>
      <vt:lpstr>Calibri</vt:lpstr>
      <vt:lpstr>Arial</vt:lpstr>
      <vt:lpstr>Cambria Math</vt:lpstr>
      <vt:lpstr>Parcel</vt:lpstr>
      <vt:lpstr>Parcel</vt:lpstr>
      <vt:lpstr>ICPC Bootcamp Day 5</vt:lpstr>
      <vt:lpstr>5.3.1 Prime Numbers</vt:lpstr>
      <vt:lpstr>5.3.3 Finding Prime Factors with Optimized Trial Divisions</vt:lpstr>
      <vt:lpstr>5.3.6 Greatest Common Divisor &amp; Least Common Multiple</vt:lpstr>
      <vt:lpstr>5.3.9 Modular Arithmetic</vt:lpstr>
      <vt:lpstr>7 Geometry</vt:lpstr>
      <vt:lpstr>7.2.1 0D Objects: Points</vt:lpstr>
      <vt:lpstr>7.2.2 1D Objects: Lines</vt:lpstr>
      <vt:lpstr>7.2.2 2D Objects: Circles</vt:lpstr>
      <vt:lpstr>7.2.4 2D Objects: Triangles</vt:lpstr>
      <vt:lpstr>2D Objects: Quadrilaterals</vt:lpstr>
      <vt:lpstr>7.3.1, 7.3.2, 7.3.3 Polygon Representation, Perimeter</vt:lpstr>
      <vt:lpstr>7.3.4 Checking if a Polygon is Convex</vt:lpstr>
      <vt:lpstr>7.3.5 Checking if a Point is Inside a Polygon</vt:lpstr>
      <vt:lpstr>7.3.6 Cutting Polygon with a Straight Line</vt:lpstr>
      <vt:lpstr>7.3.7 Finding the Convex Hull of a Set of Points</vt:lpstr>
      <vt:lpstr>Graham scan</vt:lpstr>
      <vt:lpstr>Andrew’s Monotone Chain</vt:lpstr>
      <vt:lpstr>Graham’s Scan VS Andrew’s Monotone Chain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Ryan Pelchat</dc:creator>
  <cp:lastModifiedBy>Ryan Pelchat</cp:lastModifiedBy>
  <cp:revision>100</cp:revision>
  <dcterms:created xsi:type="dcterms:W3CDTF">2025-09-06T15:13:09Z</dcterms:created>
  <dcterms:modified xsi:type="dcterms:W3CDTF">2026-08-23T11:29:39Z</dcterms:modified>
</cp:coreProperties>
</file>