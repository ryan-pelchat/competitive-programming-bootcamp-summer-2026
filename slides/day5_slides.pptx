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21"/>
  </p:notesMasterIdLst>
  <p:sldIdLst>
    <p:sldId id="256" r:id="rId3"/>
    <p:sldId id="633" r:id="rId4"/>
    <p:sldId id="634" r:id="rId5"/>
    <p:sldId id="635" r:id="rId6"/>
    <p:sldId id="636" r:id="rId7"/>
    <p:sldId id="637" r:id="rId8"/>
    <p:sldId id="638" r:id="rId9"/>
    <p:sldId id="639" r:id="rId10"/>
    <p:sldId id="640" r:id="rId11"/>
    <p:sldId id="641" r:id="rId12"/>
    <p:sldId id="642" r:id="rId13"/>
    <p:sldId id="643" r:id="rId14"/>
    <p:sldId id="644" r:id="rId15"/>
    <p:sldId id="649" r:id="rId16"/>
    <p:sldId id="645" r:id="rId17"/>
    <p:sldId id="646" r:id="rId18"/>
    <p:sldId id="647" r:id="rId19"/>
    <p:sldId id="648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i14jFXTrCmS0u2hXQXGuC3zsnM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59"/>
    <p:restoredTop sz="81096"/>
  </p:normalViewPr>
  <p:slideViewPr>
    <p:cSldViewPr snapToGrid="0">
      <p:cViewPr varScale="1">
        <p:scale>
          <a:sx n="102" d="100"/>
          <a:sy n="102" d="100"/>
        </p:scale>
        <p:origin x="4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55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59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56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1" name="Google Shape;10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BD0170E1-A106-9319-65A9-11BE28851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2E29C3C-1113-8CBA-090F-BA5ED0253A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6924A89B-2124-A23B-7B51-3F3EED03AA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B37F42AB-3F30-F063-6FED-441EB86543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7130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FE3E121D-8BC8-081E-DD5F-747E52CBF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B3447D06-F258-A5E7-137C-2F1FECBF7B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501428A5-6655-82D7-EBC3-7C358FE5D9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46823FA8-C9DF-3003-6CD3-7F7763F2DF0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34016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C112816C-7732-DD9A-86ED-35EA14BB7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60CD3E0D-4B17-212A-5695-3DB12419AF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D60D4D7B-EC5B-AEA4-BF23-BBEA63E2F0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C355CCF6-DA50-AD44-2915-289ED7B1D6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14027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689AB74-C4F5-4594-2F8A-7BF56EACD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1B68E87-9986-E15E-791E-92615D0CF6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2E00E951-5EE2-6F41-C35C-766A92BCB5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230B2176-EEBC-588E-35E8-71124C8C41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47206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DD4DE53F-A6BC-DA29-2E6C-B80CD097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DD3A513D-B9A4-D312-A0F1-0EA76A846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BEA5552D-86B8-6E99-148C-B629392CE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E134E383-0335-52E0-E0A0-2B73ECDF33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2057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9F07C396-B904-6263-D737-ACFCBBCDA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681BA536-36E6-4A03-2310-CD956A2142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C3F50022-A98A-3676-E93E-C1059B84E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4CF2170B-498D-138A-B586-130F730965E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26330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323E3B6-E0F4-6BEC-361F-DDFC6AC26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D721C562-C638-96CD-0941-88CD6288CB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155FEDF8-9DA4-17F1-17C3-CB16B0336E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0CAFA5DC-7CF8-C0FB-108D-CA4F9AF6EC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50224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60A72627-7A76-6ADE-B42F-7FB345C03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60FAA5E7-39F4-17C0-F674-3AFE0F7004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880BB43E-F01F-65F6-651B-4E4EEDFC2F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07304892-7E0F-DD94-556E-F80E802569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47429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69CE0D4C-7F5F-DA35-BBA0-84E02B1B4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518F3167-68D5-2F0C-A448-AE3E47555B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3944DB77-DF11-B2F9-4AC0-C5E108D29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989EE86C-A959-0022-B54E-84640694825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280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D94E485-7995-1A73-309B-30F3CA27A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2D500D36-94F6-5F3F-D9FA-93F43E5FD7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FCCAE370-895C-FB3C-39C5-6DFC0FDF6C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A6E2161A-7183-A610-23D0-F342A476E1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73335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6990AFAB-CC3F-3145-43E7-E6CE02DC6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86F37FBD-3380-ABAE-CA4F-C8678886E2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23547962-D595-D74B-49EB-9E4CDA9A8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69E9AD52-B3EF-13C7-DB69-823A10DC17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136150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111981C5-BCA7-BC8D-83A0-D86EC6F33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485F838-37E8-2D57-C685-BAB66F42E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776093DE-8006-004F-9460-BB54E8420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955968CF-2A69-77DE-2301-B7E38E949F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2665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A1EB824E-A2CF-55FD-9775-2732C8042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853C5397-493B-56F3-0B8D-7AF68E41C4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9F9304DB-20CF-0907-B0F1-6B3EA15C17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2B9BDB40-52E7-7F96-5E21-E79067F96F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39636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E302291C-3365-E0D5-4F7E-77EE5F86B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11C9EB80-3392-078E-1F57-A868A6F89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34181DE5-C094-C14C-60FE-D69F733670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3314916B-BE3A-93E6-6668-6FF221194AC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56496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A522329E-D09B-9152-836C-B8944EAAA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8B4F7D36-335A-2CA6-3CAA-9EB61414A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84F4B7BB-3A30-10C0-66A8-584FEDCB78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89B4D7C0-EF8C-4DAD-98A3-F5927AF89E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332157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39E4A54-6B7C-2E30-FCAC-99EBECA4A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93216F4A-4D92-25E3-AD81-5F527E556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41FBE754-68C8-4AA1-532D-E3AED76C3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AF236576-8A1B-5FF4-C9BA-E2A9D5ACC8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30177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472C97C4-80A5-98E7-0AB8-0EC22E931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D4D525BF-59BA-11AA-1B4B-9CDF6C5313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4B87BF19-6120-EB70-38DD-2517EBCAEF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3FB46E83-4381-FDE3-EB29-48CF64A886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2928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4" name="Google Shape;14;p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6" name="Google Shape;26;p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venhalim/cpbook-code/blob/master/ch5/primes.p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venhalim/cpbook-code/blob/master/ch5/primes.py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>
            <a:spLocks noGrp="1"/>
          </p:cNvSpPr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 dirty="0"/>
              <a:t>ICPC Bootcamp Day 5</a:t>
            </a:r>
            <a:endParaRPr dirty="0"/>
          </a:p>
        </p:txBody>
      </p:sp>
      <p:sp>
        <p:nvSpPr>
          <p:cNvPr id="104" name="Google Shape;104;p1"/>
          <p:cNvSpPr txBox="1"/>
          <p:nvPr/>
        </p:nvSpPr>
        <p:spPr>
          <a:xfrm>
            <a:off x="232052" y="3429000"/>
            <a:ext cx="7494095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5.3.1 Prime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5.3.3 Finding Prime Factors with Optimized Trial Divisions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5.3.6 Greatest Common Divisor &amp; Least Common Multiple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5.3.9 Modular Arithmetic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7.2.1 0D Objects: Points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7.2.2 1D Objects: Lines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7.2.3 2D Objects: Circles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7.2.4 2D Objects: Triangles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7.2.5 2D Objects: Quadrilaterals </a:t>
            </a:r>
          </a:p>
        </p:txBody>
      </p:sp>
      <p:sp>
        <p:nvSpPr>
          <p:cNvPr id="3" name="Google Shape;104;p1">
            <a:extLst>
              <a:ext uri="{FF2B5EF4-FFF2-40B4-BE49-F238E27FC236}">
                <a16:creationId xmlns:a16="http://schemas.microsoft.com/office/drawing/2014/main" id="{FB72D232-A6C0-A2F4-E4F5-798349A88E5F}"/>
              </a:ext>
            </a:extLst>
          </p:cNvPr>
          <p:cNvSpPr txBox="1"/>
          <p:nvPr/>
        </p:nvSpPr>
        <p:spPr>
          <a:xfrm>
            <a:off x="6534733" y="3348688"/>
            <a:ext cx="7494095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7.3.1 Polygon Representation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7.3.3 Area of a Polygon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7.3.4 Checking if a Polygon is Convex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7.3.5 Checking if a Point is Inside a Polygon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7.3.6 Cutting Polygon with a Straight 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EB5C4C9A-9933-33BA-DFF8-B89F1C73A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58065C8B-BA9C-9D83-82A7-F6B466D91A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5.3 Number Theory (Introduction)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86284AB-A6C0-849C-1AA7-EA73DEC7DF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Foundation: 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Number theory in competitive programming frequently revolves around primes, divisibility, and modular arithmetic.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Performance is Key: 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Naïve mathematical algorithms often trigger Time Limit Exceeded (TLE) errors. We rely on heavily optimized mathematical properties.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Data Types: 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Always be mindful of integer overflow. When multiplying two 32-bit integers, the result can exceed the 32-bit limit. Default to 64-bit integers (long long in C++, int in Python inherently handles this) when doing number theory.</a:t>
            </a:r>
          </a:p>
          <a:p>
            <a:pPr indent="-355600">
              <a:spcBef>
                <a:spcPts val="0"/>
              </a:spcBef>
              <a:buSzPts val="2000"/>
            </a:pP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170396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6FBC633C-4BEB-6962-4757-C24298872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7CC37225-9025-F0DB-010B-6BA0B854D6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r>
              <a:rPr lang="en-CA" dirty="0"/>
              <a:t>5.3.1 Prime Numbers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DD855B9B-1F4D-3304-D610-B805DE2A1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Primality Testing (𝑂(√𝑁)):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To check if 𝑁 is prime, you only need to test divisibility up to √𝑁. If 𝑁 is divisible by a number 𝑝&gt;√𝑁, it must also be divisible by a number 𝑞&lt;√𝑁.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Generating Primes (Sieve of Eratosthenes):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The most efficient way to generate all primes up to an upper bound 𝑀 (usually up to 10^7).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Algorithm: Create a </a:t>
            </a:r>
            <a:r>
              <a:rPr lang="en-US" sz="1800" dirty="0" err="1"/>
              <a:t>boolean</a:t>
            </a:r>
            <a:r>
              <a:rPr lang="en-US" sz="1800" dirty="0"/>
              <a:t> array of size 𝑀 set to True. (You can use a binary string as seen in day 1) Starting from 𝑝=2, if 𝑝 is true, mark all multiples of 𝑝 (2𝑝,3𝑝,5𝑝…) as False. Then p=3, p=4, </a:t>
            </a: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Time Complexity: 𝑂(𝑀loglog𝑀), which is close to linear time 𝑂(𝑀).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Code from: </a:t>
            </a:r>
            <a:r>
              <a:rPr lang="en-US" sz="2000" dirty="0">
                <a:hlinkClick r:id="rId3"/>
              </a:rPr>
              <a:t>https://github.com/stevenhalim/cpbook-code/blob/master/ch5/primes.py</a:t>
            </a:r>
            <a:r>
              <a:rPr lang="en-US" sz="2000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D238C3-B7A6-672F-0E7A-00E399A406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75" y="3841403"/>
            <a:ext cx="3937000" cy="2882900"/>
          </a:xfrm>
          <a:prstGeom prst="rect">
            <a:avLst/>
          </a:prstGeom>
        </p:spPr>
      </p:pic>
      <p:pic>
        <p:nvPicPr>
          <p:cNvPr id="3" name="Picture 2" descr="Sieve of Eratosthenes – TeXample.net">
            <a:extLst>
              <a:ext uri="{FF2B5EF4-FFF2-40B4-BE49-F238E27FC236}">
                <a16:creationId xmlns:a16="http://schemas.microsoft.com/office/drawing/2014/main" id="{FE1DBD3C-B51C-36C8-B99D-E9917CBD12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6969" y="3774877"/>
            <a:ext cx="2949426" cy="294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74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A3E677FD-46B5-7C0E-7333-DB45C7773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D97E3681-6421-51D0-68D0-F7373798F5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16989" y="253473"/>
            <a:ext cx="8558021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5.3.3 Finding Prime Factors with Optimized Trial Divisions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1491DC7E-2D10-32B6-C016-B98779994E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416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Naïve Way: 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Testing every number up to 𝑁 to find its factors is too slow.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Optimized Way (𝑂(√𝑁/ln⁡√𝑁 )):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First, generate a list of prime numbers using the Sieve of Eratosthenes up to √𝑁.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Iterate only through these prime numbers. If a prime 𝑝 divides 𝑁, divide 𝑁 by 𝑝 as many times as possible while recording 𝑝 as a factor.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After the loop finishes, if the remaining 𝑁 is greater than 1, then that remaining 𝑁 is itself a prime factor!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Code from: </a:t>
            </a:r>
            <a:r>
              <a:rPr lang="en-US" sz="1800" dirty="0">
                <a:hlinkClick r:id="rId3"/>
              </a:rPr>
              <a:t>https://github.com/stevenhalim/cpbook-code/blob/master/ch5/primes.py</a:t>
            </a:r>
            <a:r>
              <a:rPr lang="en-US" sz="1800" dirty="0"/>
              <a:t> </a:t>
            </a:r>
          </a:p>
          <a:p>
            <a:pPr lvl="1" indent="-355600">
              <a:spcBef>
                <a:spcPts val="0"/>
              </a:spcBef>
              <a:buSzPts val="2000"/>
            </a:pPr>
            <a:endParaRPr lang="en-US" sz="1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FE110A-62D0-5773-E455-D29347406E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309" y="3429000"/>
            <a:ext cx="2133871" cy="3325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07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BCEE953E-EE2B-2DFA-CCA3-EEB36BD1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6D6CB416-0F27-88F5-5493-9BB45BB76E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5.3.5 Modified Sieve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94C4B8FD-9FDA-76D7-D6B2-BC6564EFD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Beyond True/False: 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We can modify the standard Sieve of Eratosthenes to store useful information instead of just </a:t>
            </a:r>
            <a:r>
              <a:rPr lang="en-US" sz="1800" dirty="0" err="1"/>
              <a:t>boolean</a:t>
            </a:r>
            <a:r>
              <a:rPr lang="en-US" sz="1800" dirty="0"/>
              <a:t> flags.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Smallest Prime Factor (SPF):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Instead of marking multiples as False, store the prime number 𝑝 that crossed it out.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This allows you to find the prime factors of any number 𝑋 in 𝑂(log 𝑋 ) time by repeatedly dividing 𝑋 by SPF[X].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Other Modifications: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Euler's Totient Function (𝜙(𝑁)): Can be computed alongside the sieve to count how many integers &lt;𝑁 are relatively prime to 𝑁.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Sum/Count of Divisors: Arrays can be updated during the sieve to dynamically calculate </a:t>
            </a:r>
            <a:r>
              <a:rPr lang="en-US" sz="1800" dirty="0" err="1"/>
              <a:t>numDiffPF</a:t>
            </a:r>
            <a:r>
              <a:rPr lang="en-US" sz="1800" dirty="0"/>
              <a:t> (number of different prime factors).</a:t>
            </a:r>
          </a:p>
        </p:txBody>
      </p:sp>
    </p:spTree>
    <p:extLst>
      <p:ext uri="{BB962C8B-B14F-4D97-AF65-F5344CB8AC3E}">
        <p14:creationId xmlns:p14="http://schemas.microsoft.com/office/powerpoint/2010/main" val="633228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26C2230B-B704-F991-BE82-D447CB9FF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1C2AFD33-1936-CF77-8DAF-1ABC1D85C6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25792" y="228421"/>
            <a:ext cx="8140415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5.3.6 Greatest Common Divisor &amp; Least Common Multiple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F9A4B2D7-17FE-B7DF-3380-FAADD10E7D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Greatest Common Divisor (GCD):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The largest integer that divides both 𝐴 and 𝐵 without leaving a remainder.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Libraries: </a:t>
            </a:r>
            <a:r>
              <a:rPr lang="en-US" sz="1800" dirty="0" err="1"/>
              <a:t>math.gcd</a:t>
            </a:r>
            <a:r>
              <a:rPr lang="en-US" sz="1800" dirty="0"/>
              <a:t>(a, b) in Python.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Least Common Multiple (LCM):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The smallest integer that is a multiple of both 𝐴 and 𝐵.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Formula: lcm(𝐴,𝐵)=𝐴*(𝐵/</a:t>
            </a:r>
            <a:r>
              <a:rPr lang="en-US" sz="2000" dirty="0" err="1"/>
              <a:t>gcd</a:t>
            </a:r>
            <a:r>
              <a:rPr lang="en-US" sz="2000" dirty="0"/>
              <a:t>(𝐴,𝐵))</a:t>
            </a:r>
          </a:p>
        </p:txBody>
      </p:sp>
    </p:spTree>
    <p:extLst>
      <p:ext uri="{BB962C8B-B14F-4D97-AF65-F5344CB8AC3E}">
        <p14:creationId xmlns:p14="http://schemas.microsoft.com/office/powerpoint/2010/main" val="3635219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0585D40E-CA1B-A760-267E-3D7E0A43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413D2E2D-5C4B-8745-F4B8-027E21800B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5.3.9 Modular Arithmetic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31F7D3D-7F10-B2C0-9B72-C4D05809E3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87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Goal: 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Keeping intermediate calculations small by taking the modulo 𝑀 (often 10^9+7) at every step to prevent massive integer overflows.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Even if Python can handle bigger digits, questions might ask for a modulo. Python is also slower handling larger digits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Used in Cyclical Data Structures like in array wrapping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Hashing Algorithms to map to a physical index of a fixed-sized underlying array </a:t>
            </a:r>
          </a:p>
          <a:p>
            <a:pPr lvl="1" indent="-355600">
              <a:spcBef>
                <a:spcPts val="0"/>
              </a:spcBef>
              <a:buSzPts val="2000"/>
            </a:pPr>
            <a:endParaRPr lang="en-US" sz="1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39B4F1-594D-6CFB-FF86-BAF98ADE4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831" y="3352979"/>
            <a:ext cx="6604000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955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2E598D5C-358F-6B76-F02D-263532DD4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F352EE06-24DE-435C-10A4-50D8CB87B9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CA" dirty="0"/>
              <a:t>7.2 Basic Geometry: The Floating-Point Trap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1B6F6925-244A-F352-1BF3-B862BA0B49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Problem: 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Computers cannot represent floating-point numbers perfectly. 0.1 + 0.2 might equal 0.30000000000000004.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Solution: 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Never use == to compare two floating-point numbers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Use </a:t>
            </a:r>
            <a:r>
              <a:rPr lang="en-US" sz="1800" dirty="0" err="1"/>
              <a:t>math.isclose</a:t>
            </a:r>
            <a:r>
              <a:rPr lang="en-US" sz="1800" dirty="0"/>
              <a:t>() to prevent floating-point number errors</a:t>
            </a:r>
            <a:br>
              <a:rPr lang="en-US" sz="2000" dirty="0"/>
            </a:br>
            <a:endParaRPr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9883BE-28AD-2BB2-738D-9FFADAE4A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862" y="3225925"/>
            <a:ext cx="32766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48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904079DF-AEED-3161-B999-2B7422C08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09781BA8-C082-A42B-F207-0C081E9D7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7.2.1 0D Objects: Points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C5CD6378-B113-F3C7-1D84-ECDCAB145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135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A point is the basic building block of higher dimensional geometry objects.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Usually represented as its own class to implement methods and other functions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__eq__, __</a:t>
            </a:r>
            <a:r>
              <a:rPr lang="en-CA" sz="1800" dirty="0" err="1"/>
              <a:t>lt</a:t>
            </a:r>
            <a:r>
              <a:rPr lang="en-CA" sz="1800" dirty="0"/>
              <a:t>__, distance, rotation</a:t>
            </a:r>
          </a:p>
          <a:p>
            <a:pPr lvl="1" indent="-355600">
              <a:spcBef>
                <a:spcPts val="0"/>
              </a:spcBef>
              <a:buSzPts val="2000"/>
            </a:pPr>
            <a:endParaRPr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4D0CF4-FE95-8780-B7A9-344ACC6E5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5904" y="2365724"/>
            <a:ext cx="5207676" cy="407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30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9248F954-1826-5369-FD9B-A57AC5F06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9A5688FA-B8E0-8789-9406-E8AF0686D6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7.2.2 1D Objects: Lines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2473675F-155E-CFA6-90DA-AA01FFA77B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Representation: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Standard Form: 𝐴𝑥+𝐵𝑦+𝐶=0 (Preferred in CP as it handles vertical lines perfectly without m = infinity).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Slope-Intercept Form: 𝑦=𝑚𝑥+𝑐 (Careful with vertical lines where </a:t>
            </a:r>
            <a:r>
              <a:rPr lang="el-GR" sz="1800" dirty="0"/>
              <a:t>Δ𝑥=0).</a:t>
            </a:r>
          </a:p>
        </p:txBody>
      </p:sp>
    </p:spTree>
    <p:extLst>
      <p:ext uri="{BB962C8B-B14F-4D97-AF65-F5344CB8AC3E}">
        <p14:creationId xmlns:p14="http://schemas.microsoft.com/office/powerpoint/2010/main" val="944050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2B13C0B3-5AC1-FD98-2846-0B94BD844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108DEF89-0B69-C7BC-ECE4-55F0AC6316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7.2.2 1D Objects: Circles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96ED374-C5EE-5AED-AA1E-412A9B823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Representation: A circle is perfectly defined by its center Point (𝑥, 𝑦) and a radius 𝑟.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Core Formulas: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Area: 𝜋𝑟^2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Circumference: 2𝜋𝑟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Inside / Outside Check: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Given a point 𝑃, calculate the distance 𝑑 from the center of the circle to 𝑃.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If 𝑑&lt;𝑟: Point is strictly inside.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If 𝑑==𝑟 (using EPS): Point is on the boundary.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If 𝑑&gt;𝑟: Point is strictly outside.</a:t>
            </a:r>
          </a:p>
          <a:p>
            <a:pPr indent="-355600">
              <a:spcBef>
                <a:spcPts val="0"/>
              </a:spcBef>
              <a:buSzPts val="2000"/>
            </a:pP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21096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D9F3C94A-14B2-E914-88EB-7B882080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66FCF99E-9166-005F-EFBA-3D5C764900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7.2.4 2D Objects: Triangles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7210205E-730D-E900-5A40-440109AB8F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Representation: Defined by 3 points: 𝐴,𝐵,𝐶.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Triangle Inequality: For any valid triangle with side lengths 𝑎,𝑏,𝑐, the sum of any two sides must be strictly greater than the third side: 𝑎+𝑏&gt;𝑐, 𝑎+𝑐&gt;𝑏, 𝑏+𝑐&gt;𝑎.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Area Formulas: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Base and Height: 1/2×"base"×"height"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Heron's Formula (When only side lengths are known):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Let 𝑠=(𝑎+𝑏+𝑐)/2 (semi-perimeter)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Area = √(𝑠(𝑠−𝑎)(𝑠−𝑏)(𝑠−𝑐) )</a:t>
            </a:r>
          </a:p>
          <a:p>
            <a:pPr indent="-355600">
              <a:spcBef>
                <a:spcPts val="0"/>
              </a:spcBef>
              <a:buSzPts val="2000"/>
            </a:pPr>
            <a:br>
              <a:rPr lang="en-US" sz="2000" dirty="0"/>
            </a:b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3489610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613D5880-CC85-E806-A4FB-CAC9CA995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D69A2E6B-D3E5-7EEC-1050-07FBDB55AE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2D Objects: Quadrilaterals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6D516612-E09A-E62F-6CDA-680146D520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Representation: Polygons with 4 vertices. Includes specific shapes: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Square/Rectangle: All angles are 90^∘.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Parallelogram: Opposite sides are parallel.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Trapezoid: Only one pair of opposite sides is parallel.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CP Strategy: You rarely need specialized formulas for quadrilaterals. Any quadrilateral can be easily split into two triangles by drawing a diagonal. Calculate the area of the two triangles and sum them!</a:t>
            </a:r>
          </a:p>
        </p:txBody>
      </p:sp>
    </p:spTree>
    <p:extLst>
      <p:ext uri="{BB962C8B-B14F-4D97-AF65-F5344CB8AC3E}">
        <p14:creationId xmlns:p14="http://schemas.microsoft.com/office/powerpoint/2010/main" val="553724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CD4EBAC3-0717-A388-9DCC-85F198F98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5C9A4101-93FE-6450-D7ED-C5BE8E9660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00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7.3.1 Polygon Representation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2CDC799C-7F13-ADE1-1D18-0BD8C8DDFE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What is a Polygon? A closed 2D shape bounded by straight line segments.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Data Structure: Represented as an array or vector of Points.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Standard Conventions: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Vertex Ordering: Points are almost always stored in Counter-Clockwise (CCW) order.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Closing the Loop: In many algorithms, it is highly useful to duplicate the first vertex at the end of the array (so 𝑃[𝑁]=𝑃[0]). This prevents having to write special modulo arithmetic for the edge connecting the last point back to the first point.</a:t>
            </a:r>
          </a:p>
        </p:txBody>
      </p:sp>
    </p:spTree>
    <p:extLst>
      <p:ext uri="{BB962C8B-B14F-4D97-AF65-F5344CB8AC3E}">
        <p14:creationId xmlns:p14="http://schemas.microsoft.com/office/powerpoint/2010/main" val="1273728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BE448D02-CD06-907D-B85F-DCA3C348F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A8DA5971-4B6B-B242-0720-A97E9AA1C4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7.3.3 Area of a Polygon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Google Shape;224;g37c4946a550_0_194">
                <a:extLst>
                  <a:ext uri="{FF2B5EF4-FFF2-40B4-BE49-F238E27FC236}">
                    <a16:creationId xmlns:a16="http://schemas.microsoft.com/office/drawing/2014/main" id="{CE3DC2D1-57A3-BEC8-979E-5FCAF5F1372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4675" y="1096825"/>
                <a:ext cx="11231400" cy="331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lvl="0"/>
                <a:r>
                  <a:rPr lang="en-CA" b="1" dirty="0"/>
                  <a:t>The Problem:</a:t>
                </a:r>
                <a:r>
                  <a:rPr lang="en-CA" dirty="0"/>
                  <a:t> Finding the area of an irregular polygon with </a:t>
                </a:r>
                <a14:m>
                  <m:oMath xmlns:m="http://schemas.openxmlformats.org/officeDocument/2006/math">
                    <m:r>
                      <a:rPr lang="en-CA" sz="2800" i="1"/>
                      <m:t>𝑁</m:t>
                    </m:r>
                  </m:oMath>
                </a14:m>
                <a:r>
                  <a:rPr lang="en-CA" dirty="0"/>
                  <a:t> vertices. Splitting it into triangles manually is too difficult to code.</a:t>
                </a:r>
              </a:p>
              <a:p>
                <a:pPr lvl="0"/>
                <a:r>
                  <a:rPr lang="en-CA" b="1" dirty="0"/>
                  <a:t>The Shoelace Formula (Surveyor's Formula):</a:t>
                </a:r>
                <a:endParaRPr lang="en-CA" dirty="0"/>
              </a:p>
              <a:p>
                <a:pPr lvl="1"/>
                <a:r>
                  <a:rPr lang="en-CA" dirty="0"/>
                  <a:t>Works for </a:t>
                </a:r>
                <a:r>
                  <a:rPr lang="en-CA" i="1" dirty="0"/>
                  <a:t>any</a:t>
                </a:r>
                <a:r>
                  <a:rPr lang="en-CA" dirty="0"/>
                  <a:t> simple polygon (convex or concave) as long as the edges do not self-intersect.</a:t>
                </a:r>
              </a:p>
              <a:p>
                <a:pPr lvl="1"/>
                <a:r>
                  <a:rPr lang="en-CA" dirty="0"/>
                  <a:t>Assuming the polygon is closed (</a:t>
                </a:r>
                <a14:m>
                  <m:oMath xmlns:m="http://schemas.openxmlformats.org/officeDocument/2006/math">
                    <m:r>
                      <a:rPr lang="en-CA" sz="2000" i="1"/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CA" sz="2000" i="1"/>
                        </m:ctrlPr>
                      </m:dPr>
                      <m:e>
                        <m:r>
                          <a:rPr lang="en-CA" sz="2000" i="1"/>
                          <m:t>𝑁</m:t>
                        </m:r>
                      </m:e>
                    </m:d>
                    <m:r>
                      <a:rPr lang="en-CA" sz="2000"/>
                      <m:t>=</m:t>
                    </m:r>
                    <m:r>
                      <a:rPr lang="en-CA" sz="2000" i="1"/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CA" sz="2000"/>
                        </m:ctrlPr>
                      </m:dPr>
                      <m:e>
                        <m:r>
                          <a:rPr lang="en-CA" sz="2000"/>
                          <m:t>0</m:t>
                        </m:r>
                      </m:e>
                    </m:d>
                  </m:oMath>
                </a14:m>
                <a:r>
                  <a:rPr lang="en-CA" dirty="0"/>
                  <a:t>):</a:t>
                </a:r>
              </a:p>
              <a:p>
                <a:pPr lvl="1"/>
                <a:r>
                  <a:rPr lang="en-CA" sz="1200" dirty="0"/>
                  <a:t>Area = 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CA"/>
                        </m:ctrlPr>
                      </m:fPr>
                      <m:num>
                        <m:r>
                          <a:rPr lang="en-CA"/>
                          <m:t>1</m:t>
                        </m:r>
                      </m:num>
                      <m:den>
                        <m:r>
                          <a:rPr lang="en-CA"/>
                          <m:t>2</m:t>
                        </m:r>
                      </m:den>
                    </m:f>
                    <m:d>
                      <m:dPr>
                        <m:begChr m:val="∣"/>
                        <m:endChr m:val="∣"/>
                        <m:ctrlPr>
                          <a:rPr lang="en-CA" i="1"/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grow m:val="on"/>
                            <m:ctrlPr>
                              <a:rPr lang="en-CA" i="1"/>
                            </m:ctrlPr>
                          </m:naryPr>
                          <m:sub>
                            <m:r>
                              <a:rPr lang="en-CA" i="1"/>
                              <m:t>𝑖</m:t>
                            </m:r>
                            <m:r>
                              <a:rPr lang="en-CA"/>
                              <m:t>=0</m:t>
                            </m:r>
                          </m:sub>
                          <m:sup>
                            <m:r>
                              <a:rPr lang="en-CA" i="1"/>
                              <m:t>𝑁</m:t>
                            </m:r>
                            <m:r>
                              <a:rPr lang="en-CA"/>
                              <m:t>−1</m:t>
                            </m:r>
                          </m:sup>
                          <m:e>
                            <m:r>
                              <a:rPr lang="en-CA"/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CA" i="1"/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CA" i="1"/>
                                </m:ctrlPr>
                              </m:sSubPr>
                              <m:e>
                                <m:r>
                                  <a:rPr lang="en-CA" i="1"/>
                                  <m:t>𝑥</m:t>
                                </m:r>
                              </m:e>
                              <m:sub>
                                <m:r>
                                  <a:rPr lang="en-CA" i="1"/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CA" i="1"/>
                                </m:ctrlPr>
                              </m:sSubPr>
                              <m:e>
                                <m:r>
                                  <a:rPr lang="en-CA" i="1"/>
                                  <m:t>𝑦</m:t>
                                </m:r>
                              </m:e>
                              <m:sub>
                                <m:r>
                                  <a:rPr lang="en-CA" i="1"/>
                                  <m:t>𝑖</m:t>
                                </m:r>
                                <m:r>
                                  <a:rPr lang="en-CA"/>
                                  <m:t>+1</m:t>
                                </m:r>
                              </m:sub>
                            </m:sSub>
                            <m:r>
                              <a:rPr lang="en-CA"/>
                              <m:t>−</m:t>
                            </m:r>
                            <m:sSub>
                              <m:sSubPr>
                                <m:ctrlPr>
                                  <a:rPr lang="en-CA" i="1"/>
                                </m:ctrlPr>
                              </m:sSubPr>
                              <m:e>
                                <m:r>
                                  <a:rPr lang="en-CA" i="1"/>
                                  <m:t>𝑥</m:t>
                                </m:r>
                              </m:e>
                              <m:sub>
                                <m:r>
                                  <a:rPr lang="en-CA" i="1"/>
                                  <m:t>𝑖</m:t>
                                </m:r>
                                <m:r>
                                  <a:rPr lang="en-CA"/>
                                  <m:t>+1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CA" i="1"/>
                                </m:ctrlPr>
                              </m:sSubPr>
                              <m:e>
                                <m:r>
                                  <a:rPr lang="en-CA" i="1"/>
                                  <m:t>𝑦</m:t>
                                </m:r>
                              </m:e>
                              <m:sub>
                                <m:r>
                                  <a:rPr lang="en-CA" i="1"/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CA" sz="1200" dirty="0"/>
              </a:p>
              <a:p>
                <a:pPr lvl="0"/>
                <a:r>
                  <a:rPr lang="en-CA" b="1" dirty="0"/>
                  <a:t>Time Complexity:</a:t>
                </a:r>
                <a:r>
                  <a:rPr lang="en-CA" dirty="0"/>
                  <a:t> </a:t>
                </a:r>
                <a14:m>
                  <m:oMath xmlns:m="http://schemas.openxmlformats.org/officeDocument/2006/math">
                    <m:r>
                      <a:rPr lang="en-CA" sz="2800" i="1"/>
                      <m:t>𝑂</m:t>
                    </m:r>
                    <m:d>
                      <m:dPr>
                        <m:ctrlPr>
                          <a:rPr lang="en-CA" sz="2800" i="1"/>
                        </m:ctrlPr>
                      </m:dPr>
                      <m:e>
                        <m:r>
                          <a:rPr lang="en-CA" sz="2800" i="1"/>
                          <m:t>𝑁</m:t>
                        </m:r>
                      </m:e>
                    </m:d>
                  </m:oMath>
                </a14:m>
                <a:r>
                  <a:rPr lang="en-CA" dirty="0"/>
                  <a:t> with a single loop.</a:t>
                </a:r>
              </a:p>
            </p:txBody>
          </p:sp>
        </mc:Choice>
        <mc:Fallback>
          <p:sp>
            <p:nvSpPr>
              <p:cNvPr id="224" name="Google Shape;224;g37c4946a550_0_194">
                <a:extLst>
                  <a:ext uri="{FF2B5EF4-FFF2-40B4-BE49-F238E27FC236}">
                    <a16:creationId xmlns:a16="http://schemas.microsoft.com/office/drawing/2014/main" id="{CE3DC2D1-57A3-BEC8-979E-5FCAF5F1372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4675" y="1096825"/>
                <a:ext cx="11231400" cy="3310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0293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53C568BD-C62C-3649-9411-F586EFF88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DF1779AD-1177-1C2F-A5D4-43F33396AB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7.3.4 Checking if a Polygon is Convex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Google Shape;224;g37c4946a550_0_194">
                <a:extLst>
                  <a:ext uri="{FF2B5EF4-FFF2-40B4-BE49-F238E27FC236}">
                    <a16:creationId xmlns:a16="http://schemas.microsoft.com/office/drawing/2014/main" id="{7C8FE588-1080-772F-73A3-E88E38B0B49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4675" y="1096825"/>
                <a:ext cx="11231400" cy="331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 lnSpcReduction="10000"/>
              </a:bodyPr>
              <a:lstStyle/>
              <a:p>
                <a:pPr lvl="0"/>
                <a:r>
                  <a:rPr lang="en-CA" b="1" dirty="0"/>
                  <a:t>Convex vs. Concave:</a:t>
                </a:r>
                <a:r>
                  <a:rPr lang="en-CA" dirty="0"/>
                  <a:t> A convex polygon has no internal angles greater than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2800"/>
                        </m:ctrlPr>
                      </m:sSupPr>
                      <m:e>
                        <m:r>
                          <a:rPr lang="en-CA" sz="2800"/>
                          <m:t>180</m:t>
                        </m:r>
                      </m:e>
                      <m:sup>
                        <m:r>
                          <a:rPr lang="en-CA" sz="2800"/>
                          <m:t>∘</m:t>
                        </m:r>
                      </m:sup>
                    </m:sSup>
                  </m:oMath>
                </a14:m>
                <a:r>
                  <a:rPr lang="en-CA" dirty="0"/>
                  <a:t> (it has no "dents").</a:t>
                </a:r>
              </a:p>
              <a:p>
                <a:pPr lvl="0"/>
                <a:r>
                  <a:rPr lang="en-CA" b="1" dirty="0"/>
                  <a:t>The CCW Test (Cross Product):</a:t>
                </a:r>
                <a:endParaRPr lang="en-CA" dirty="0"/>
              </a:p>
              <a:p>
                <a:pPr lvl="1"/>
                <a:r>
                  <a:rPr lang="en-CA" dirty="0"/>
                  <a:t>A function </a:t>
                </a:r>
                <a:r>
                  <a:rPr lang="en-CA" dirty="0" err="1"/>
                  <a:t>ccw</a:t>
                </a:r>
                <a:r>
                  <a:rPr lang="en-CA" dirty="0"/>
                  <a:t>(p, q, r) uses the 2D cross product of vectors 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CA" sz="2000" i="1"/>
                        </m:ctrlPr>
                      </m:accPr>
                      <m:e>
                        <m:r>
                          <a:rPr lang="en-CA" sz="2000" i="1"/>
                          <m:t>𝑝𝑞</m:t>
                        </m:r>
                      </m:e>
                    </m:acc>
                  </m:oMath>
                </a14:m>
                <a:r>
                  <a:rPr lang="en-CA" dirty="0"/>
                  <a:t> and 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CA" sz="2000" i="1"/>
                        </m:ctrlPr>
                      </m:accPr>
                      <m:e>
                        <m:r>
                          <a:rPr lang="en-CA" sz="2000" i="1"/>
                          <m:t>𝑞𝑟</m:t>
                        </m:r>
                      </m:e>
                    </m:acc>
                  </m:oMath>
                </a14:m>
                <a:r>
                  <a:rPr lang="en-CA" dirty="0"/>
                  <a:t> to determine if the path turns Left, Right, or goes Straight.</a:t>
                </a:r>
              </a:p>
              <a:p>
                <a:pPr lvl="0"/>
                <a:r>
                  <a:rPr lang="en-CA" b="1" dirty="0"/>
                  <a:t>The Algorithm:</a:t>
                </a:r>
                <a:endParaRPr lang="en-CA" dirty="0"/>
              </a:p>
              <a:p>
                <a:pPr lvl="1"/>
                <a:r>
                  <a:rPr lang="en-CA" dirty="0"/>
                  <a:t>Iterate through every consecutive triplet of vertices: </a:t>
                </a:r>
                <a14:m>
                  <m:oMath xmlns:m="http://schemas.openxmlformats.org/officeDocument/2006/math">
                    <m:r>
                      <a:rPr lang="en-CA" sz="2000" i="1"/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CA" sz="2000" i="1"/>
                        </m:ctrlPr>
                      </m:dPr>
                      <m:e>
                        <m:r>
                          <a:rPr lang="en-CA" sz="2000" i="1"/>
                          <m:t>𝑖</m:t>
                        </m:r>
                      </m:e>
                    </m:d>
                    <m:r>
                      <a:rPr lang="en-CA" sz="2000"/>
                      <m:t>,</m:t>
                    </m:r>
                    <m:r>
                      <a:rPr lang="en-CA" sz="2000" i="1"/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CA" sz="2000" i="1"/>
                        </m:ctrlPr>
                      </m:dPr>
                      <m:e>
                        <m:r>
                          <a:rPr lang="en-CA" sz="2000" i="1"/>
                          <m:t>𝑖</m:t>
                        </m:r>
                        <m:r>
                          <a:rPr lang="en-CA" sz="2000"/>
                          <m:t>+1</m:t>
                        </m:r>
                      </m:e>
                    </m:d>
                    <m:r>
                      <a:rPr lang="en-CA" sz="2000"/>
                      <m:t>,</m:t>
                    </m:r>
                    <m:r>
                      <a:rPr lang="en-CA" sz="2000" i="1"/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CA" sz="2000" i="1"/>
                        </m:ctrlPr>
                      </m:dPr>
                      <m:e>
                        <m:r>
                          <a:rPr lang="en-CA" sz="2000" i="1"/>
                          <m:t>𝑖</m:t>
                        </m:r>
                        <m:r>
                          <a:rPr lang="en-CA" sz="2000"/>
                          <m:t>+2</m:t>
                        </m:r>
                      </m:e>
                    </m:d>
                  </m:oMath>
                </a14:m>
                <a:r>
                  <a:rPr lang="en-CA" dirty="0"/>
                  <a:t>.</a:t>
                </a:r>
              </a:p>
              <a:p>
                <a:pPr lvl="1"/>
                <a:r>
                  <a:rPr lang="en-CA" dirty="0"/>
                  <a:t>Calculate the turn direction for each triplet.</a:t>
                </a:r>
              </a:p>
              <a:p>
                <a:pPr lvl="1"/>
                <a:r>
                  <a:rPr lang="en-CA" dirty="0"/>
                  <a:t>If the polygon is convex, </a:t>
                </a:r>
                <a:r>
                  <a:rPr lang="en-CA" b="1" dirty="0"/>
                  <a:t>all turns must be in the exact same direction</a:t>
                </a:r>
                <a:r>
                  <a:rPr lang="en-CA" dirty="0"/>
                  <a:t> (all Left or all Right). If you see a mix of Left and Right turns, it is concave.</a:t>
                </a:r>
              </a:p>
            </p:txBody>
          </p:sp>
        </mc:Choice>
        <mc:Fallback>
          <p:sp>
            <p:nvSpPr>
              <p:cNvPr id="224" name="Google Shape;224;g37c4946a550_0_194">
                <a:extLst>
                  <a:ext uri="{FF2B5EF4-FFF2-40B4-BE49-F238E27FC236}">
                    <a16:creationId xmlns:a16="http://schemas.microsoft.com/office/drawing/2014/main" id="{7C8FE588-1080-772F-73A3-E88E38B0B49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4675" y="1096825"/>
                <a:ext cx="11231400" cy="3310200"/>
              </a:xfrm>
              <a:prstGeom prst="rect">
                <a:avLst/>
              </a:prstGeom>
              <a:blipFill>
                <a:blip r:embed="rId3"/>
                <a:stretch>
                  <a:fillRect b="-76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8232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E6EC0479-ED1B-D6AB-0A0F-C34680679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51BB149E-F765-22C8-B2E6-43A35DB926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7.3.5 Checking if a Point is Inside a Polygon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6F196E76-BA8A-D60A-9727-2C10223B0D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Problem: Given a point 𝑃 and a polygon, determine if 𝑃 is strictly inside, outside, or on the boundary.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Ray Casting Algorithm (Winding Number):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Imagine shooting an infinite horizontal ray starting from 𝑃 extending to the right (towards +𝑥).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Count how many times this ray intersects the edges of the polygon.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Odd Intersections: The point is Inside.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Even Intersections: The point is Outside.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Edge Cases: Be careful to handle rays that perfectly hit a vertex or run exactly collinear with a horizontal edge!</a:t>
            </a:r>
          </a:p>
        </p:txBody>
      </p:sp>
    </p:spTree>
    <p:extLst>
      <p:ext uri="{BB962C8B-B14F-4D97-AF65-F5344CB8AC3E}">
        <p14:creationId xmlns:p14="http://schemas.microsoft.com/office/powerpoint/2010/main" val="2029484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7AB74C93-CC99-F3C8-6844-0DB345C8B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C8A6C342-CD81-F8A1-847E-0A46D54371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7.3.6 Cutting Polygon with a Straight Line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8ED5EC8E-473A-38D3-015B-A9B6EC8249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Problem: Given a convex polygon and an infinite straight line, "slice" the polygon and return the smaller resulting polygon (e.g., the part on the left side of the line).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The Algorithm: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Iterate through all edges of the polygon.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For each edge connecting 𝑃_1 to 𝑃_2: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If 𝑃_1 and 𝑃_2 are both on the "valid" side of the cutting line, keep 𝑃_2.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If the edge crosses the cutting line, calculate the exact intersection point. Keep the intersection point, and if 𝑃_2 is on the valid side, keep 𝑃_2 as well.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Result: A new, smaller list of vertices defining the sliced convex polygon.</a:t>
            </a:r>
          </a:p>
        </p:txBody>
      </p:sp>
    </p:spTree>
    <p:extLst>
      <p:ext uri="{BB962C8B-B14F-4D97-AF65-F5344CB8AC3E}">
        <p14:creationId xmlns:p14="http://schemas.microsoft.com/office/powerpoint/2010/main" val="2298828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2193</TotalTime>
  <Words>1995</Words>
  <Application>Microsoft Macintosh PowerPoint</Application>
  <PresentationFormat>Widescreen</PresentationFormat>
  <Paragraphs>171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Gill Sans</vt:lpstr>
      <vt:lpstr>Arial</vt:lpstr>
      <vt:lpstr>Parcel</vt:lpstr>
      <vt:lpstr>Parcel</vt:lpstr>
      <vt:lpstr>ICPC Bootcamp Day 5</vt:lpstr>
      <vt:lpstr>5.3 Number Theory (Introduction)</vt:lpstr>
      <vt:lpstr>5.3.1 Prime Numbers</vt:lpstr>
      <vt:lpstr>5.3.3 Finding Prime Factors with Optimized Trial Divisions</vt:lpstr>
      <vt:lpstr>5.3.5 Modified Sieve</vt:lpstr>
      <vt:lpstr>5.3.6 Greatest Common Divisor &amp; Least Common Multiple</vt:lpstr>
      <vt:lpstr>5.3.9 Modular Arithmetic</vt:lpstr>
      <vt:lpstr>7.2 Basic Geometry: The Floating-Point Trap</vt:lpstr>
      <vt:lpstr>7.2.1 0D Objects: Points</vt:lpstr>
      <vt:lpstr>7.2.2 1D Objects: Lines</vt:lpstr>
      <vt:lpstr>7.2.2 1D Objects: Circles</vt:lpstr>
      <vt:lpstr>7.2.4 2D Objects: Triangles</vt:lpstr>
      <vt:lpstr>2D Objects: Quadrilaterals</vt:lpstr>
      <vt:lpstr>7.3.1 Polygon Representation</vt:lpstr>
      <vt:lpstr>7.3.3 Area of a Polygon</vt:lpstr>
      <vt:lpstr>7.3.4 Checking if a Polygon is Convex</vt:lpstr>
      <vt:lpstr>7.3.5 Checking if a Point is Inside a Polygon</vt:lpstr>
      <vt:lpstr>7.3.6 Cutting Polygon with a Straight Line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Ryan Pelchat</dc:creator>
  <cp:lastModifiedBy>Ryan Pelchat</cp:lastModifiedBy>
  <cp:revision>76</cp:revision>
  <dcterms:created xsi:type="dcterms:W3CDTF">2025-09-06T15:13:09Z</dcterms:created>
  <dcterms:modified xsi:type="dcterms:W3CDTF">2026-08-16T21:22:07Z</dcterms:modified>
</cp:coreProperties>
</file>